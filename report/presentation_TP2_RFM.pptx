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 L'ÉQUIPE — se présenter (30 s).
Accroche : « Cette entreprise a un million de transactions et ne sait pas qui sont ses clients. Nous allons lui répondre en quatre segments. »
Annoncer le plan et qui parle de quoi.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1 (1 min 30).
Insister : le problème n'est pas technique, il est commercial. L'entreprise dépense en marketing sans savoir sur qui.
Les 5 chiffres donnent l'échelle. Ne pas les lire un par un — pointer 1 million de transactions et 5 852 clients : c'est le passage de l'un à l'autre qui est tout le travail.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1 (1 min).
Le point à faire passer : ce n'est pas quatre notebooks parce que c'est joli, c'est parce que les données transitent par des fichiers. C'est ce qui rend le projet reproductible — exigence explicite du brief.
Annoncer : « Je prends les étapes 1, mon collègue prendra la 2, etc.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1 (1 min 30).
Ne pas lire le tableau. Dire : cinq filtres, chacun justifié, chacun compté.
Deux points à souligner : les annulations sont MISES DE CÔTÉ (on y revient slide suivante+1), et les 232 665 lignes sans identifiant sont une perte assumée qu'on documente — c'est une limite, on la dit nous-mêmes.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1 (1 min 30) — SLIDE FORTE, prendre le temps.
C'est notre meilleur argument de rigueur. Le raconter comme une enquête : on compare les chiffres, ils ne collent pas, on cherche.
Le point clé : ce biais ne fait planter personne. Un notebook qui tourne parfaitement peut produire des segments faux.
Solution : dédoublonner sur les colonnes métier uniquement.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1 (1 min 30).
Montrer la méthode autant que le résultat : on ne discute pas, on refait tourner et on mesure.
L'ARI : 1 = découpages identiques, 0 = hasard. 0,876 = très proche.
Cette méthode vaut pour n'importe quelle décision de nettoyage — c'est le message à retenir.
PASSAGE AU PRÉSENTATEUR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2 (1 min 30).
RFM : trois indicateurs, une intuition métier ancienne et solide.
Les deux décisions encadrées sont exactement le type de choix que le jury demandera de justifier. Les annoncer avant qu'on ne les demande.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2 (2 min) — question 2 du rapport.
Quatre arguments : (1) K-means minimise une distance, donc sans échelle on segmente uniquement sur le Montant ; (2) une asymétrie de 25 crée des micro-clusters de grossistes ; (3) K-means suppose des groupes sphériques ; (4) l'écart pertinent est multiplicatif — c'est l'exemple du bandeau, le plus parlant.
Le tableau prouve l'effet : 25,33 → 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2 (1 min 30) — question 3.
Le renversement (0,62 → 0,85) est le point intéressant : la corrélation brute mentait.
Quatre options existaient ; nous avons choisi de ne rien faire ET de le documenter. Un choix argumenté vaut mieux qu'une orthogonalité technique qu'on ne sait pas expliquer.
PASSAGE AU PRÉSENTATEUR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3 (2 min) — question 4, SLIDE FORTE.
On nous demande de choisir k avec la silhouette. Nous montrons pourquoi ça ne suffit pas — avec notre propre cas, pas avec un argument de cours.
Dire : « Si nous avions suivi la métrique, nous livrions deux segments et le TP était fini en dix minutes. Sauf que le marketing n'en fait rien.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3 (1 min).
Honnêteté méthodologique : on ne prétend pas que le coude nous a donné la réponse. Il cadre, il ne décide pas.
Enchaîner : « D'où le troisième critère, et c'est le plus solide.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3 (2 min) — SLIDE FORTE, c'est la réponse à la question 5.
Sans vérité terrain, on ne peut pas prouver qu'un découpage est « juste ». Mais on peut prouver qu'il est reproductible.
Seuils : au-dessus de 0,90 c'est solide ; en dessous de 0,75 les segments dépendent du tirage.
k=6 décroche : à six groupes, les frontières bougent d'un échantillon à l'autre.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3 (1 min 30).
Si on demande « pourquoi pas 5 ? » : la réponse est dans le bandeau, et le tableau montre qu'à k=5 un segment tombe à 450 clients.
Insister sur « aucune métrique ne prouve » — c'est une posture scientifique, pas un aveu de faiblesse.
PASSAGE AU PRÉSENTATEUR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4 (1 min 30).
Dire nous-mêmes ce qu'un jury critique dirait. C'est aussi ce qui explique une silhouette modeste (0,365) : c'est normal sur des données comportementales, ce n'est pas un défaut de notre travail.
Les deux axes : axe 1 = valeur du client (76 %), axe 2 = récence (19 %).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4 (2 min) — LE RÉSULTAT PRINCIPAL.
Si le jury ne retient qu'une chose, c'est le 20 % / 73 %.
Précision technique à donner : les noms sont calculés à partir des VALEURS R/F/M, jamais du numéro de cluster — qui est arbitraire et change d'une exécution à l'autre.
Les 208 références valident rétrospectivement notre choix de garder les montants extrêmes en Partie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4 (1 min 30).
C'est LA justification du clustering face à une simple grille RFM par quintiles — la question que pose souvent un jury.
On perd l'un par négligence, on gagne l'autre par accompagnement. Même score, actions inverses.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4 (1 min 30).
Les pastilles P1/P2/P3 sont les priorités.
La phrase du bandeau est importante : elle montre qu'on pense comme des analystes, pas comme des exécutants.
Si on demande les gains chiffrés : les donner en précisant que ce sont des ordres de grandeur illustratifs.
PASSAGE AU PRÉSENTATEUR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5 (1 min 30).
Énoncer ces limites nous-mêmes, avec assurance — ce n'est pas un aveu de faiblesse, c'est ce qui distingue un travail scientifique d'une démonstration commerciale.
Le test A/B est la bonne réponse si on demande « comment savoir si ça marche vraiment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5 (1 min 30) — question 6.
Ne pas faire de morale générale : nommer le risque précis que NOTRE modèle rend possible.
Le garde-fou n°2 est le plus fort parce qu'il découle de notre propre travail : nous n'avons utilisé aucune variable géographique ni démographique. C'est un choix à préserver.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PRÉSENTATEUR 5 puis TOUTE L'ÉQUIPE pour les questions (1 min 30).
Trois chiffres, trois messages. Le dernier (k=2) est le plus intéressant à défendre : il montre qu'on a exercé un jugement, pas appliqué une recette.
Terminer par : « Nous sommes à votre disposition pour les questions. »
QUESTIONS PROBABLES — voir la note d'équipe : silhouette faible, 23 % de lignes perdues, outliers conservés, transposition au contexte ouest-africain, pourquoi pas k=5.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B27"/>
        </a:solidFill>
      </p:bgPr>
    </p:bg>
    <p:spTree>
      <p:nvGrpSpPr>
        <p:cNvPr id="1" name=""/>
        <p:cNvGrpSpPr/>
        <p:nvPr/>
      </p:nvGrpSpPr>
      <p:grpSpPr>
        <a:xfrm>
          <a:off x="0" y="0"/>
          <a:ext cx="0" cy="0"/>
          <a:chOff x="0" y="0"/>
          <a:chExt cx="0" cy="0"/>
        </a:xfrm>
      </p:grpSpPr>
      <p:sp>
        <p:nvSpPr>
          <p:cNvPr id="2" name="Text 0"/>
          <p:cNvSpPr txBox="1"/>
          <p:nvPr/>
        </p:nvSpPr>
        <p:spPr>
          <a:xfrm>
            <a:off x="1005840" y="1965960"/>
            <a:ext cx="10058400" cy="8686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Segmentation clients RFM</a:t>
            </a:r>
            <a:endParaRPr lang="en-US" sz="4600" dirty="0"/>
          </a:p>
        </p:txBody>
      </p:sp>
      <p:sp>
        <p:nvSpPr>
          <p:cNvPr id="3" name="Text 1"/>
          <p:cNvSpPr txBox="1"/>
          <p:nvPr/>
        </p:nvSpPr>
        <p:spPr>
          <a:xfrm>
            <a:off x="1005840" y="2852928"/>
            <a:ext cx="10058400" cy="502920"/>
          </a:xfrm>
          <a:prstGeom prst="rect">
            <a:avLst/>
          </a:prstGeom>
          <a:noFill/>
          <a:ln/>
        </p:spPr>
        <p:txBody>
          <a:bodyPr wrap="square" lIns="0" tIns="0" rIns="0" bIns="0" rtlCol="0" anchor="ctr"/>
          <a:lstStyle/>
          <a:p>
            <a:pPr indent="0" marL="0">
              <a:buNone/>
            </a:pPr>
            <a:r>
              <a:rPr lang="en-US" sz="2100" i="1" dirty="0">
                <a:solidFill>
                  <a:srgbClr val="9CC9C0"/>
                </a:solidFill>
                <a:latin typeface="Cambria" pitchFamily="34" charset="0"/>
                <a:ea typeface="Cambria" pitchFamily="34" charset="-122"/>
                <a:cs typeface="Cambria" pitchFamily="34" charset="-120"/>
              </a:rPr>
              <a:t>Comprendre ses clients pour mieux les servir</a:t>
            </a:r>
            <a:endParaRPr lang="en-US" sz="2100" dirty="0"/>
          </a:p>
        </p:txBody>
      </p:sp>
      <p:sp>
        <p:nvSpPr>
          <p:cNvPr id="4" name="Shape 2"/>
          <p:cNvSpPr/>
          <p:nvPr/>
        </p:nvSpPr>
        <p:spPr>
          <a:xfrm>
            <a:off x="1005840" y="3611880"/>
            <a:ext cx="2011680" cy="0"/>
          </a:xfrm>
          <a:prstGeom prst="line">
            <a:avLst/>
          </a:prstGeom>
          <a:noFill/>
          <a:ln w="31750">
            <a:solidFill>
              <a:srgbClr val="0E6E62"/>
            </a:solidFill>
            <a:prstDash val="solid"/>
          </a:ln>
        </p:spPr>
      </p:sp>
      <p:sp>
        <p:nvSpPr>
          <p:cNvPr id="5" name="Text 3"/>
          <p:cNvSpPr txBox="1"/>
          <p:nvPr/>
        </p:nvSpPr>
        <p:spPr>
          <a:xfrm>
            <a:off x="1005840" y="3886200"/>
            <a:ext cx="10058400" cy="365760"/>
          </a:xfrm>
          <a:prstGeom prst="rect">
            <a:avLst/>
          </a:prstGeom>
          <a:noFill/>
          <a:ln/>
        </p:spPr>
        <p:txBody>
          <a:bodyPr wrap="square" lIns="0" tIns="0" rIns="0" bIns="0" rtlCol="0" anchor="ctr"/>
          <a:lstStyle/>
          <a:p>
            <a:pPr indent="0" marL="0">
              <a:buNone/>
            </a:pPr>
            <a:r>
              <a:rPr lang="en-US" sz="1500" dirty="0">
                <a:solidFill>
                  <a:srgbClr val="C9DBD7"/>
                </a:solidFill>
                <a:latin typeface="Calibri" pitchFamily="34" charset="0"/>
                <a:ea typeface="Calibri" pitchFamily="34" charset="-122"/>
                <a:cs typeface="Calibri" pitchFamily="34" charset="-120"/>
              </a:rPr>
              <a:t>UCI Online Retail II  ·  1,07 million de transactions  ·  5 852 clients</a:t>
            </a:r>
            <a:endParaRPr lang="en-US" sz="1500" dirty="0"/>
          </a:p>
        </p:txBody>
      </p:sp>
      <p:sp>
        <p:nvSpPr>
          <p:cNvPr id="6" name="Text 4"/>
          <p:cNvSpPr txBox="1"/>
          <p:nvPr/>
        </p:nvSpPr>
        <p:spPr>
          <a:xfrm>
            <a:off x="1005840" y="5029200"/>
            <a:ext cx="10058400" cy="731520"/>
          </a:xfrm>
          <a:prstGeom prst="rect">
            <a:avLst/>
          </a:prstGeom>
          <a:noFill/>
          <a:ln/>
        </p:spPr>
        <p:txBody>
          <a:bodyPr wrap="square" lIns="0" tIns="0" rIns="0" bIns="0" rtlCol="0" anchor="ctr"/>
          <a:lstStyle/>
          <a:p>
            <a:pPr indent="0" marL="0">
              <a:buNone/>
            </a:pPr>
            <a:r>
              <a:rPr lang="en-US" sz="1300" dirty="0">
                <a:solidFill>
                  <a:srgbClr val="8FA9A5"/>
                </a:solidFill>
                <a:latin typeface="Calibri" pitchFamily="34" charset="0"/>
                <a:ea typeface="Calibri" pitchFamily="34" charset="-122"/>
                <a:cs typeface="Calibri" pitchFamily="34" charset="-120"/>
              </a:rPr>
              <a:t>TAISS 2026 — Togo AI Summer School  |  Filière F1 (Data Science)  |  TP2</a:t>
            </a:r>
            <a:endParaRPr lang="en-US" sz="1300" dirty="0"/>
          </a:p>
          <a:p>
            <a:pPr indent="0" marL="0">
              <a:buNone/>
            </a:pPr>
            <a:r>
              <a:rPr lang="en-US" sz="1300" dirty="0">
                <a:solidFill>
                  <a:srgbClr val="8FA9A5"/>
                </a:solidFill>
                <a:latin typeface="Calibri" pitchFamily="34" charset="0"/>
                <a:ea typeface="Calibri" pitchFamily="34" charset="-122"/>
                <a:cs typeface="Calibri" pitchFamily="34" charset="-120"/>
              </a:rPr>
              <a:t>Équipe : [noms]  —  Lomé, août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241280" cy="685800"/>
          </a:xfrm>
          <a:prstGeom prst="rect">
            <a:avLst/>
          </a:prstGeom>
          <a:noFill/>
          <a:ln/>
        </p:spPr>
        <p:txBody>
          <a:bodyPr wrap="square" lIns="0" tIns="0" rIns="0" bIns="0" rtlCol="0" anchor="ctr"/>
          <a:lstStyle/>
          <a:p>
            <a:pPr indent="0" marL="0">
              <a:buNone/>
            </a:pPr>
            <a:r>
              <a:rPr lang="en-US" sz="3200" b="1" dirty="0">
                <a:solidFill>
                  <a:srgbClr val="16201F"/>
                </a:solidFill>
                <a:latin typeface="Cambria" pitchFamily="34" charset="0"/>
                <a:ea typeface="Cambria" pitchFamily="34" charset="-122"/>
                <a:cs typeface="Cambria" pitchFamily="34" charset="-120"/>
              </a:rPr>
              <a:t>Le problème posé</a:t>
            </a:r>
            <a:endParaRPr lang="en-US" sz="3200" dirty="0"/>
          </a:p>
        </p:txBody>
      </p:sp>
      <p:sp>
        <p:nvSpPr>
          <p:cNvPr id="3" name="Text 1"/>
          <p:cNvSpPr txBox="1"/>
          <p:nvPr/>
        </p:nvSpPr>
        <p:spPr>
          <a:xfrm>
            <a:off x="548640" y="1207008"/>
            <a:ext cx="11091672" cy="868680"/>
          </a:xfrm>
          <a:prstGeom prst="rect">
            <a:avLst/>
          </a:prstGeom>
          <a:noFill/>
          <a:ln/>
        </p:spPr>
        <p:txBody>
          <a:bodyPr wrap="square" lIns="0" tIns="0" rIns="0" bIns="0" rtlCol="0" anchor="ctr"/>
          <a:lstStyle/>
          <a:p>
            <a:pPr indent="0" marL="0">
              <a:lnSpc>
                <a:spcPct val="120000"/>
              </a:lnSpc>
              <a:buNone/>
            </a:pPr>
            <a:r>
              <a:rPr lang="en-US" sz="1600" dirty="0">
                <a:solidFill>
                  <a:srgbClr val="16201F"/>
                </a:solidFill>
                <a:latin typeface="Calibri" pitchFamily="34" charset="0"/>
                <a:ea typeface="Calibri" pitchFamily="34" charset="-122"/>
                <a:cs typeface="Calibri" pitchFamily="34" charset="-120"/>
              </a:rPr>
              <a:t>Un e-commerce britannique de cadeaux, opérant surtout en gros, cumule deux ans de transactions — et aucune connaissance structurée de sa clientèle. Faut-il choyer les meilleurs acheteurs, relancer ceux qui s'éloignent, ou réveiller ceux qui dorment ?</a:t>
            </a:r>
            <a:endParaRPr lang="en-US" sz="1600" dirty="0"/>
          </a:p>
        </p:txBody>
      </p:sp>
      <p:sp>
        <p:nvSpPr>
          <p:cNvPr id="4" name="Shape 2"/>
          <p:cNvSpPr/>
          <p:nvPr/>
        </p:nvSpPr>
        <p:spPr>
          <a:xfrm>
            <a:off x="548640" y="2423160"/>
            <a:ext cx="2514600" cy="1371600"/>
          </a:xfrm>
          <a:prstGeom prst="roundRect">
            <a:avLst>
              <a:gd name="adj" fmla="val 4667"/>
            </a:avLst>
          </a:prstGeom>
          <a:solidFill>
            <a:srgbClr val="F1F7F5"/>
          </a:solidFill>
          <a:ln w="9525">
            <a:solidFill>
              <a:srgbClr val="CBD8D5"/>
            </a:solidFill>
            <a:prstDash val="solid"/>
          </a:ln>
        </p:spPr>
      </p:sp>
      <p:sp>
        <p:nvSpPr>
          <p:cNvPr id="5" name="Text 3"/>
          <p:cNvSpPr txBox="1"/>
          <p:nvPr/>
        </p:nvSpPr>
        <p:spPr>
          <a:xfrm>
            <a:off x="548640" y="2560320"/>
            <a:ext cx="2514600" cy="658368"/>
          </a:xfrm>
          <a:prstGeom prst="rect">
            <a:avLst/>
          </a:prstGeom>
          <a:noFill/>
          <a:ln/>
        </p:spPr>
        <p:txBody>
          <a:bodyPr wrap="square" lIns="0" tIns="0" rIns="0" bIns="0" rtlCol="0" anchor="ctr"/>
          <a:lstStyle/>
          <a:p>
            <a:pPr algn="ctr" indent="0" marL="0">
              <a:buNone/>
            </a:pPr>
            <a:r>
              <a:rPr lang="en-US" sz="2700" b="1" dirty="0">
                <a:solidFill>
                  <a:srgbClr val="0E6E62"/>
                </a:solidFill>
                <a:latin typeface="Cambria" pitchFamily="34" charset="0"/>
                <a:ea typeface="Cambria" pitchFamily="34" charset="-122"/>
                <a:cs typeface="Cambria" pitchFamily="34" charset="-120"/>
              </a:rPr>
              <a:t>1 067 371</a:t>
            </a:r>
            <a:endParaRPr lang="en-US" sz="2700" dirty="0"/>
          </a:p>
        </p:txBody>
      </p:sp>
      <p:sp>
        <p:nvSpPr>
          <p:cNvPr id="6" name="Text 4"/>
          <p:cNvSpPr txBox="1"/>
          <p:nvPr/>
        </p:nvSpPr>
        <p:spPr>
          <a:xfrm>
            <a:off x="548640" y="3218688"/>
            <a:ext cx="2514600" cy="502920"/>
          </a:xfrm>
          <a:prstGeom prst="rect">
            <a:avLst/>
          </a:prstGeom>
          <a:noFill/>
          <a:ln/>
        </p:spPr>
        <p:txBody>
          <a:bodyPr wrap="square" lIns="0" tIns="0" rIns="0" bIns="0" rtlCol="0" anchor="t"/>
          <a:lstStyle/>
          <a:p>
            <a:pPr algn="ctr" indent="0" marL="0">
              <a:buNone/>
            </a:pPr>
            <a:r>
              <a:rPr lang="en-US" sz="1150" dirty="0">
                <a:solidFill>
                  <a:srgbClr val="5F6E6C"/>
                </a:solidFill>
                <a:latin typeface="Calibri" pitchFamily="34" charset="0"/>
                <a:ea typeface="Calibri" pitchFamily="34" charset="-122"/>
                <a:cs typeface="Calibri" pitchFamily="34" charset="-120"/>
              </a:rPr>
              <a:t>transactions brutes</a:t>
            </a:r>
            <a:endParaRPr lang="en-US" sz="1150" dirty="0"/>
          </a:p>
        </p:txBody>
      </p:sp>
      <p:sp>
        <p:nvSpPr>
          <p:cNvPr id="7" name="Shape 5"/>
          <p:cNvSpPr/>
          <p:nvPr/>
        </p:nvSpPr>
        <p:spPr>
          <a:xfrm>
            <a:off x="3346704" y="2423160"/>
            <a:ext cx="2514600" cy="1371600"/>
          </a:xfrm>
          <a:prstGeom prst="roundRect">
            <a:avLst>
              <a:gd name="adj" fmla="val 4667"/>
            </a:avLst>
          </a:prstGeom>
          <a:solidFill>
            <a:srgbClr val="F1F7F5"/>
          </a:solidFill>
          <a:ln w="9525">
            <a:solidFill>
              <a:srgbClr val="CBD8D5"/>
            </a:solidFill>
            <a:prstDash val="solid"/>
          </a:ln>
        </p:spPr>
      </p:sp>
      <p:sp>
        <p:nvSpPr>
          <p:cNvPr id="8" name="Text 6"/>
          <p:cNvSpPr txBox="1"/>
          <p:nvPr/>
        </p:nvSpPr>
        <p:spPr>
          <a:xfrm>
            <a:off x="3346704" y="2560320"/>
            <a:ext cx="2514600" cy="658368"/>
          </a:xfrm>
          <a:prstGeom prst="rect">
            <a:avLst/>
          </a:prstGeom>
          <a:noFill/>
          <a:ln/>
        </p:spPr>
        <p:txBody>
          <a:bodyPr wrap="square" lIns="0" tIns="0" rIns="0" bIns="0" rtlCol="0" anchor="ctr"/>
          <a:lstStyle/>
          <a:p>
            <a:pPr algn="ctr" indent="0" marL="0">
              <a:buNone/>
            </a:pPr>
            <a:r>
              <a:rPr lang="en-US" sz="2700" b="1" dirty="0">
                <a:solidFill>
                  <a:srgbClr val="0E6E62"/>
                </a:solidFill>
                <a:latin typeface="Cambria" pitchFamily="34" charset="0"/>
                <a:ea typeface="Cambria" pitchFamily="34" charset="-122"/>
                <a:cs typeface="Cambria" pitchFamily="34" charset="-120"/>
              </a:rPr>
              <a:t>5 852</a:t>
            </a:r>
            <a:endParaRPr lang="en-US" sz="2700" dirty="0"/>
          </a:p>
        </p:txBody>
      </p:sp>
      <p:sp>
        <p:nvSpPr>
          <p:cNvPr id="9" name="Text 7"/>
          <p:cNvSpPr txBox="1"/>
          <p:nvPr/>
        </p:nvSpPr>
        <p:spPr>
          <a:xfrm>
            <a:off x="3346704" y="3218688"/>
            <a:ext cx="2514600" cy="502920"/>
          </a:xfrm>
          <a:prstGeom prst="rect">
            <a:avLst/>
          </a:prstGeom>
          <a:noFill/>
          <a:ln/>
        </p:spPr>
        <p:txBody>
          <a:bodyPr wrap="square" lIns="0" tIns="0" rIns="0" bIns="0" rtlCol="0" anchor="t"/>
          <a:lstStyle/>
          <a:p>
            <a:pPr algn="ctr" indent="0" marL="0">
              <a:buNone/>
            </a:pPr>
            <a:r>
              <a:rPr lang="en-US" sz="1150" dirty="0">
                <a:solidFill>
                  <a:srgbClr val="5F6E6C"/>
                </a:solidFill>
                <a:latin typeface="Calibri" pitchFamily="34" charset="0"/>
                <a:ea typeface="Calibri" pitchFamily="34" charset="-122"/>
                <a:cs typeface="Calibri" pitchFamily="34" charset="-120"/>
              </a:rPr>
              <a:t>clients identifiés</a:t>
            </a:r>
            <a:endParaRPr lang="en-US" sz="1150" dirty="0"/>
          </a:p>
        </p:txBody>
      </p:sp>
      <p:sp>
        <p:nvSpPr>
          <p:cNvPr id="10" name="Shape 8"/>
          <p:cNvSpPr/>
          <p:nvPr/>
        </p:nvSpPr>
        <p:spPr>
          <a:xfrm>
            <a:off x="6144768" y="2423160"/>
            <a:ext cx="2514600" cy="1371600"/>
          </a:xfrm>
          <a:prstGeom prst="roundRect">
            <a:avLst>
              <a:gd name="adj" fmla="val 4667"/>
            </a:avLst>
          </a:prstGeom>
          <a:solidFill>
            <a:srgbClr val="F1F7F5"/>
          </a:solidFill>
          <a:ln w="9525">
            <a:solidFill>
              <a:srgbClr val="CBD8D5"/>
            </a:solidFill>
            <a:prstDash val="solid"/>
          </a:ln>
        </p:spPr>
      </p:sp>
      <p:sp>
        <p:nvSpPr>
          <p:cNvPr id="11" name="Text 9"/>
          <p:cNvSpPr txBox="1"/>
          <p:nvPr/>
        </p:nvSpPr>
        <p:spPr>
          <a:xfrm>
            <a:off x="6144768" y="2560320"/>
            <a:ext cx="2514600" cy="658368"/>
          </a:xfrm>
          <a:prstGeom prst="rect">
            <a:avLst/>
          </a:prstGeom>
          <a:noFill/>
          <a:ln/>
        </p:spPr>
        <p:txBody>
          <a:bodyPr wrap="square" lIns="0" tIns="0" rIns="0" bIns="0" rtlCol="0" anchor="ctr"/>
          <a:lstStyle/>
          <a:p>
            <a:pPr algn="ctr" indent="0" marL="0">
              <a:buNone/>
            </a:pPr>
            <a:r>
              <a:rPr lang="en-US" sz="2700" b="1" dirty="0">
                <a:solidFill>
                  <a:srgbClr val="0E6E62"/>
                </a:solidFill>
                <a:latin typeface="Cambria" pitchFamily="34" charset="0"/>
                <a:ea typeface="Cambria" pitchFamily="34" charset="-122"/>
                <a:cs typeface="Cambria" pitchFamily="34" charset="-120"/>
              </a:rPr>
              <a:t>17,1 M£</a:t>
            </a:r>
            <a:endParaRPr lang="en-US" sz="2700" dirty="0"/>
          </a:p>
        </p:txBody>
      </p:sp>
      <p:sp>
        <p:nvSpPr>
          <p:cNvPr id="12" name="Text 10"/>
          <p:cNvSpPr txBox="1"/>
          <p:nvPr/>
        </p:nvSpPr>
        <p:spPr>
          <a:xfrm>
            <a:off x="6144768" y="3218688"/>
            <a:ext cx="2514600" cy="502920"/>
          </a:xfrm>
          <a:prstGeom prst="rect">
            <a:avLst/>
          </a:prstGeom>
          <a:noFill/>
          <a:ln/>
        </p:spPr>
        <p:txBody>
          <a:bodyPr wrap="square" lIns="0" tIns="0" rIns="0" bIns="0" rtlCol="0" anchor="t"/>
          <a:lstStyle/>
          <a:p>
            <a:pPr algn="ctr" indent="0" marL="0">
              <a:buNone/>
            </a:pPr>
            <a:r>
              <a:rPr lang="en-US" sz="1150" dirty="0">
                <a:solidFill>
                  <a:srgbClr val="5F6E6C"/>
                </a:solidFill>
                <a:latin typeface="Calibri" pitchFamily="34" charset="0"/>
                <a:ea typeface="Calibri" pitchFamily="34" charset="-122"/>
                <a:cs typeface="Calibri" pitchFamily="34" charset="-120"/>
              </a:rPr>
              <a:t>chiffre d'affaires</a:t>
            </a:r>
            <a:endParaRPr lang="en-US" sz="1150" dirty="0"/>
          </a:p>
        </p:txBody>
      </p:sp>
      <p:sp>
        <p:nvSpPr>
          <p:cNvPr id="13" name="Shape 11"/>
          <p:cNvSpPr/>
          <p:nvPr/>
        </p:nvSpPr>
        <p:spPr>
          <a:xfrm>
            <a:off x="8942832" y="2423160"/>
            <a:ext cx="2514600" cy="1371600"/>
          </a:xfrm>
          <a:prstGeom prst="roundRect">
            <a:avLst>
              <a:gd name="adj" fmla="val 4667"/>
            </a:avLst>
          </a:prstGeom>
          <a:solidFill>
            <a:srgbClr val="F1F7F5"/>
          </a:solidFill>
          <a:ln w="9525">
            <a:solidFill>
              <a:srgbClr val="CBD8D5"/>
            </a:solidFill>
            <a:prstDash val="solid"/>
          </a:ln>
        </p:spPr>
      </p:sp>
      <p:sp>
        <p:nvSpPr>
          <p:cNvPr id="14" name="Text 12"/>
          <p:cNvSpPr txBox="1"/>
          <p:nvPr/>
        </p:nvSpPr>
        <p:spPr>
          <a:xfrm>
            <a:off x="8942832" y="2560320"/>
            <a:ext cx="2514600" cy="658368"/>
          </a:xfrm>
          <a:prstGeom prst="rect">
            <a:avLst/>
          </a:prstGeom>
          <a:noFill/>
          <a:ln/>
        </p:spPr>
        <p:txBody>
          <a:bodyPr wrap="square" lIns="0" tIns="0" rIns="0" bIns="0" rtlCol="0" anchor="ctr"/>
          <a:lstStyle/>
          <a:p>
            <a:pPr algn="ctr" indent="0" marL="0">
              <a:buNone/>
            </a:pPr>
            <a:r>
              <a:rPr lang="en-US" sz="2700" b="1" dirty="0">
                <a:solidFill>
                  <a:srgbClr val="0E6E62"/>
                </a:solidFill>
                <a:latin typeface="Cambria" pitchFamily="34" charset="0"/>
                <a:ea typeface="Cambria" pitchFamily="34" charset="-122"/>
                <a:cs typeface="Cambria" pitchFamily="34" charset="-120"/>
              </a:rPr>
              <a:t>2 ans</a:t>
            </a:r>
            <a:endParaRPr lang="en-US" sz="2700" dirty="0"/>
          </a:p>
        </p:txBody>
      </p:sp>
      <p:sp>
        <p:nvSpPr>
          <p:cNvPr id="15" name="Text 13"/>
          <p:cNvSpPr txBox="1"/>
          <p:nvPr/>
        </p:nvSpPr>
        <p:spPr>
          <a:xfrm>
            <a:off x="8942832" y="3218688"/>
            <a:ext cx="2514600" cy="502920"/>
          </a:xfrm>
          <a:prstGeom prst="rect">
            <a:avLst/>
          </a:prstGeom>
          <a:noFill/>
          <a:ln/>
        </p:spPr>
        <p:txBody>
          <a:bodyPr wrap="square" lIns="0" tIns="0" rIns="0" bIns="0" rtlCol="0" anchor="t"/>
          <a:lstStyle/>
          <a:p>
            <a:pPr algn="ctr" indent="0" marL="0">
              <a:buNone/>
            </a:pPr>
            <a:r>
              <a:rPr lang="en-US" sz="1150" dirty="0">
                <a:solidFill>
                  <a:srgbClr val="5F6E6C"/>
                </a:solidFill>
                <a:latin typeface="Calibri" pitchFamily="34" charset="0"/>
                <a:ea typeface="Calibri" pitchFamily="34" charset="-122"/>
                <a:cs typeface="Calibri" pitchFamily="34" charset="-120"/>
              </a:rPr>
              <a:t>déc. 2009 → déc. 2011</a:t>
            </a:r>
            <a:endParaRPr lang="en-US" sz="1150" dirty="0"/>
          </a:p>
        </p:txBody>
      </p:sp>
      <p:sp>
        <p:nvSpPr>
          <p:cNvPr id="16" name="Text 14"/>
          <p:cNvSpPr txBox="1"/>
          <p:nvPr/>
        </p:nvSpPr>
        <p:spPr>
          <a:xfrm>
            <a:off x="548640" y="4114800"/>
            <a:ext cx="11091672" cy="365760"/>
          </a:xfrm>
          <a:prstGeom prst="rect">
            <a:avLst/>
          </a:prstGeom>
          <a:noFill/>
          <a:ln/>
        </p:spPr>
        <p:txBody>
          <a:bodyPr wrap="square" lIns="0" tIns="0" rIns="0" bIns="0" rtlCol="0" anchor="ctr"/>
          <a:lstStyle/>
          <a:p>
            <a:pPr indent="0" marL="0">
              <a:buNone/>
            </a:pPr>
            <a:r>
              <a:rPr lang="en-US" sz="1500" b="1" dirty="0">
                <a:solidFill>
                  <a:srgbClr val="0E6E62"/>
                </a:solidFill>
                <a:latin typeface="Calibri" pitchFamily="34" charset="0"/>
                <a:ea typeface="Calibri" pitchFamily="34" charset="-122"/>
                <a:cs typeface="Calibri" pitchFamily="34" charset="-120"/>
              </a:rPr>
              <a:t>Notre mission</a:t>
            </a:r>
            <a:endParaRPr lang="en-US" sz="1500" dirty="0"/>
          </a:p>
        </p:txBody>
      </p:sp>
      <p:sp>
        <p:nvSpPr>
          <p:cNvPr id="17" name="Text 15"/>
          <p:cNvSpPr txBox="1"/>
          <p:nvPr/>
        </p:nvSpPr>
        <p:spPr>
          <a:xfrm>
            <a:off x="548640" y="4526280"/>
            <a:ext cx="11091672" cy="1280160"/>
          </a:xfrm>
          <a:prstGeom prst="rect">
            <a:avLst/>
          </a:prstGeom>
          <a:noFill/>
          <a:ln/>
        </p:spPr>
        <p:txBody>
          <a:bodyPr wrap="square" lIns="0" tIns="0" rIns="0" bIns="0" rtlCol="0" anchor="ctr"/>
          <a:lstStyle/>
          <a:p>
            <a:pPr marL="342900" indent="-342900">
              <a:lnSpc>
                <a:spcPct val="115000"/>
              </a:lnSpc>
              <a:spcAft>
                <a:spcPts val="1000"/>
              </a:spcAft>
              <a:buSzPct val="100000"/>
              <a:buChar char="•"/>
            </a:pPr>
            <a:r>
              <a:rPr lang="en-US" sz="1500" dirty="0">
                <a:solidFill>
                  <a:srgbClr val="16201F"/>
                </a:solidFill>
                <a:latin typeface="Calibri" pitchFamily="34" charset="0"/>
                <a:ea typeface="Calibri" pitchFamily="34" charset="-122"/>
                <a:cs typeface="Calibri" pitchFamily="34" charset="-120"/>
              </a:rPr>
              <a:t>Construire une segmentation à partir du seul comportement d'achat — méthode RFM : Récence, Fréquence, Montant</a:t>
            </a:r>
            <a:endParaRPr lang="en-US" sz="1500" dirty="0"/>
          </a:p>
          <a:p>
            <a:pPr marL="342900" indent="-342900">
              <a:lnSpc>
                <a:spcPct val="115000"/>
              </a:lnSpc>
              <a:spcAft>
                <a:spcPts val="1000"/>
              </a:spcAft>
              <a:buSzPct val="100000"/>
              <a:buChar char="•"/>
            </a:pPr>
            <a:r>
              <a:rPr lang="en-US" sz="1500" dirty="0">
                <a:solidFill>
                  <a:srgbClr val="16201F"/>
                </a:solidFill>
                <a:latin typeface="Calibri" pitchFamily="34" charset="0"/>
                <a:ea typeface="Calibri" pitchFamily="34" charset="-122"/>
                <a:cs typeface="Calibri" pitchFamily="34" charset="-120"/>
              </a:rPr>
              <a:t>Identifier et nommer des segments actionnables, pas seulement des groupes statistiques</a:t>
            </a:r>
            <a:endParaRPr lang="en-US" sz="1500" dirty="0"/>
          </a:p>
          <a:p>
            <a:pPr marL="342900" indent="-342900">
              <a:lnSpc>
                <a:spcPct val="115000"/>
              </a:lnSpc>
              <a:spcAft>
                <a:spcPts val="1000"/>
              </a:spcAft>
              <a:buSzPct val="100000"/>
              <a:buChar char="•"/>
            </a:pPr>
            <a:r>
              <a:rPr lang="en-US" sz="1500" dirty="0">
                <a:solidFill>
                  <a:srgbClr val="16201F"/>
                </a:solidFill>
                <a:latin typeface="Calibri" pitchFamily="34" charset="0"/>
                <a:ea typeface="Calibri" pitchFamily="34" charset="-122"/>
                <a:cs typeface="Calibri" pitchFamily="34" charset="-120"/>
              </a:rPr>
              <a:t>Formuler des recommandations marketing différenciées par segment</a:t>
            </a:r>
            <a:endParaRPr lang="en-US" sz="1500" dirty="0"/>
          </a:p>
        </p:txBody>
      </p:sp>
      <p:sp>
        <p:nvSpPr>
          <p:cNvPr id="18" name="Shape 16"/>
          <p:cNvSpPr/>
          <p:nvPr/>
        </p:nvSpPr>
        <p:spPr>
          <a:xfrm>
            <a:off x="548640" y="5806440"/>
            <a:ext cx="11091672" cy="566928"/>
          </a:xfrm>
          <a:prstGeom prst="roundRect">
            <a:avLst>
              <a:gd name="adj" fmla="val 11290"/>
            </a:avLst>
          </a:prstGeom>
          <a:solidFill>
            <a:srgbClr val="D9EBE7"/>
          </a:solidFill>
          <a:ln w="9525">
            <a:solidFill>
              <a:srgbClr val="CBD8D5"/>
            </a:solidFill>
            <a:prstDash val="solid"/>
          </a:ln>
        </p:spPr>
      </p:sp>
      <p:sp>
        <p:nvSpPr>
          <p:cNvPr id="19" name="Text 17"/>
          <p:cNvSpPr txBox="1"/>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6E62"/>
                </a:solidFill>
                <a:latin typeface="Calibri" pitchFamily="34" charset="0"/>
                <a:ea typeface="Calibri" pitchFamily="34" charset="-122"/>
                <a:cs typeface="Calibri" pitchFamily="34" charset="-120"/>
              </a:rPr>
              <a:t>Méthode transposable à un e-commerce ouest-africain ou à une plateforme de paiement mobile.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241280" cy="685800"/>
          </a:xfrm>
          <a:prstGeom prst="rect">
            <a:avLst/>
          </a:prstGeom>
          <a:noFill/>
          <a:ln/>
        </p:spPr>
        <p:txBody>
          <a:bodyPr wrap="square" lIns="0" tIns="0" rIns="0" bIns="0" rtlCol="0" anchor="ctr"/>
          <a:lstStyle/>
          <a:p>
            <a:pPr indent="0" marL="0">
              <a:buNone/>
            </a:pPr>
            <a:r>
              <a:rPr lang="en-US" sz="3200" b="1" dirty="0">
                <a:solidFill>
                  <a:srgbClr val="16201F"/>
                </a:solidFill>
                <a:latin typeface="Cambria" pitchFamily="34" charset="0"/>
                <a:ea typeface="Cambria" pitchFamily="34" charset="-122"/>
                <a:cs typeface="Cambria" pitchFamily="34" charset="-120"/>
              </a:rPr>
              <a:t>Notre démarche en quatre étapes</a:t>
            </a:r>
            <a:endParaRPr lang="en-US" sz="3200" dirty="0"/>
          </a:p>
        </p:txBody>
      </p:sp>
      <p:sp>
        <p:nvSpPr>
          <p:cNvPr id="3" name="Shape 1"/>
          <p:cNvSpPr/>
          <p:nvPr/>
        </p:nvSpPr>
        <p:spPr>
          <a:xfrm>
            <a:off x="548640" y="1371600"/>
            <a:ext cx="2615184" cy="3246120"/>
          </a:xfrm>
          <a:prstGeom prst="roundRect">
            <a:avLst>
              <a:gd name="adj" fmla="val 2448"/>
            </a:avLst>
          </a:prstGeom>
          <a:solidFill>
            <a:srgbClr val="F1F7F5"/>
          </a:solidFill>
          <a:ln w="9525">
            <a:solidFill>
              <a:srgbClr val="CBD8D5"/>
            </a:solidFill>
            <a:prstDash val="solid"/>
          </a:ln>
        </p:spPr>
      </p:sp>
      <p:sp>
        <p:nvSpPr>
          <p:cNvPr id="4" name="Shape 2"/>
          <p:cNvSpPr/>
          <p:nvPr/>
        </p:nvSpPr>
        <p:spPr>
          <a:xfrm>
            <a:off x="804672" y="1627632"/>
            <a:ext cx="566928" cy="566928"/>
          </a:xfrm>
          <a:prstGeom prst="ellipse">
            <a:avLst/>
          </a:prstGeom>
          <a:solidFill>
            <a:srgbClr val="0E6E62"/>
          </a:solidFill>
          <a:ln/>
        </p:spPr>
      </p:sp>
      <p:sp>
        <p:nvSpPr>
          <p:cNvPr id="5" name="Text 3"/>
          <p:cNvSpPr txBox="1"/>
          <p:nvPr/>
        </p:nvSpPr>
        <p:spPr>
          <a:xfrm>
            <a:off x="804672" y="1627632"/>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6" name="Text 4"/>
          <p:cNvSpPr txBox="1"/>
          <p:nvPr/>
        </p:nvSpPr>
        <p:spPr>
          <a:xfrm>
            <a:off x="804672" y="2359152"/>
            <a:ext cx="2103120" cy="384048"/>
          </a:xfrm>
          <a:prstGeom prst="rect">
            <a:avLst/>
          </a:prstGeom>
          <a:noFill/>
          <a:ln/>
        </p:spPr>
        <p:txBody>
          <a:bodyPr wrap="square" lIns="0" tIns="0" rIns="0" bIns="0" rtlCol="0" anchor="ctr"/>
          <a:lstStyle/>
          <a:p>
            <a:pPr indent="0" marL="0">
              <a:buNone/>
            </a:pPr>
            <a:r>
              <a:rPr lang="en-US" sz="1900" b="1" dirty="0">
                <a:solidFill>
                  <a:srgbClr val="16201F"/>
                </a:solidFill>
                <a:latin typeface="Cambria" pitchFamily="34" charset="0"/>
                <a:ea typeface="Cambria" pitchFamily="34" charset="-122"/>
                <a:cs typeface="Cambria" pitchFamily="34" charset="-120"/>
              </a:rPr>
              <a:t>Nettoyage</a:t>
            </a:r>
            <a:endParaRPr lang="en-US" sz="1900" dirty="0"/>
          </a:p>
        </p:txBody>
      </p:sp>
      <p:sp>
        <p:nvSpPr>
          <p:cNvPr id="7" name="Text 5"/>
          <p:cNvSpPr txBox="1"/>
          <p:nvPr/>
        </p:nvSpPr>
        <p:spPr>
          <a:xfrm>
            <a:off x="804672" y="2788920"/>
            <a:ext cx="2103120" cy="914400"/>
          </a:xfrm>
          <a:prstGeom prst="rect">
            <a:avLst/>
          </a:prstGeom>
          <a:noFill/>
          <a:ln/>
        </p:spPr>
        <p:txBody>
          <a:bodyPr wrap="square" lIns="0" tIns="0" rIns="0" bIns="0" rtlCol="0" anchor="ctr"/>
          <a:lstStyle/>
          <a:p>
            <a:pPr indent="0" marL="0">
              <a:lnSpc>
                <a:spcPct val="115000"/>
              </a:lnSpc>
              <a:buNone/>
            </a:pPr>
            <a:r>
              <a:rPr lang="en-US" sz="1300" dirty="0">
                <a:solidFill>
                  <a:srgbClr val="5F6E6C"/>
                </a:solidFill>
                <a:latin typeface="Calibri" pitchFamily="34" charset="0"/>
                <a:ea typeface="Calibri" pitchFamily="34" charset="-122"/>
                <a:cs typeface="Calibri" pitchFamily="34" charset="-120"/>
              </a:rPr>
              <a:t>Annulations, doublons,</a:t>
            </a:r>
            <a:endParaRPr lang="en-US" sz="1300" dirty="0"/>
          </a:p>
          <a:p>
            <a:pPr indent="0" marL="0">
              <a:lnSpc>
                <a:spcPct val="115000"/>
              </a:lnSpc>
              <a:buNone/>
            </a:pPr>
            <a:r>
              <a:rPr lang="en-US" sz="1300" dirty="0">
                <a:solidFill>
                  <a:srgbClr val="5F6E6C"/>
                </a:solidFill>
                <a:latin typeface="Calibri" pitchFamily="34" charset="0"/>
                <a:ea typeface="Calibri" pitchFamily="34" charset="-122"/>
                <a:cs typeface="Calibri" pitchFamily="34" charset="-120"/>
              </a:rPr>
              <a:t>identifiants manquants</a:t>
            </a:r>
            <a:endParaRPr lang="en-US" sz="1300" dirty="0"/>
          </a:p>
        </p:txBody>
      </p:sp>
      <p:sp>
        <p:nvSpPr>
          <p:cNvPr id="8" name="Text 6"/>
          <p:cNvSpPr txBox="1"/>
          <p:nvPr/>
        </p:nvSpPr>
        <p:spPr>
          <a:xfrm>
            <a:off x="804672" y="3794760"/>
            <a:ext cx="2103120" cy="640080"/>
          </a:xfrm>
          <a:prstGeom prst="rect">
            <a:avLst/>
          </a:prstGeom>
          <a:noFill/>
          <a:ln/>
        </p:spPr>
        <p:txBody>
          <a:bodyPr wrap="square" lIns="0" tIns="0" rIns="0" bIns="0" rtlCol="0" anchor="ctr"/>
          <a:lstStyle/>
          <a:p>
            <a:pPr indent="0" marL="0">
              <a:lnSpc>
                <a:spcPct val="110000"/>
              </a:lnSpc>
              <a:buNone/>
            </a:pPr>
            <a:r>
              <a:rPr lang="en-US" sz="1300" b="1" dirty="0">
                <a:solidFill>
                  <a:srgbClr val="0E6E62"/>
                </a:solidFill>
                <a:latin typeface="Calibri" pitchFamily="34" charset="0"/>
                <a:ea typeface="Calibri" pitchFamily="34" charset="-122"/>
                <a:cs typeface="Calibri" pitchFamily="34" charset="-120"/>
              </a:rPr>
              <a:t>776 582 lignes</a:t>
            </a:r>
            <a:endParaRPr lang="en-US" sz="1300" dirty="0"/>
          </a:p>
          <a:p>
            <a:pPr indent="0" marL="0">
              <a:lnSpc>
                <a:spcPct val="110000"/>
              </a:lnSpc>
              <a:buNone/>
            </a:pPr>
            <a:r>
              <a:rPr lang="en-US" sz="1300" b="1" dirty="0">
                <a:solidFill>
                  <a:srgbClr val="0E6E62"/>
                </a:solidFill>
                <a:latin typeface="Calibri" pitchFamily="34" charset="0"/>
                <a:ea typeface="Calibri" pitchFamily="34" charset="-122"/>
                <a:cs typeface="Calibri" pitchFamily="34" charset="-120"/>
              </a:rPr>
              <a:t>conservées</a:t>
            </a:r>
            <a:endParaRPr lang="en-US" sz="1300" dirty="0"/>
          </a:p>
        </p:txBody>
      </p:sp>
      <p:sp>
        <p:nvSpPr>
          <p:cNvPr id="9" name="Shape 7"/>
          <p:cNvSpPr/>
          <p:nvPr/>
        </p:nvSpPr>
        <p:spPr>
          <a:xfrm>
            <a:off x="3429000" y="1371600"/>
            <a:ext cx="2615184" cy="3246120"/>
          </a:xfrm>
          <a:prstGeom prst="roundRect">
            <a:avLst>
              <a:gd name="adj" fmla="val 2448"/>
            </a:avLst>
          </a:prstGeom>
          <a:solidFill>
            <a:srgbClr val="F1F7F5"/>
          </a:solidFill>
          <a:ln w="9525">
            <a:solidFill>
              <a:srgbClr val="CBD8D5"/>
            </a:solidFill>
            <a:prstDash val="solid"/>
          </a:ln>
        </p:spPr>
      </p:sp>
      <p:sp>
        <p:nvSpPr>
          <p:cNvPr id="10" name="Shape 8"/>
          <p:cNvSpPr/>
          <p:nvPr/>
        </p:nvSpPr>
        <p:spPr>
          <a:xfrm>
            <a:off x="3685032" y="1627632"/>
            <a:ext cx="566928" cy="566928"/>
          </a:xfrm>
          <a:prstGeom prst="ellipse">
            <a:avLst/>
          </a:prstGeom>
          <a:solidFill>
            <a:srgbClr val="0E6E62"/>
          </a:solidFill>
          <a:ln/>
        </p:spPr>
      </p:sp>
      <p:sp>
        <p:nvSpPr>
          <p:cNvPr id="11" name="Text 9"/>
          <p:cNvSpPr txBox="1"/>
          <p:nvPr/>
        </p:nvSpPr>
        <p:spPr>
          <a:xfrm>
            <a:off x="3685032" y="1627632"/>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2" name="Text 10"/>
          <p:cNvSpPr txBox="1"/>
          <p:nvPr/>
        </p:nvSpPr>
        <p:spPr>
          <a:xfrm>
            <a:off x="3685032" y="2359152"/>
            <a:ext cx="2103120" cy="384048"/>
          </a:xfrm>
          <a:prstGeom prst="rect">
            <a:avLst/>
          </a:prstGeom>
          <a:noFill/>
          <a:ln/>
        </p:spPr>
        <p:txBody>
          <a:bodyPr wrap="square" lIns="0" tIns="0" rIns="0" bIns="0" rtlCol="0" anchor="ctr"/>
          <a:lstStyle/>
          <a:p>
            <a:pPr indent="0" marL="0">
              <a:buNone/>
            </a:pPr>
            <a:r>
              <a:rPr lang="en-US" sz="1900" b="1" dirty="0">
                <a:solidFill>
                  <a:srgbClr val="16201F"/>
                </a:solidFill>
                <a:latin typeface="Cambria" pitchFamily="34" charset="0"/>
                <a:ea typeface="Cambria" pitchFamily="34" charset="-122"/>
                <a:cs typeface="Cambria" pitchFamily="34" charset="-120"/>
              </a:rPr>
              <a:t>Features RFM</a:t>
            </a:r>
            <a:endParaRPr lang="en-US" sz="1900" dirty="0"/>
          </a:p>
        </p:txBody>
      </p:sp>
      <p:sp>
        <p:nvSpPr>
          <p:cNvPr id="13" name="Text 11"/>
          <p:cNvSpPr txBox="1"/>
          <p:nvPr/>
        </p:nvSpPr>
        <p:spPr>
          <a:xfrm>
            <a:off x="3685032" y="2788920"/>
            <a:ext cx="2103120" cy="914400"/>
          </a:xfrm>
          <a:prstGeom prst="rect">
            <a:avLst/>
          </a:prstGeom>
          <a:noFill/>
          <a:ln/>
        </p:spPr>
        <p:txBody>
          <a:bodyPr wrap="square" lIns="0" tIns="0" rIns="0" bIns="0" rtlCol="0" anchor="ctr"/>
          <a:lstStyle/>
          <a:p>
            <a:pPr indent="0" marL="0">
              <a:lnSpc>
                <a:spcPct val="115000"/>
              </a:lnSpc>
              <a:buNone/>
            </a:pPr>
            <a:r>
              <a:rPr lang="en-US" sz="1300" dirty="0">
                <a:solidFill>
                  <a:srgbClr val="5F6E6C"/>
                </a:solidFill>
                <a:latin typeface="Calibri" pitchFamily="34" charset="0"/>
                <a:ea typeface="Calibri" pitchFamily="34" charset="-122"/>
                <a:cs typeface="Calibri" pitchFamily="34" charset="-120"/>
              </a:rPr>
              <a:t>Agrégation par client,</a:t>
            </a:r>
            <a:endParaRPr lang="en-US" sz="1300" dirty="0"/>
          </a:p>
          <a:p>
            <a:pPr indent="0" marL="0">
              <a:lnSpc>
                <a:spcPct val="115000"/>
              </a:lnSpc>
              <a:buNone/>
            </a:pPr>
            <a:r>
              <a:rPr lang="en-US" sz="1300" dirty="0">
                <a:solidFill>
                  <a:srgbClr val="5F6E6C"/>
                </a:solidFill>
                <a:latin typeface="Calibri" pitchFamily="34" charset="0"/>
                <a:ea typeface="Calibri" pitchFamily="34" charset="-122"/>
                <a:cs typeface="Calibri" pitchFamily="34" charset="-120"/>
              </a:rPr>
              <a:t>log + standardisation</a:t>
            </a:r>
            <a:endParaRPr lang="en-US" sz="1300" dirty="0"/>
          </a:p>
        </p:txBody>
      </p:sp>
      <p:sp>
        <p:nvSpPr>
          <p:cNvPr id="14" name="Text 12"/>
          <p:cNvSpPr txBox="1"/>
          <p:nvPr/>
        </p:nvSpPr>
        <p:spPr>
          <a:xfrm>
            <a:off x="3685032" y="3794760"/>
            <a:ext cx="2103120" cy="640080"/>
          </a:xfrm>
          <a:prstGeom prst="rect">
            <a:avLst/>
          </a:prstGeom>
          <a:noFill/>
          <a:ln/>
        </p:spPr>
        <p:txBody>
          <a:bodyPr wrap="square" lIns="0" tIns="0" rIns="0" bIns="0" rtlCol="0" anchor="ctr"/>
          <a:lstStyle/>
          <a:p>
            <a:pPr indent="0" marL="0">
              <a:lnSpc>
                <a:spcPct val="110000"/>
              </a:lnSpc>
              <a:buNone/>
            </a:pPr>
            <a:r>
              <a:rPr lang="en-US" sz="1300" b="1" dirty="0">
                <a:solidFill>
                  <a:srgbClr val="0E6E62"/>
                </a:solidFill>
                <a:latin typeface="Calibri" pitchFamily="34" charset="0"/>
                <a:ea typeface="Calibri" pitchFamily="34" charset="-122"/>
                <a:cs typeface="Calibri" pitchFamily="34" charset="-120"/>
              </a:rPr>
              <a:t>5 852 clients</a:t>
            </a:r>
            <a:endParaRPr lang="en-US" sz="1300" dirty="0"/>
          </a:p>
          <a:p>
            <a:pPr indent="0" marL="0">
              <a:lnSpc>
                <a:spcPct val="110000"/>
              </a:lnSpc>
              <a:buNone/>
            </a:pPr>
            <a:r>
              <a:rPr lang="en-US" sz="1300" b="1" dirty="0">
                <a:solidFill>
                  <a:srgbClr val="0E6E62"/>
                </a:solidFill>
                <a:latin typeface="Calibri" pitchFamily="34" charset="0"/>
                <a:ea typeface="Calibri" pitchFamily="34" charset="-122"/>
                <a:cs typeface="Calibri" pitchFamily="34" charset="-120"/>
              </a:rPr>
              <a:t>décrits</a:t>
            </a:r>
            <a:endParaRPr lang="en-US" sz="1300" dirty="0"/>
          </a:p>
        </p:txBody>
      </p:sp>
      <p:sp>
        <p:nvSpPr>
          <p:cNvPr id="15" name="Shape 13"/>
          <p:cNvSpPr/>
          <p:nvPr/>
        </p:nvSpPr>
        <p:spPr>
          <a:xfrm>
            <a:off x="6309360" y="1371600"/>
            <a:ext cx="2615184" cy="3246120"/>
          </a:xfrm>
          <a:prstGeom prst="roundRect">
            <a:avLst>
              <a:gd name="adj" fmla="val 2448"/>
            </a:avLst>
          </a:prstGeom>
          <a:solidFill>
            <a:srgbClr val="F1F7F5"/>
          </a:solidFill>
          <a:ln w="9525">
            <a:solidFill>
              <a:srgbClr val="CBD8D5"/>
            </a:solidFill>
            <a:prstDash val="solid"/>
          </a:ln>
        </p:spPr>
      </p:sp>
      <p:sp>
        <p:nvSpPr>
          <p:cNvPr id="16" name="Shape 14"/>
          <p:cNvSpPr/>
          <p:nvPr/>
        </p:nvSpPr>
        <p:spPr>
          <a:xfrm>
            <a:off x="6565392" y="1627632"/>
            <a:ext cx="566928" cy="566928"/>
          </a:xfrm>
          <a:prstGeom prst="ellipse">
            <a:avLst/>
          </a:prstGeom>
          <a:solidFill>
            <a:srgbClr val="0E6E62"/>
          </a:solidFill>
          <a:ln/>
        </p:spPr>
      </p:sp>
      <p:sp>
        <p:nvSpPr>
          <p:cNvPr id="17" name="Text 15"/>
          <p:cNvSpPr txBox="1"/>
          <p:nvPr/>
        </p:nvSpPr>
        <p:spPr>
          <a:xfrm>
            <a:off x="6565392" y="1627632"/>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8" name="Text 16"/>
          <p:cNvSpPr txBox="1"/>
          <p:nvPr/>
        </p:nvSpPr>
        <p:spPr>
          <a:xfrm>
            <a:off x="6565392" y="2359152"/>
            <a:ext cx="2103120" cy="384048"/>
          </a:xfrm>
          <a:prstGeom prst="rect">
            <a:avLst/>
          </a:prstGeom>
          <a:noFill/>
          <a:ln/>
        </p:spPr>
        <p:txBody>
          <a:bodyPr wrap="square" lIns="0" tIns="0" rIns="0" bIns="0" rtlCol="0" anchor="ctr"/>
          <a:lstStyle/>
          <a:p>
            <a:pPr indent="0" marL="0">
              <a:buNone/>
            </a:pPr>
            <a:r>
              <a:rPr lang="en-US" sz="1900" b="1" dirty="0">
                <a:solidFill>
                  <a:srgbClr val="16201F"/>
                </a:solidFill>
                <a:latin typeface="Cambria" pitchFamily="34" charset="0"/>
                <a:ea typeface="Cambria" pitchFamily="34" charset="-122"/>
                <a:cs typeface="Cambria" pitchFamily="34" charset="-120"/>
              </a:rPr>
              <a:t>Clustering</a:t>
            </a:r>
            <a:endParaRPr lang="en-US" sz="1900" dirty="0"/>
          </a:p>
        </p:txBody>
      </p:sp>
      <p:sp>
        <p:nvSpPr>
          <p:cNvPr id="19" name="Text 17"/>
          <p:cNvSpPr txBox="1"/>
          <p:nvPr/>
        </p:nvSpPr>
        <p:spPr>
          <a:xfrm>
            <a:off x="6565392" y="2788920"/>
            <a:ext cx="2103120" cy="914400"/>
          </a:xfrm>
          <a:prstGeom prst="rect">
            <a:avLst/>
          </a:prstGeom>
          <a:noFill/>
          <a:ln/>
        </p:spPr>
        <p:txBody>
          <a:bodyPr wrap="square" lIns="0" tIns="0" rIns="0" bIns="0" rtlCol="0" anchor="ctr"/>
          <a:lstStyle/>
          <a:p>
            <a:pPr indent="0" marL="0">
              <a:lnSpc>
                <a:spcPct val="115000"/>
              </a:lnSpc>
              <a:buNone/>
            </a:pPr>
            <a:r>
              <a:rPr lang="en-US" sz="1300" dirty="0">
                <a:solidFill>
                  <a:srgbClr val="5F6E6C"/>
                </a:solidFill>
                <a:latin typeface="Calibri" pitchFamily="34" charset="0"/>
                <a:ea typeface="Calibri" pitchFamily="34" charset="-122"/>
                <a:cs typeface="Calibri" pitchFamily="34" charset="-120"/>
              </a:rPr>
              <a:t>K-means, choix de k</a:t>
            </a:r>
            <a:endParaRPr lang="en-US" sz="1300" dirty="0"/>
          </a:p>
          <a:p>
            <a:pPr indent="0" marL="0">
              <a:lnSpc>
                <a:spcPct val="115000"/>
              </a:lnSpc>
              <a:buNone/>
            </a:pPr>
            <a:r>
              <a:rPr lang="en-US" sz="1300" dirty="0">
                <a:solidFill>
                  <a:srgbClr val="5F6E6C"/>
                </a:solidFill>
                <a:latin typeface="Calibri" pitchFamily="34" charset="0"/>
                <a:ea typeface="Calibri" pitchFamily="34" charset="-122"/>
                <a:cs typeface="Calibri" pitchFamily="34" charset="-120"/>
              </a:rPr>
              <a:t>argumenté et testé</a:t>
            </a:r>
            <a:endParaRPr lang="en-US" sz="1300" dirty="0"/>
          </a:p>
        </p:txBody>
      </p:sp>
      <p:sp>
        <p:nvSpPr>
          <p:cNvPr id="20" name="Text 18"/>
          <p:cNvSpPr txBox="1"/>
          <p:nvPr/>
        </p:nvSpPr>
        <p:spPr>
          <a:xfrm>
            <a:off x="6565392" y="3794760"/>
            <a:ext cx="2103120" cy="640080"/>
          </a:xfrm>
          <a:prstGeom prst="rect">
            <a:avLst/>
          </a:prstGeom>
          <a:noFill/>
          <a:ln/>
        </p:spPr>
        <p:txBody>
          <a:bodyPr wrap="square" lIns="0" tIns="0" rIns="0" bIns="0" rtlCol="0" anchor="ctr"/>
          <a:lstStyle/>
          <a:p>
            <a:pPr indent="0" marL="0">
              <a:lnSpc>
                <a:spcPct val="110000"/>
              </a:lnSpc>
              <a:buNone/>
            </a:pPr>
            <a:r>
              <a:rPr lang="en-US" sz="1300" b="1" dirty="0">
                <a:solidFill>
                  <a:srgbClr val="0E6E62"/>
                </a:solidFill>
                <a:latin typeface="Calibri" pitchFamily="34" charset="0"/>
                <a:ea typeface="Calibri" pitchFamily="34" charset="-122"/>
                <a:cs typeface="Calibri" pitchFamily="34" charset="-120"/>
              </a:rPr>
              <a:t>4 segments</a:t>
            </a:r>
            <a:endParaRPr lang="en-US" sz="1300" dirty="0"/>
          </a:p>
          <a:p>
            <a:pPr indent="0" marL="0">
              <a:lnSpc>
                <a:spcPct val="110000"/>
              </a:lnSpc>
              <a:buNone/>
            </a:pPr>
            <a:r>
              <a:rPr lang="en-US" sz="1300" b="1" dirty="0">
                <a:solidFill>
                  <a:srgbClr val="0E6E62"/>
                </a:solidFill>
                <a:latin typeface="Calibri" pitchFamily="34" charset="0"/>
                <a:ea typeface="Calibri" pitchFamily="34" charset="-122"/>
                <a:cs typeface="Calibri" pitchFamily="34" charset="-120"/>
              </a:rPr>
              <a:t>stables</a:t>
            </a:r>
            <a:endParaRPr lang="en-US" sz="1300" dirty="0"/>
          </a:p>
        </p:txBody>
      </p:sp>
      <p:sp>
        <p:nvSpPr>
          <p:cNvPr id="21" name="Shape 19"/>
          <p:cNvSpPr/>
          <p:nvPr/>
        </p:nvSpPr>
        <p:spPr>
          <a:xfrm>
            <a:off x="9189720" y="1371600"/>
            <a:ext cx="2615184" cy="3246120"/>
          </a:xfrm>
          <a:prstGeom prst="roundRect">
            <a:avLst>
              <a:gd name="adj" fmla="val 2448"/>
            </a:avLst>
          </a:prstGeom>
          <a:solidFill>
            <a:srgbClr val="F1F7F5"/>
          </a:solidFill>
          <a:ln w="9525">
            <a:solidFill>
              <a:srgbClr val="CBD8D5"/>
            </a:solidFill>
            <a:prstDash val="solid"/>
          </a:ln>
        </p:spPr>
      </p:sp>
      <p:sp>
        <p:nvSpPr>
          <p:cNvPr id="22" name="Shape 20"/>
          <p:cNvSpPr/>
          <p:nvPr/>
        </p:nvSpPr>
        <p:spPr>
          <a:xfrm>
            <a:off x="9445752" y="1627632"/>
            <a:ext cx="566928" cy="566928"/>
          </a:xfrm>
          <a:prstGeom prst="ellipse">
            <a:avLst/>
          </a:prstGeom>
          <a:solidFill>
            <a:srgbClr val="0E6E62"/>
          </a:solidFill>
          <a:ln/>
        </p:spPr>
      </p:sp>
      <p:sp>
        <p:nvSpPr>
          <p:cNvPr id="23" name="Text 21"/>
          <p:cNvSpPr txBox="1"/>
          <p:nvPr/>
        </p:nvSpPr>
        <p:spPr>
          <a:xfrm>
            <a:off x="9445752" y="1627632"/>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4" name="Text 22"/>
          <p:cNvSpPr txBox="1"/>
          <p:nvPr/>
        </p:nvSpPr>
        <p:spPr>
          <a:xfrm>
            <a:off x="9445752" y="2359152"/>
            <a:ext cx="2103120" cy="384048"/>
          </a:xfrm>
          <a:prstGeom prst="rect">
            <a:avLst/>
          </a:prstGeom>
          <a:noFill/>
          <a:ln/>
        </p:spPr>
        <p:txBody>
          <a:bodyPr wrap="square" lIns="0" tIns="0" rIns="0" bIns="0" rtlCol="0" anchor="ctr"/>
          <a:lstStyle/>
          <a:p>
            <a:pPr indent="0" marL="0">
              <a:buNone/>
            </a:pPr>
            <a:r>
              <a:rPr lang="en-US" sz="1900" b="1" dirty="0">
                <a:solidFill>
                  <a:srgbClr val="16201F"/>
                </a:solidFill>
                <a:latin typeface="Cambria" pitchFamily="34" charset="0"/>
                <a:ea typeface="Cambria" pitchFamily="34" charset="-122"/>
                <a:cs typeface="Cambria" pitchFamily="34" charset="-120"/>
              </a:rPr>
              <a:t>Caractérisation</a:t>
            </a:r>
            <a:endParaRPr lang="en-US" sz="1900" dirty="0"/>
          </a:p>
        </p:txBody>
      </p:sp>
      <p:sp>
        <p:nvSpPr>
          <p:cNvPr id="25" name="Text 23"/>
          <p:cNvSpPr txBox="1"/>
          <p:nvPr/>
        </p:nvSpPr>
        <p:spPr>
          <a:xfrm>
            <a:off x="9445752" y="2788920"/>
            <a:ext cx="2103120" cy="914400"/>
          </a:xfrm>
          <a:prstGeom prst="rect">
            <a:avLst/>
          </a:prstGeom>
          <a:noFill/>
          <a:ln/>
        </p:spPr>
        <p:txBody>
          <a:bodyPr wrap="square" lIns="0" tIns="0" rIns="0" bIns="0" rtlCol="0" anchor="ctr"/>
          <a:lstStyle/>
          <a:p>
            <a:pPr indent="0" marL="0">
              <a:lnSpc>
                <a:spcPct val="115000"/>
              </a:lnSpc>
              <a:buNone/>
            </a:pPr>
            <a:r>
              <a:rPr lang="en-US" sz="1300" dirty="0">
                <a:solidFill>
                  <a:srgbClr val="5F6E6C"/>
                </a:solidFill>
                <a:latin typeface="Calibri" pitchFamily="34" charset="0"/>
                <a:ea typeface="Calibri" pitchFamily="34" charset="-122"/>
                <a:cs typeface="Calibri" pitchFamily="34" charset="-120"/>
              </a:rPr>
              <a:t>Nommage, profils,</a:t>
            </a:r>
            <a:endParaRPr lang="en-US" sz="1300" dirty="0"/>
          </a:p>
          <a:p>
            <a:pPr indent="0" marL="0">
              <a:lnSpc>
                <a:spcPct val="115000"/>
              </a:lnSpc>
              <a:buNone/>
            </a:pPr>
            <a:r>
              <a:rPr lang="en-US" sz="1300" dirty="0">
                <a:solidFill>
                  <a:srgbClr val="5F6E6C"/>
                </a:solidFill>
                <a:latin typeface="Calibri" pitchFamily="34" charset="0"/>
                <a:ea typeface="Calibri" pitchFamily="34" charset="-122"/>
                <a:cs typeface="Calibri" pitchFamily="34" charset="-120"/>
              </a:rPr>
              <a:t>recommandations</a:t>
            </a:r>
            <a:endParaRPr lang="en-US" sz="1300" dirty="0"/>
          </a:p>
        </p:txBody>
      </p:sp>
      <p:sp>
        <p:nvSpPr>
          <p:cNvPr id="26" name="Text 24"/>
          <p:cNvSpPr txBox="1"/>
          <p:nvPr/>
        </p:nvSpPr>
        <p:spPr>
          <a:xfrm>
            <a:off x="9445752" y="3794760"/>
            <a:ext cx="2103120" cy="640080"/>
          </a:xfrm>
          <a:prstGeom prst="rect">
            <a:avLst/>
          </a:prstGeom>
          <a:noFill/>
          <a:ln/>
        </p:spPr>
        <p:txBody>
          <a:bodyPr wrap="square" lIns="0" tIns="0" rIns="0" bIns="0" rtlCol="0" anchor="ctr"/>
          <a:lstStyle/>
          <a:p>
            <a:pPr indent="0" marL="0">
              <a:lnSpc>
                <a:spcPct val="110000"/>
              </a:lnSpc>
              <a:buNone/>
            </a:pPr>
            <a:r>
              <a:rPr lang="en-US" sz="1300" b="1" dirty="0">
                <a:solidFill>
                  <a:srgbClr val="0E6E62"/>
                </a:solidFill>
                <a:latin typeface="Calibri" pitchFamily="34" charset="0"/>
                <a:ea typeface="Calibri" pitchFamily="34" charset="-122"/>
                <a:cs typeface="Calibri" pitchFamily="34" charset="-120"/>
              </a:rPr>
              <a:t>Actions par</a:t>
            </a:r>
            <a:endParaRPr lang="en-US" sz="1300" dirty="0"/>
          </a:p>
          <a:p>
            <a:pPr indent="0" marL="0">
              <a:lnSpc>
                <a:spcPct val="110000"/>
              </a:lnSpc>
              <a:buNone/>
            </a:pPr>
            <a:r>
              <a:rPr lang="en-US" sz="1300" b="1" dirty="0">
                <a:solidFill>
                  <a:srgbClr val="0E6E62"/>
                </a:solidFill>
                <a:latin typeface="Calibri" pitchFamily="34" charset="0"/>
                <a:ea typeface="Calibri" pitchFamily="34" charset="-122"/>
                <a:cs typeface="Calibri" pitchFamily="34" charset="-120"/>
              </a:rPr>
              <a:t>segment</a:t>
            </a:r>
            <a:endParaRPr lang="en-US" sz="1300" dirty="0"/>
          </a:p>
        </p:txBody>
      </p:sp>
      <p:sp>
        <p:nvSpPr>
          <p:cNvPr id="27" name="Text 25"/>
          <p:cNvSpPr txBox="1"/>
          <p:nvPr/>
        </p:nvSpPr>
        <p:spPr>
          <a:xfrm>
            <a:off x="548640" y="4892040"/>
            <a:ext cx="11091672" cy="365760"/>
          </a:xfrm>
          <a:prstGeom prst="rect">
            <a:avLst/>
          </a:prstGeom>
          <a:noFill/>
          <a:ln/>
        </p:spPr>
        <p:txBody>
          <a:bodyPr wrap="square" lIns="0" tIns="0" rIns="0" bIns="0" rtlCol="0" anchor="ctr"/>
          <a:lstStyle/>
          <a:p>
            <a:pPr indent="0" marL="0">
              <a:buNone/>
            </a:pPr>
            <a:r>
              <a:rPr lang="en-US" sz="1400" dirty="0">
                <a:solidFill>
                  <a:srgbClr val="16201F"/>
                </a:solidFill>
                <a:latin typeface="Calibri" pitchFamily="34" charset="0"/>
                <a:ea typeface="Calibri" pitchFamily="34" charset="-122"/>
                <a:cs typeface="Calibri" pitchFamily="34" charset="-120"/>
              </a:rPr>
              <a:t>Quatre notebooks séquentiels : chacun repart des fichiers produits par le précédent, jamais du fichier Excel brut.</a:t>
            </a:r>
            <a:endParaRPr lang="en-US" sz="1400" dirty="0"/>
          </a:p>
        </p:txBody>
      </p:sp>
      <p:sp>
        <p:nvSpPr>
          <p:cNvPr id="28" name="Shape 26"/>
          <p:cNvSpPr/>
          <p:nvPr/>
        </p:nvSpPr>
        <p:spPr>
          <a:xfrm>
            <a:off x="548640" y="5806440"/>
            <a:ext cx="11091672" cy="566928"/>
          </a:xfrm>
          <a:prstGeom prst="roundRect">
            <a:avLst>
              <a:gd name="adj" fmla="val 11290"/>
            </a:avLst>
          </a:prstGeom>
          <a:solidFill>
            <a:srgbClr val="D9EBE7"/>
          </a:solidFill>
          <a:ln w="9525">
            <a:solidFill>
              <a:srgbClr val="CBD8D5"/>
            </a:solidFill>
            <a:prstDash val="solid"/>
          </a:ln>
        </p:spPr>
      </p:sp>
      <p:sp>
        <p:nvSpPr>
          <p:cNvPr id="29" name="Text 27"/>
          <p:cNvSpPr txBox="1"/>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6E62"/>
                </a:solidFill>
                <a:latin typeface="Calibri" pitchFamily="34" charset="0"/>
                <a:ea typeface="Calibri" pitchFamily="34" charset="-122"/>
                <a:cs typeface="Calibri" pitchFamily="34" charset="-120"/>
              </a:rPr>
              <a:t>Conséquence : quatre personnes travaillent en parallèle, et le projet se ré-exécute intégralement depuis le dépôt.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241280" cy="685800"/>
          </a:xfrm>
          <a:prstGeom prst="rect">
            <a:avLst/>
          </a:prstGeom>
          <a:noFill/>
          <a:ln/>
        </p:spPr>
        <p:txBody>
          <a:bodyPr wrap="square" lIns="0" tIns="0" rIns="0" bIns="0" rtlCol="0" anchor="ctr"/>
          <a:lstStyle/>
          <a:p>
            <a:pPr indent="0" marL="0">
              <a:buNone/>
            </a:pPr>
            <a:r>
              <a:rPr lang="en-US" sz="3200" b="1" dirty="0">
                <a:solidFill>
                  <a:srgbClr val="16201F"/>
                </a:solidFill>
                <a:latin typeface="Cambria" pitchFamily="34" charset="0"/>
                <a:ea typeface="Cambria" pitchFamily="34" charset="-122"/>
                <a:cs typeface="Cambria" pitchFamily="34" charset="-120"/>
              </a:rPr>
              <a:t>Partie 1 — Nettoyage des transactions</a:t>
            </a:r>
            <a:endParaRPr lang="en-US" sz="3200" dirty="0"/>
          </a:p>
        </p:txBody>
      </p:sp>
      <p:sp>
        <p:nvSpPr>
          <p:cNvPr id="3" name="Shape 1"/>
          <p:cNvSpPr/>
          <p:nvPr/>
        </p:nvSpPr>
        <p:spPr>
          <a:xfrm>
            <a:off x="11018520" y="411480"/>
            <a:ext cx="621792" cy="621792"/>
          </a:xfrm>
          <a:prstGeom prst="ellipse">
            <a:avLst/>
          </a:prstGeom>
          <a:solidFill>
            <a:srgbClr val="D9EBE7"/>
          </a:solidFill>
          <a:ln/>
        </p:spPr>
      </p:sp>
      <p:sp>
        <p:nvSpPr>
          <p:cNvPr id="4" name="Text 2"/>
          <p:cNvSpPr txBox="1"/>
          <p:nvPr/>
        </p:nvSpPr>
        <p:spPr>
          <a:xfrm>
            <a:off x="11018520" y="411480"/>
            <a:ext cx="621792" cy="621792"/>
          </a:xfrm>
          <a:prstGeom prst="rect">
            <a:avLst/>
          </a:prstGeom>
          <a:noFill/>
          <a:ln/>
        </p:spPr>
        <p:txBody>
          <a:bodyPr wrap="square" lIns="0" tIns="0" rIns="0" bIns="0" rtlCol="0" anchor="ctr"/>
          <a:lstStyle/>
          <a:p>
            <a:pPr algn="ctr" indent="0" marL="0">
              <a:buNone/>
            </a:pPr>
            <a:r>
              <a:rPr lang="en-US" sz="1500" b="1" dirty="0">
                <a:solidFill>
                  <a:srgbClr val="0E6E62"/>
                </a:solidFill>
                <a:latin typeface="Calibri" pitchFamily="34" charset="0"/>
                <a:ea typeface="Calibri" pitchFamily="34" charset="-122"/>
                <a:cs typeface="Calibri" pitchFamily="34" charset="-120"/>
              </a:rPr>
              <a:t>1</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7498080" cy="914400"/>
        </p:xfrm>
        <a:graphic>
          <a:graphicData uri="http://schemas.openxmlformats.org/drawingml/2006/table">
            <a:tbl>
              <a:tblPr/>
              <a:tblGrid>
                <a:gridCol w="2788920"/>
                <a:gridCol w="1234440"/>
                <a:gridCol w="3474720"/>
              </a:tblGrid>
              <a:tr h="0">
                <a:tc>
                  <a:txBody>
                    <a:bodyPr/>
                    <a:lstStyle/>
                    <a:p>
                      <a:pPr algn="l" indent="0" marL="0">
                        <a:buNone/>
                      </a:pPr>
                      <a:r>
                        <a:rPr lang="en-US" sz="1300" b="1" dirty="0">
                          <a:solidFill>
                            <a:srgbClr val="16201F"/>
                          </a:solidFill>
                          <a:latin typeface="Calibri" pitchFamily="34" charset="0"/>
                          <a:ea typeface="Calibri" pitchFamily="34" charset="-122"/>
                          <a:cs typeface="Calibri" pitchFamily="34" charset="-120"/>
                        </a:rPr>
                        <a:t>Filtre</a:t>
                      </a:r>
                      <a:endParaRPr lang="en-US" sz="13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D9EBE7"/>
                    </a:solidFill>
                  </a:tcPr>
                </a:tc>
                <a:tc>
                  <a:txBody>
                    <a:bodyPr/>
                    <a:lstStyle/>
                    <a:p>
                      <a:pPr algn="r" indent="0" marL="0">
                        <a:buNone/>
                      </a:pPr>
                      <a:r>
                        <a:rPr lang="en-US" sz="1300" b="1" dirty="0">
                          <a:solidFill>
                            <a:srgbClr val="16201F"/>
                          </a:solidFill>
                          <a:latin typeface="Calibri" pitchFamily="34" charset="0"/>
                          <a:ea typeface="Calibri" pitchFamily="34" charset="-122"/>
                          <a:cs typeface="Calibri" pitchFamily="34" charset="-120"/>
                        </a:rPr>
                        <a:t>Retirées</a:t>
                      </a:r>
                      <a:endParaRPr lang="en-US" sz="13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D9EBE7"/>
                    </a:solidFill>
                  </a:tcPr>
                </a:tc>
                <a:tc>
                  <a:txBody>
                    <a:bodyPr/>
                    <a:lstStyle/>
                    <a:p>
                      <a:pPr algn="r" indent="0" marL="0">
                        <a:buNone/>
                      </a:pPr>
                      <a:r>
                        <a:rPr lang="en-US" sz="1300" b="1" dirty="0">
                          <a:solidFill>
                            <a:srgbClr val="16201F"/>
                          </a:solidFill>
                          <a:latin typeface="Calibri" pitchFamily="34" charset="0"/>
                          <a:ea typeface="Calibri" pitchFamily="34" charset="-122"/>
                          <a:cs typeface="Calibri" pitchFamily="34" charset="-120"/>
                        </a:rPr>
                        <a:t>Justification</a:t>
                      </a:r>
                      <a:endParaRPr lang="en-US" sz="13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D9EBE7"/>
                    </a:solidFill>
                  </a:tcPr>
                </a:tc>
              </a:tr>
              <a:tr h="0">
                <a:tc>
                  <a:txBody>
                    <a:bodyPr/>
                    <a:lstStyle/>
                    <a:p>
                      <a:pPr algn="l" indent="0" marL="0">
                        <a:buNone/>
                      </a:pPr>
                      <a:r>
                        <a:rPr lang="en-US" sz="1300" dirty="0">
                          <a:solidFill>
                            <a:srgbClr val="16201F"/>
                          </a:solidFill>
                          <a:latin typeface="Calibri" pitchFamily="34" charset="0"/>
                          <a:ea typeface="Calibri" pitchFamily="34" charset="-122"/>
                          <a:cs typeface="Calibri" pitchFamily="34" charset="-120"/>
                        </a:rPr>
                        <a:t>Doublons exacts</a:t>
                      </a:r>
                      <a:endParaRPr lang="en-US" sz="13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6201F"/>
                          </a:solidFill>
                          <a:latin typeface="Calibri" pitchFamily="34" charset="0"/>
                          <a:ea typeface="Calibri" pitchFamily="34" charset="-122"/>
                          <a:cs typeface="Calibri" pitchFamily="34" charset="-120"/>
                        </a:rPr>
                        <a:t>34 335</a:t>
                      </a:r>
                      <a:endParaRPr lang="en-US" sz="13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6201F"/>
                          </a:solidFill>
                          <a:latin typeface="Calibri" pitchFamily="34" charset="0"/>
                          <a:ea typeface="Calibri" pitchFamily="34" charset="-122"/>
                          <a:cs typeface="Calibri" pitchFamily="34" charset="-120"/>
                        </a:rPr>
                        <a:t>Export et chevauchement des feuilles</a:t>
                      </a:r>
                      <a:endParaRPr lang="en-US" sz="13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r>
              <a:tr h="0">
                <a:tc>
                  <a:txBody>
                    <a:bodyPr/>
                    <a:lstStyle/>
                    <a:p>
                      <a:pPr algn="l" indent="0" marL="0">
                        <a:buNone/>
                      </a:pPr>
                      <a:r>
                        <a:rPr lang="en-US" sz="1300" dirty="0">
                          <a:solidFill>
                            <a:srgbClr val="16201F"/>
                          </a:solidFill>
                          <a:latin typeface="Calibri" pitchFamily="34" charset="0"/>
                          <a:ea typeface="Calibri" pitchFamily="34" charset="-122"/>
                          <a:cs typeface="Calibri" pitchFamily="34" charset="-120"/>
                        </a:rPr>
                        <a:t>Écritures non-produit</a:t>
                      </a:r>
                      <a:endParaRPr lang="en-US" sz="13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300" dirty="0">
                          <a:solidFill>
                            <a:srgbClr val="16201F"/>
                          </a:solidFill>
                          <a:latin typeface="Calibri" pitchFamily="34" charset="0"/>
                          <a:ea typeface="Calibri" pitchFamily="34" charset="-122"/>
                          <a:cs typeface="Calibri" pitchFamily="34" charset="-120"/>
                        </a:rPr>
                        <a:t>5 815</a:t>
                      </a:r>
                      <a:endParaRPr lang="en-US" sz="13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300" dirty="0">
                          <a:solidFill>
                            <a:srgbClr val="16201F"/>
                          </a:solidFill>
                          <a:latin typeface="Calibri" pitchFamily="34" charset="0"/>
                          <a:ea typeface="Calibri" pitchFamily="34" charset="-122"/>
                          <a:cs typeface="Calibri" pitchFamily="34" charset="-120"/>
                        </a:rPr>
                        <a:t>Port, frais bancaires, ajustements</a:t>
                      </a:r>
                      <a:endParaRPr lang="en-US" sz="13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r>
              <a:tr h="0">
                <a:tc>
                  <a:txBody>
                    <a:bodyPr/>
                    <a:lstStyle/>
                    <a:p>
                      <a:pPr algn="l" indent="0" marL="0">
                        <a:buNone/>
                      </a:pPr>
                      <a:r>
                        <a:rPr lang="en-US" sz="1300" dirty="0">
                          <a:solidFill>
                            <a:srgbClr val="16201F"/>
                          </a:solidFill>
                          <a:latin typeface="Calibri" pitchFamily="34" charset="0"/>
                          <a:ea typeface="Calibri" pitchFamily="34" charset="-122"/>
                          <a:cs typeface="Calibri" pitchFamily="34" charset="-120"/>
                        </a:rPr>
                        <a:t>Annulations (factures C)</a:t>
                      </a:r>
                      <a:endParaRPr lang="en-US" sz="13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6201F"/>
                          </a:solidFill>
                          <a:latin typeface="Calibri" pitchFamily="34" charset="0"/>
                          <a:ea typeface="Calibri" pitchFamily="34" charset="-122"/>
                          <a:cs typeface="Calibri" pitchFamily="34" charset="-120"/>
                        </a:rPr>
                        <a:t>17 914</a:t>
                      </a:r>
                      <a:endParaRPr lang="en-US" sz="13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6201F"/>
                          </a:solidFill>
                          <a:latin typeface="Calibri" pitchFamily="34" charset="0"/>
                          <a:ea typeface="Calibri" pitchFamily="34" charset="-122"/>
                          <a:cs typeface="Calibri" pitchFamily="34" charset="-120"/>
                        </a:rPr>
                        <a:t>Mises de côté, pas supprimées</a:t>
                      </a:r>
                      <a:endParaRPr lang="en-US" sz="13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r>
              <a:tr h="0">
                <a:tc>
                  <a:txBody>
                    <a:bodyPr/>
                    <a:lstStyle/>
                    <a:p>
                      <a:pPr algn="l" indent="0" marL="0">
                        <a:buNone/>
                      </a:pPr>
                      <a:r>
                        <a:rPr lang="en-US" sz="1300" dirty="0">
                          <a:solidFill>
                            <a:srgbClr val="16201F"/>
                          </a:solidFill>
                          <a:latin typeface="Calibri" pitchFamily="34" charset="0"/>
                          <a:ea typeface="Calibri" pitchFamily="34" charset="-122"/>
                          <a:cs typeface="Calibri" pitchFamily="34" charset="-120"/>
                        </a:rPr>
                        <a:t>Identifiant client manquant</a:t>
                      </a:r>
                      <a:endParaRPr lang="en-US" sz="13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300" dirty="0">
                          <a:solidFill>
                            <a:srgbClr val="16201F"/>
                          </a:solidFill>
                          <a:latin typeface="Calibri" pitchFamily="34" charset="0"/>
                          <a:ea typeface="Calibri" pitchFamily="34" charset="-122"/>
                          <a:cs typeface="Calibri" pitchFamily="34" charset="-120"/>
                        </a:rPr>
                        <a:t>232 665</a:t>
                      </a:r>
                      <a:endParaRPr lang="en-US" sz="13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300" dirty="0">
                          <a:solidFill>
                            <a:srgbClr val="16201F"/>
                          </a:solidFill>
                          <a:latin typeface="Calibri" pitchFamily="34" charset="0"/>
                          <a:ea typeface="Calibri" pitchFamily="34" charset="-122"/>
                          <a:cs typeface="Calibri" pitchFamily="34" charset="-120"/>
                        </a:rPr>
                        <a:t>Non rattachables à un client</a:t>
                      </a:r>
                      <a:endParaRPr lang="en-US" sz="13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r>
              <a:tr h="0">
                <a:tc>
                  <a:txBody>
                    <a:bodyPr/>
                    <a:lstStyle/>
                    <a:p>
                      <a:pPr algn="l" indent="0" marL="0">
                        <a:buNone/>
                      </a:pPr>
                      <a:r>
                        <a:rPr lang="en-US" sz="1300" dirty="0">
                          <a:solidFill>
                            <a:srgbClr val="16201F"/>
                          </a:solidFill>
                          <a:latin typeface="Calibri" pitchFamily="34" charset="0"/>
                          <a:ea typeface="Calibri" pitchFamily="34" charset="-122"/>
                          <a:cs typeface="Calibri" pitchFamily="34" charset="-120"/>
                        </a:rPr>
                        <a:t>Quantité ou prix négatif</a:t>
                      </a:r>
                      <a:endParaRPr lang="en-US" sz="13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6201F"/>
                          </a:solidFill>
                          <a:latin typeface="Calibri" pitchFamily="34" charset="0"/>
                          <a:ea typeface="Calibri" pitchFamily="34" charset="-122"/>
                          <a:cs typeface="Calibri" pitchFamily="34" charset="-120"/>
                        </a:rPr>
                        <a:t>60</a:t>
                      </a:r>
                      <a:endParaRPr lang="en-US" sz="13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6201F"/>
                          </a:solidFill>
                          <a:latin typeface="Calibri" pitchFamily="34" charset="0"/>
                          <a:ea typeface="Calibri" pitchFamily="34" charset="-122"/>
                          <a:cs typeface="Calibri" pitchFamily="34" charset="-120"/>
                        </a:rPr>
                        <a:t>Saisies erronées</a:t>
                      </a:r>
                      <a:endParaRPr lang="en-US" sz="13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r>
            </a:tbl>
          </a:graphicData>
        </a:graphic>
      </p:graphicFrame>
      <p:sp>
        <p:nvSpPr>
          <p:cNvPr id="6" name="Shape 3"/>
          <p:cNvSpPr/>
          <p:nvPr/>
        </p:nvSpPr>
        <p:spPr>
          <a:xfrm>
            <a:off x="8321040" y="1234440"/>
            <a:ext cx="3319272" cy="1965960"/>
          </a:xfrm>
          <a:prstGeom prst="roundRect">
            <a:avLst>
              <a:gd name="adj" fmla="val 3256"/>
            </a:avLst>
          </a:prstGeom>
          <a:solidFill>
            <a:srgbClr val="D9EBE7"/>
          </a:solidFill>
          <a:ln w="9525">
            <a:solidFill>
              <a:srgbClr val="CBD8D5"/>
            </a:solidFill>
            <a:prstDash val="solid"/>
          </a:ln>
        </p:spPr>
      </p:sp>
      <p:sp>
        <p:nvSpPr>
          <p:cNvPr id="7" name="Text 4"/>
          <p:cNvSpPr txBox="1"/>
          <p:nvPr/>
        </p:nvSpPr>
        <p:spPr>
          <a:xfrm>
            <a:off x="8321040" y="1444752"/>
            <a:ext cx="3319272" cy="658368"/>
          </a:xfrm>
          <a:prstGeom prst="rect">
            <a:avLst/>
          </a:prstGeom>
          <a:noFill/>
          <a:ln/>
        </p:spPr>
        <p:txBody>
          <a:bodyPr wrap="square" lIns="0" tIns="0" rIns="0" bIns="0" rtlCol="0" anchor="ctr"/>
          <a:lstStyle/>
          <a:p>
            <a:pPr algn="ctr" indent="0" marL="0">
              <a:buNone/>
            </a:pPr>
            <a:r>
              <a:rPr lang="en-US" sz="3000" b="1" dirty="0">
                <a:solidFill>
                  <a:srgbClr val="0E6E62"/>
                </a:solidFill>
                <a:latin typeface="Cambria" pitchFamily="34" charset="0"/>
                <a:ea typeface="Cambria" pitchFamily="34" charset="-122"/>
                <a:cs typeface="Cambria" pitchFamily="34" charset="-120"/>
              </a:rPr>
              <a:t>776 582</a:t>
            </a:r>
            <a:endParaRPr lang="en-US" sz="3000" dirty="0"/>
          </a:p>
        </p:txBody>
      </p:sp>
      <p:sp>
        <p:nvSpPr>
          <p:cNvPr id="8" name="Text 5"/>
          <p:cNvSpPr txBox="1"/>
          <p:nvPr/>
        </p:nvSpPr>
        <p:spPr>
          <a:xfrm>
            <a:off x="8321040" y="2103120"/>
            <a:ext cx="3319272" cy="502920"/>
          </a:xfrm>
          <a:prstGeom prst="rect">
            <a:avLst/>
          </a:prstGeom>
          <a:noFill/>
          <a:ln/>
        </p:spPr>
        <p:txBody>
          <a:bodyPr wrap="square" lIns="0" tIns="0" rIns="0" bIns="0" rtlCol="0" anchor="t"/>
          <a:lstStyle/>
          <a:p>
            <a:pPr algn="ctr" indent="0" marL="0">
              <a:buNone/>
            </a:pPr>
            <a:r>
              <a:rPr lang="en-US" sz="1150" dirty="0">
                <a:solidFill>
                  <a:srgbClr val="5F6E6C"/>
                </a:solidFill>
                <a:latin typeface="Calibri" pitchFamily="34" charset="0"/>
                <a:ea typeface="Calibri" pitchFamily="34" charset="-122"/>
                <a:cs typeface="Calibri" pitchFamily="34" charset="-120"/>
              </a:rPr>
              <a:t>transactions conservées</a:t>
            </a:r>
            <a:endParaRPr lang="en-US" sz="1150" dirty="0"/>
          </a:p>
          <a:p>
            <a:pPr algn="ctr" indent="0" marL="0">
              <a:buNone/>
            </a:pPr>
            <a:r>
              <a:rPr lang="en-US" sz="1150" dirty="0">
                <a:solidFill>
                  <a:srgbClr val="5F6E6C"/>
                </a:solidFill>
                <a:latin typeface="Calibri" pitchFamily="34" charset="0"/>
                <a:ea typeface="Calibri" pitchFamily="34" charset="-122"/>
                <a:cs typeface="Calibri" pitchFamily="34" charset="-120"/>
              </a:rPr>
              <a:t>soit 72,8 % du volume brut</a:t>
            </a:r>
            <a:endParaRPr lang="en-US" sz="1150" dirty="0"/>
          </a:p>
        </p:txBody>
      </p:sp>
      <p:sp>
        <p:nvSpPr>
          <p:cNvPr id="9" name="Shape 6"/>
          <p:cNvSpPr/>
          <p:nvPr/>
        </p:nvSpPr>
        <p:spPr>
          <a:xfrm>
            <a:off x="8321040" y="3337560"/>
            <a:ext cx="3319272" cy="2103120"/>
          </a:xfrm>
          <a:prstGeom prst="roundRect">
            <a:avLst>
              <a:gd name="adj" fmla="val 3043"/>
            </a:avLst>
          </a:prstGeom>
          <a:solidFill>
            <a:srgbClr val="F1F7F5"/>
          </a:solidFill>
          <a:ln w="9525">
            <a:solidFill>
              <a:srgbClr val="CBD8D5"/>
            </a:solidFill>
            <a:prstDash val="solid"/>
          </a:ln>
        </p:spPr>
      </p:sp>
      <p:sp>
        <p:nvSpPr>
          <p:cNvPr id="10" name="Text 7"/>
          <p:cNvSpPr txBox="1"/>
          <p:nvPr/>
        </p:nvSpPr>
        <p:spPr>
          <a:xfrm>
            <a:off x="8549640" y="3547872"/>
            <a:ext cx="2862072" cy="1737360"/>
          </a:xfrm>
          <a:prstGeom prst="rect">
            <a:avLst/>
          </a:prstGeom>
          <a:noFill/>
          <a:ln/>
        </p:spPr>
        <p:txBody>
          <a:bodyPr wrap="square" lIns="0" tIns="0" rIns="0" bIns="0" rtlCol="0" anchor="ctr"/>
          <a:lstStyle/>
          <a:p>
            <a:pPr indent="0" marL="0">
              <a:lnSpc>
                <a:spcPct val="115000"/>
              </a:lnSpc>
              <a:buNone/>
            </a:pPr>
            <a:r>
              <a:rPr lang="en-US" sz="1300" b="1" dirty="0">
                <a:solidFill>
                  <a:srgbClr val="16201F"/>
                </a:solidFill>
                <a:latin typeface="Calibri" pitchFamily="34" charset="0"/>
                <a:ea typeface="Calibri" pitchFamily="34" charset="-122"/>
                <a:cs typeface="Calibri" pitchFamily="34" charset="-120"/>
              </a:rPr>
              <a:t>Chaque filtre est compté et journalisé</a:t>
            </a:r>
            <a:endParaRPr lang="en-US" sz="1300" dirty="0"/>
          </a:p>
          <a:p>
            <a:pPr indent="0" marL="0">
              <a:lnSpc>
                <a:spcPct val="115000"/>
              </a:lnSpc>
              <a:buNone/>
            </a:pPr>
            <a:r>
              <a:rPr lang="en-US" sz="1300" dirty="0">
                <a:solidFill>
                  <a:srgbClr val="16201F"/>
                </a:solidFill>
                <a:latin typeface="Calibri" pitchFamily="34" charset="0"/>
                <a:ea typeface="Calibri" pitchFamily="34" charset="-122"/>
                <a:cs typeface="Calibri" pitchFamily="34" charset="-120"/>
              </a:rPr>
              <a:t>Le détail part dans un CSV : n'importe qui peut vérifier nos chiffres ligne à ligne, et refaire le nettoyage à l'identique.</a:t>
            </a:r>
            <a:endParaRPr lang="en-US" sz="1300" dirty="0"/>
          </a:p>
        </p:txBody>
      </p:sp>
      <p:sp>
        <p:nvSpPr>
          <p:cNvPr id="11" name="Shape 8"/>
          <p:cNvSpPr/>
          <p:nvPr/>
        </p:nvSpPr>
        <p:spPr>
          <a:xfrm>
            <a:off x="548640" y="3291840"/>
            <a:ext cx="7498080" cy="2148840"/>
          </a:xfrm>
          <a:prstGeom prst="roundRect">
            <a:avLst>
              <a:gd name="adj" fmla="val 2979"/>
            </a:avLst>
          </a:prstGeom>
          <a:solidFill>
            <a:srgbClr val="F1F7F5"/>
          </a:solidFill>
          <a:ln w="9525">
            <a:solidFill>
              <a:srgbClr val="CBD8D5"/>
            </a:solidFill>
            <a:prstDash val="solid"/>
          </a:ln>
        </p:spPr>
      </p:sp>
      <p:sp>
        <p:nvSpPr>
          <p:cNvPr id="12" name="Text 9"/>
          <p:cNvSpPr txBox="1"/>
          <p:nvPr/>
        </p:nvSpPr>
        <p:spPr>
          <a:xfrm>
            <a:off x="804672" y="3456432"/>
            <a:ext cx="6986016" cy="365760"/>
          </a:xfrm>
          <a:prstGeom prst="rect">
            <a:avLst/>
          </a:prstGeom>
          <a:noFill/>
          <a:ln/>
        </p:spPr>
        <p:txBody>
          <a:bodyPr wrap="square" lIns="0" tIns="0" rIns="0" bIns="0" rtlCol="0" anchor="ctr"/>
          <a:lstStyle/>
          <a:p>
            <a:pPr indent="0" marL="0">
              <a:buNone/>
            </a:pPr>
            <a:r>
              <a:rPr lang="en-US" sz="1450" b="1" dirty="0">
                <a:solidFill>
                  <a:srgbClr val="0E6E62"/>
                </a:solidFill>
                <a:latin typeface="Calibri" pitchFamily="34" charset="0"/>
                <a:ea typeface="Calibri" pitchFamily="34" charset="-122"/>
                <a:cs typeface="Calibri" pitchFamily="34" charset="-120"/>
              </a:rPr>
              <a:t>Deux choix que nous assumons</a:t>
            </a:r>
            <a:endParaRPr lang="en-US" sz="1450" dirty="0"/>
          </a:p>
        </p:txBody>
      </p:sp>
      <p:sp>
        <p:nvSpPr>
          <p:cNvPr id="13" name="Text 10"/>
          <p:cNvSpPr txBox="1"/>
          <p:nvPr/>
        </p:nvSpPr>
        <p:spPr>
          <a:xfrm>
            <a:off x="804672" y="3858768"/>
            <a:ext cx="6986016" cy="1463040"/>
          </a:xfrm>
          <a:prstGeom prst="rect">
            <a:avLst/>
          </a:prstGeom>
          <a:noFill/>
          <a:ln/>
        </p:spPr>
        <p:txBody>
          <a:bodyPr wrap="square" lIns="0" tIns="0" rIns="0" bIns="0" rtlCol="0" anchor="ctr"/>
          <a:lstStyle/>
          <a:p>
            <a:pPr marL="342900" indent="-342900">
              <a:lnSpc>
                <a:spcPct val="115000"/>
              </a:lnSpc>
              <a:spcAft>
                <a:spcPts val="900"/>
              </a:spcAft>
              <a:buSzPct val="100000"/>
              <a:buChar char="•"/>
            </a:pPr>
            <a:r>
              <a:rPr lang="en-US" sz="1350" dirty="0">
                <a:solidFill>
                  <a:srgbClr val="16201F"/>
                </a:solidFill>
                <a:latin typeface="Calibri" pitchFamily="34" charset="0"/>
                <a:ea typeface="Calibri" pitchFamily="34" charset="-122"/>
                <a:cs typeface="Calibri" pitchFamily="34" charset="-120"/>
              </a:rPr>
              <a:t>Les annulations sont mises de côté, pas supprimées : elles servent au test de sensibilité de la slide suivante.</a:t>
            </a:r>
            <a:endParaRPr lang="en-US" sz="1350" dirty="0"/>
          </a:p>
          <a:p>
            <a:pPr marL="342900" indent="-342900">
              <a:lnSpc>
                <a:spcPct val="115000"/>
              </a:lnSpc>
              <a:spcAft>
                <a:spcPts val="900"/>
              </a:spcAft>
              <a:buSzPct val="100000"/>
              <a:buChar char="•"/>
            </a:pPr>
            <a:r>
              <a:rPr lang="en-US" sz="1350" dirty="0">
                <a:solidFill>
                  <a:srgbClr val="16201F"/>
                </a:solidFill>
                <a:latin typeface="Calibri" pitchFamily="34" charset="0"/>
                <a:ea typeface="Calibri" pitchFamily="34" charset="-122"/>
                <a:cs typeface="Calibri" pitchFamily="34" charset="-120"/>
              </a:rPr>
              <a:t>Les montants extrêmes sont conservés — jusqu'à 168 000 £ sur une ligne. Ce sont de vraies commandes de grossistes, précisément les clients que la segmentation doit isoler.</a:t>
            </a:r>
            <a:endParaRPr lang="en-US" sz="1350" dirty="0"/>
          </a:p>
          <a:p>
            <a:pPr marL="342900" indent="-342900">
              <a:lnSpc>
                <a:spcPct val="115000"/>
              </a:lnSpc>
              <a:spcAft>
                <a:spcPts val="900"/>
              </a:spcAft>
              <a:buSzPct val="100000"/>
              <a:buChar char="•"/>
            </a:pPr>
            <a:r>
              <a:rPr lang="en-US" sz="1350" dirty="0">
                <a:solidFill>
                  <a:srgbClr val="16201F"/>
                </a:solidFill>
                <a:latin typeface="Calibri" pitchFamily="34" charset="0"/>
                <a:ea typeface="Calibri" pitchFamily="34" charset="-122"/>
                <a:cs typeface="Calibri" pitchFamily="34" charset="-120"/>
              </a:rPr>
              <a:t>Écrêter au 99e percentile aurait supprimé nos Champions.</a:t>
            </a:r>
            <a:endParaRPr lang="en-US" sz="1350" dirty="0"/>
          </a:p>
        </p:txBody>
      </p:sp>
      <p:sp>
        <p:nvSpPr>
          <p:cNvPr id="14" name="Shape 11"/>
          <p:cNvSpPr/>
          <p:nvPr/>
        </p:nvSpPr>
        <p:spPr>
          <a:xfrm>
            <a:off x="548640" y="5806440"/>
            <a:ext cx="11091672" cy="566928"/>
          </a:xfrm>
          <a:prstGeom prst="roundRect">
            <a:avLst>
              <a:gd name="adj" fmla="val 11290"/>
            </a:avLst>
          </a:prstGeom>
          <a:solidFill>
            <a:srgbClr val="F6E9E1"/>
          </a:solidFill>
          <a:ln w="9525">
            <a:solidFill>
              <a:srgbClr val="CBD8D5"/>
            </a:solidFill>
            <a:prstDash val="solid"/>
          </a:ln>
        </p:spPr>
      </p:sp>
      <p:sp>
        <p:nvSpPr>
          <p:cNvPr id="15" name="Text 12"/>
          <p:cNvSpPr txBox="1"/>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8C4520"/>
                </a:solidFill>
                <a:latin typeface="Calibri" pitchFamily="34" charset="0"/>
                <a:ea typeface="Calibri" pitchFamily="34" charset="-122"/>
                <a:cs typeface="Calibri" pitchFamily="34" charset="-120"/>
              </a:rPr>
              <a:t>21,8 % des lignes n'ont aucun identifiant client : nos segments décrivent la clientèle identifiée, pas toutes les ventes.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241280" cy="685800"/>
          </a:xfrm>
          <a:prstGeom prst="rect">
            <a:avLst/>
          </a:prstGeom>
          <a:noFill/>
          <a:ln/>
        </p:spPr>
        <p:txBody>
          <a:bodyPr wrap="square" lIns="0" tIns="0" rIns="0" bIns="0" rtlCol="0" anchor="ctr"/>
          <a:lstStyle/>
          <a:p>
            <a:pPr indent="0" marL="0">
              <a:buNone/>
            </a:pPr>
            <a:r>
              <a:rPr lang="en-US" sz="3200" b="1" dirty="0">
                <a:solidFill>
                  <a:srgbClr val="16201F"/>
                </a:solidFill>
                <a:latin typeface="Cambria" pitchFamily="34" charset="0"/>
                <a:ea typeface="Cambria" pitchFamily="34" charset="-122"/>
                <a:cs typeface="Cambria" pitchFamily="34" charset="-120"/>
              </a:rPr>
              <a:t>Le piège que nous avons trouvé</a:t>
            </a:r>
            <a:endParaRPr lang="en-US" sz="3200" dirty="0"/>
          </a:p>
        </p:txBody>
      </p:sp>
      <p:sp>
        <p:nvSpPr>
          <p:cNvPr id="3" name="Shape 1"/>
          <p:cNvSpPr/>
          <p:nvPr/>
        </p:nvSpPr>
        <p:spPr>
          <a:xfrm>
            <a:off x="11018520" y="411480"/>
            <a:ext cx="621792" cy="621792"/>
          </a:xfrm>
          <a:prstGeom prst="ellipse">
            <a:avLst/>
          </a:prstGeom>
          <a:solidFill>
            <a:srgbClr val="D9EBE7"/>
          </a:solidFill>
          <a:ln/>
        </p:spPr>
      </p:sp>
      <p:sp>
        <p:nvSpPr>
          <p:cNvPr id="4" name="Text 2"/>
          <p:cNvSpPr txBox="1"/>
          <p:nvPr/>
        </p:nvSpPr>
        <p:spPr>
          <a:xfrm>
            <a:off x="11018520" y="411480"/>
            <a:ext cx="621792" cy="621792"/>
          </a:xfrm>
          <a:prstGeom prst="rect">
            <a:avLst/>
          </a:prstGeom>
          <a:noFill/>
          <a:ln/>
        </p:spPr>
        <p:txBody>
          <a:bodyPr wrap="square" lIns="0" tIns="0" rIns="0" bIns="0" rtlCol="0" anchor="ctr"/>
          <a:lstStyle/>
          <a:p>
            <a:pPr algn="ctr" indent="0" marL="0">
              <a:buNone/>
            </a:pPr>
            <a:r>
              <a:rPr lang="en-US" sz="1500" b="1" dirty="0">
                <a:solidFill>
                  <a:srgbClr val="0E6E62"/>
                </a:solidFill>
                <a:latin typeface="Calibri" pitchFamily="34" charset="0"/>
                <a:ea typeface="Calibri" pitchFamily="34" charset="-122"/>
                <a:cs typeface="Calibri" pitchFamily="34" charset="-120"/>
              </a:rPr>
              <a:t>1</a:t>
            </a:r>
            <a:endParaRPr lang="en-US" sz="1500" dirty="0"/>
          </a:p>
        </p:txBody>
      </p:sp>
      <p:sp>
        <p:nvSpPr>
          <p:cNvPr id="5" name="Shape 3"/>
          <p:cNvSpPr/>
          <p:nvPr/>
        </p:nvSpPr>
        <p:spPr>
          <a:xfrm>
            <a:off x="548640" y="1234440"/>
            <a:ext cx="5577840" cy="2286000"/>
          </a:xfrm>
          <a:prstGeom prst="roundRect">
            <a:avLst>
              <a:gd name="adj" fmla="val 2800"/>
            </a:avLst>
          </a:prstGeom>
          <a:solidFill>
            <a:srgbClr val="F6E9E1"/>
          </a:solidFill>
          <a:ln w="9525">
            <a:solidFill>
              <a:srgbClr val="CBD8D5"/>
            </a:solidFill>
            <a:prstDash val="solid"/>
          </a:ln>
        </p:spPr>
      </p:sp>
      <p:sp>
        <p:nvSpPr>
          <p:cNvPr id="6" name="Text 4"/>
          <p:cNvSpPr txBox="1"/>
          <p:nvPr/>
        </p:nvSpPr>
        <p:spPr>
          <a:xfrm>
            <a:off x="822960" y="1463040"/>
            <a:ext cx="5029200" cy="411480"/>
          </a:xfrm>
          <a:prstGeom prst="rect">
            <a:avLst/>
          </a:prstGeom>
          <a:noFill/>
          <a:ln/>
        </p:spPr>
        <p:txBody>
          <a:bodyPr wrap="square" lIns="0" tIns="0" rIns="0" bIns="0" rtlCol="0" anchor="ctr"/>
          <a:lstStyle/>
          <a:p>
            <a:pPr indent="0" marL="0">
              <a:buNone/>
            </a:pPr>
            <a:r>
              <a:rPr lang="en-US" sz="2000" b="1" dirty="0">
                <a:solidFill>
                  <a:srgbClr val="8C4520"/>
                </a:solidFill>
                <a:latin typeface="Cambria" pitchFamily="34" charset="0"/>
                <a:ea typeface="Cambria" pitchFamily="34" charset="-122"/>
                <a:cs typeface="Cambria" pitchFamily="34" charset="-120"/>
              </a:rPr>
              <a:t>Les deux feuilles Excel se chevauchent</a:t>
            </a:r>
            <a:endParaRPr lang="en-US" sz="2000" dirty="0"/>
          </a:p>
        </p:txBody>
      </p:sp>
      <p:sp>
        <p:nvSpPr>
          <p:cNvPr id="7" name="Text 5"/>
          <p:cNvSpPr txBox="1"/>
          <p:nvPr/>
        </p:nvSpPr>
        <p:spPr>
          <a:xfrm>
            <a:off x="822960" y="1965960"/>
            <a:ext cx="5029200" cy="1371600"/>
          </a:xfrm>
          <a:prstGeom prst="rect">
            <a:avLst/>
          </a:prstGeom>
          <a:noFill/>
          <a:ln/>
        </p:spPr>
        <p:txBody>
          <a:bodyPr wrap="square" lIns="0" tIns="0" rIns="0" bIns="0" rtlCol="0" anchor="ctr"/>
          <a:lstStyle/>
          <a:p>
            <a:pPr indent="0" marL="0">
              <a:lnSpc>
                <a:spcPct val="120000"/>
              </a:lnSpc>
              <a:buNone/>
            </a:pPr>
            <a:r>
              <a:rPr lang="en-US" sz="1400" dirty="0">
                <a:solidFill>
                  <a:srgbClr val="16201F"/>
                </a:solidFill>
                <a:latin typeface="Calibri" pitchFamily="34" charset="0"/>
                <a:ea typeface="Calibri" pitchFamily="34" charset="-122"/>
                <a:cs typeface="Calibri" pitchFamily="34" charset="-120"/>
              </a:rPr>
              <a:t>« Year 2009-2010 » court jusqu'au 9 décembre 2010.</a:t>
            </a:r>
            <a:endParaRPr lang="en-US" sz="1400" dirty="0"/>
          </a:p>
          <a:p>
            <a:pPr indent="0" marL="0">
              <a:lnSpc>
                <a:spcPct val="120000"/>
              </a:lnSpc>
              <a:buNone/>
            </a:pPr>
            <a:r>
              <a:rPr lang="en-US" sz="1400" dirty="0">
                <a:solidFill>
                  <a:srgbClr val="16201F"/>
                </a:solidFill>
                <a:latin typeface="Calibri" pitchFamily="34" charset="0"/>
                <a:ea typeface="Calibri" pitchFamily="34" charset="-122"/>
                <a:cs typeface="Calibri" pitchFamily="34" charset="-120"/>
              </a:rPr>
              <a:t>« Year 2010-2011 » démarre le 1er décembre 2010.</a:t>
            </a:r>
            <a:endParaRPr lang="en-US" sz="1400" dirty="0"/>
          </a:p>
          <a:p>
            <a:pPr indent="0" marL="0">
              <a:lnSpc>
                <a:spcPct val="120000"/>
              </a:lnSpc>
              <a:buNone/>
            </a:pPr>
            <a:endParaRPr lang="en-US" sz="1400" dirty="0"/>
          </a:p>
          <a:p>
            <a:pPr indent="0" marL="0">
              <a:lnSpc>
                <a:spcPct val="120000"/>
              </a:lnSpc>
              <a:buNone/>
            </a:pPr>
            <a:r>
              <a:rPr lang="en-US" sz="1400" dirty="0">
                <a:solidFill>
                  <a:srgbClr val="16201F"/>
                </a:solidFill>
                <a:latin typeface="Calibri" pitchFamily="34" charset="0"/>
                <a:ea typeface="Calibri" pitchFamily="34" charset="-122"/>
                <a:cs typeface="Calibri" pitchFamily="34" charset="-120"/>
              </a:rPr>
              <a:t>Neuf jours et 1 088 factures figurent deux fois.</a:t>
            </a:r>
            <a:endParaRPr lang="en-US" sz="1400" dirty="0"/>
          </a:p>
        </p:txBody>
      </p:sp>
      <p:sp>
        <p:nvSpPr>
          <p:cNvPr id="8" name="Shape 6"/>
          <p:cNvSpPr/>
          <p:nvPr/>
        </p:nvSpPr>
        <p:spPr>
          <a:xfrm>
            <a:off x="6400800" y="1234440"/>
            <a:ext cx="5239512" cy="2286000"/>
          </a:xfrm>
          <a:prstGeom prst="roundRect">
            <a:avLst>
              <a:gd name="adj" fmla="val 2800"/>
            </a:avLst>
          </a:prstGeom>
          <a:solidFill>
            <a:srgbClr val="F1F7F5"/>
          </a:solidFill>
          <a:ln w="9525">
            <a:solidFill>
              <a:srgbClr val="CBD8D5"/>
            </a:solidFill>
            <a:prstDash val="solid"/>
          </a:ln>
        </p:spPr>
      </p:sp>
      <p:sp>
        <p:nvSpPr>
          <p:cNvPr id="9" name="Text 7"/>
          <p:cNvSpPr txBox="1"/>
          <p:nvPr/>
        </p:nvSpPr>
        <p:spPr>
          <a:xfrm>
            <a:off x="6675120" y="1463040"/>
            <a:ext cx="4690872" cy="411480"/>
          </a:xfrm>
          <a:prstGeom prst="rect">
            <a:avLst/>
          </a:prstGeom>
          <a:noFill/>
          <a:ln/>
        </p:spPr>
        <p:txBody>
          <a:bodyPr wrap="square" lIns="0" tIns="0" rIns="0" bIns="0" rtlCol="0" anchor="ctr"/>
          <a:lstStyle/>
          <a:p>
            <a:pPr indent="0" marL="0">
              <a:buNone/>
            </a:pPr>
            <a:r>
              <a:rPr lang="en-US" sz="2000" b="1" dirty="0">
                <a:solidFill>
                  <a:srgbClr val="16201F"/>
                </a:solidFill>
                <a:latin typeface="Cambria" pitchFamily="34" charset="0"/>
                <a:ea typeface="Cambria" pitchFamily="34" charset="-122"/>
                <a:cs typeface="Cambria" pitchFamily="34" charset="-120"/>
              </a:rPr>
              <a:t>Pourquoi personne ne le voit</a:t>
            </a:r>
            <a:endParaRPr lang="en-US" sz="2000" dirty="0"/>
          </a:p>
        </p:txBody>
      </p:sp>
      <p:sp>
        <p:nvSpPr>
          <p:cNvPr id="10" name="Text 8"/>
          <p:cNvSpPr txBox="1"/>
          <p:nvPr/>
        </p:nvSpPr>
        <p:spPr>
          <a:xfrm>
            <a:off x="6675120" y="1965960"/>
            <a:ext cx="4690872" cy="1371600"/>
          </a:xfrm>
          <a:prstGeom prst="rect">
            <a:avLst/>
          </a:prstGeom>
          <a:noFill/>
          <a:ln/>
        </p:spPr>
        <p:txBody>
          <a:bodyPr wrap="square" lIns="0" tIns="0" rIns="0" bIns="0" rtlCol="0" anchor="ctr"/>
          <a:lstStyle/>
          <a:p>
            <a:pPr indent="0" marL="0">
              <a:lnSpc>
                <a:spcPct val="120000"/>
              </a:lnSpc>
              <a:buNone/>
            </a:pPr>
            <a:r>
              <a:rPr lang="en-US" sz="1400" dirty="0">
                <a:solidFill>
                  <a:srgbClr val="16201F"/>
                </a:solidFill>
                <a:latin typeface="Calibri" pitchFamily="34" charset="0"/>
                <a:ea typeface="Calibri" pitchFamily="34" charset="-122"/>
                <a:cs typeface="Calibri" pitchFamily="34" charset="-120"/>
              </a:rPr>
              <a:t>Nous ajoutons une colonne indiquant la feuille d'origine. Les deux copies d'une même transaction diffèrent donc par cette colonne — et un drop_duplicates() classique ne les détecte pas.</a:t>
            </a:r>
            <a:endParaRPr lang="en-US" sz="1400" dirty="0"/>
          </a:p>
        </p:txBody>
      </p:sp>
      <p:sp>
        <p:nvSpPr>
          <p:cNvPr id="11" name="Shape 9"/>
          <p:cNvSpPr/>
          <p:nvPr/>
        </p:nvSpPr>
        <p:spPr>
          <a:xfrm>
            <a:off x="548640" y="3794760"/>
            <a:ext cx="3694176" cy="1371600"/>
          </a:xfrm>
          <a:prstGeom prst="roundRect">
            <a:avLst>
              <a:gd name="adj" fmla="val 4667"/>
            </a:avLst>
          </a:prstGeom>
          <a:solidFill>
            <a:srgbClr val="F1F7F5"/>
          </a:solidFill>
          <a:ln w="9525">
            <a:solidFill>
              <a:srgbClr val="CBD8D5"/>
            </a:solidFill>
            <a:prstDash val="solid"/>
          </a:ln>
        </p:spPr>
      </p:sp>
      <p:sp>
        <p:nvSpPr>
          <p:cNvPr id="12" name="Text 10"/>
          <p:cNvSpPr txBox="1"/>
          <p:nvPr/>
        </p:nvSpPr>
        <p:spPr>
          <a:xfrm>
            <a:off x="548640" y="3931920"/>
            <a:ext cx="3694176" cy="658368"/>
          </a:xfrm>
          <a:prstGeom prst="rect">
            <a:avLst/>
          </a:prstGeom>
          <a:noFill/>
          <a:ln/>
        </p:spPr>
        <p:txBody>
          <a:bodyPr wrap="square" lIns="0" tIns="0" rIns="0" bIns="0" rtlCol="0" anchor="ctr"/>
          <a:lstStyle/>
          <a:p>
            <a:pPr algn="ctr" indent="0" marL="0">
              <a:buNone/>
            </a:pPr>
            <a:r>
              <a:rPr lang="en-US" sz="2800" b="1" dirty="0">
                <a:solidFill>
                  <a:srgbClr val="C4622D"/>
                </a:solidFill>
                <a:latin typeface="Cambria" pitchFamily="34" charset="0"/>
                <a:ea typeface="Cambria" pitchFamily="34" charset="-122"/>
                <a:cs typeface="Cambria" pitchFamily="34" charset="-120"/>
              </a:rPr>
              <a:t>22 202</a:t>
            </a:r>
            <a:endParaRPr lang="en-US" sz="2800" dirty="0"/>
          </a:p>
        </p:txBody>
      </p:sp>
      <p:sp>
        <p:nvSpPr>
          <p:cNvPr id="13" name="Text 11"/>
          <p:cNvSpPr txBox="1"/>
          <p:nvPr/>
        </p:nvSpPr>
        <p:spPr>
          <a:xfrm>
            <a:off x="548640" y="4590288"/>
            <a:ext cx="3694176" cy="502920"/>
          </a:xfrm>
          <a:prstGeom prst="rect">
            <a:avLst/>
          </a:prstGeom>
          <a:noFill/>
          <a:ln/>
        </p:spPr>
        <p:txBody>
          <a:bodyPr wrap="square" lIns="0" tIns="0" rIns="0" bIns="0" rtlCol="0" anchor="t"/>
          <a:lstStyle/>
          <a:p>
            <a:pPr algn="ctr" indent="0" marL="0">
              <a:buNone/>
            </a:pPr>
            <a:r>
              <a:rPr lang="en-US" sz="1150" dirty="0">
                <a:solidFill>
                  <a:srgbClr val="5F6E6C"/>
                </a:solidFill>
                <a:latin typeface="Calibri" pitchFamily="34" charset="0"/>
                <a:ea typeface="Calibri" pitchFamily="34" charset="-122"/>
                <a:cs typeface="Calibri" pitchFamily="34" charset="-120"/>
              </a:rPr>
              <a:t>transactions comptées deux fois</a:t>
            </a:r>
            <a:endParaRPr lang="en-US" sz="1150" dirty="0"/>
          </a:p>
        </p:txBody>
      </p:sp>
      <p:sp>
        <p:nvSpPr>
          <p:cNvPr id="14" name="Shape 12"/>
          <p:cNvSpPr/>
          <p:nvPr/>
        </p:nvSpPr>
        <p:spPr>
          <a:xfrm>
            <a:off x="4242816" y="3794760"/>
            <a:ext cx="3694176" cy="1371600"/>
          </a:xfrm>
          <a:prstGeom prst="roundRect">
            <a:avLst>
              <a:gd name="adj" fmla="val 4667"/>
            </a:avLst>
          </a:prstGeom>
          <a:solidFill>
            <a:srgbClr val="F1F7F5"/>
          </a:solidFill>
          <a:ln w="9525">
            <a:solidFill>
              <a:srgbClr val="CBD8D5"/>
            </a:solidFill>
            <a:prstDash val="solid"/>
          </a:ln>
        </p:spPr>
      </p:sp>
      <p:sp>
        <p:nvSpPr>
          <p:cNvPr id="15" name="Text 13"/>
          <p:cNvSpPr txBox="1"/>
          <p:nvPr/>
        </p:nvSpPr>
        <p:spPr>
          <a:xfrm>
            <a:off x="4242816" y="3931920"/>
            <a:ext cx="3694176" cy="658368"/>
          </a:xfrm>
          <a:prstGeom prst="rect">
            <a:avLst/>
          </a:prstGeom>
          <a:noFill/>
          <a:ln/>
        </p:spPr>
        <p:txBody>
          <a:bodyPr wrap="square" lIns="0" tIns="0" rIns="0" bIns="0" rtlCol="0" anchor="ctr"/>
          <a:lstStyle/>
          <a:p>
            <a:pPr algn="ctr" indent="0" marL="0">
              <a:buNone/>
            </a:pPr>
            <a:r>
              <a:rPr lang="en-US" sz="2800" b="1" dirty="0">
                <a:solidFill>
                  <a:srgbClr val="C4622D"/>
                </a:solidFill>
                <a:latin typeface="Cambria" pitchFamily="34" charset="0"/>
                <a:ea typeface="Cambria" pitchFamily="34" charset="-122"/>
                <a:cs typeface="Cambria" pitchFamily="34" charset="-120"/>
              </a:rPr>
              <a:t>1 088</a:t>
            </a:r>
            <a:endParaRPr lang="en-US" sz="2800" dirty="0"/>
          </a:p>
        </p:txBody>
      </p:sp>
      <p:sp>
        <p:nvSpPr>
          <p:cNvPr id="16" name="Text 14"/>
          <p:cNvSpPr txBox="1"/>
          <p:nvPr/>
        </p:nvSpPr>
        <p:spPr>
          <a:xfrm>
            <a:off x="4242816" y="4590288"/>
            <a:ext cx="3694176" cy="502920"/>
          </a:xfrm>
          <a:prstGeom prst="rect">
            <a:avLst/>
          </a:prstGeom>
          <a:noFill/>
          <a:ln/>
        </p:spPr>
        <p:txBody>
          <a:bodyPr wrap="square" lIns="0" tIns="0" rIns="0" bIns="0" rtlCol="0" anchor="t"/>
          <a:lstStyle/>
          <a:p>
            <a:pPr algn="ctr" indent="0" marL="0">
              <a:buNone/>
            </a:pPr>
            <a:r>
              <a:rPr lang="en-US" sz="1150" dirty="0">
                <a:solidFill>
                  <a:srgbClr val="5F6E6C"/>
                </a:solidFill>
                <a:latin typeface="Calibri" pitchFamily="34" charset="0"/>
                <a:ea typeface="Calibri" pitchFamily="34" charset="-122"/>
                <a:cs typeface="Calibri" pitchFamily="34" charset="-120"/>
              </a:rPr>
              <a:t>factures en double</a:t>
            </a:r>
            <a:endParaRPr lang="en-US" sz="1150" dirty="0"/>
          </a:p>
        </p:txBody>
      </p:sp>
      <p:sp>
        <p:nvSpPr>
          <p:cNvPr id="17" name="Shape 15"/>
          <p:cNvSpPr/>
          <p:nvPr/>
        </p:nvSpPr>
        <p:spPr>
          <a:xfrm>
            <a:off x="7946136" y="3794760"/>
            <a:ext cx="3694176" cy="1371600"/>
          </a:xfrm>
          <a:prstGeom prst="roundRect">
            <a:avLst>
              <a:gd name="adj" fmla="val 4667"/>
            </a:avLst>
          </a:prstGeom>
          <a:solidFill>
            <a:srgbClr val="D9EBE7"/>
          </a:solidFill>
          <a:ln w="9525">
            <a:solidFill>
              <a:srgbClr val="CBD8D5"/>
            </a:solidFill>
            <a:prstDash val="solid"/>
          </a:ln>
        </p:spPr>
      </p:sp>
      <p:sp>
        <p:nvSpPr>
          <p:cNvPr id="18" name="Text 16"/>
          <p:cNvSpPr txBox="1"/>
          <p:nvPr/>
        </p:nvSpPr>
        <p:spPr>
          <a:xfrm>
            <a:off x="7946136" y="3931920"/>
            <a:ext cx="3694176" cy="658368"/>
          </a:xfrm>
          <a:prstGeom prst="rect">
            <a:avLst/>
          </a:prstGeom>
          <a:noFill/>
          <a:ln/>
        </p:spPr>
        <p:txBody>
          <a:bodyPr wrap="square" lIns="0" tIns="0" rIns="0" bIns="0" rtlCol="0" anchor="ctr"/>
          <a:lstStyle/>
          <a:p>
            <a:pPr algn="ctr" indent="0" marL="0">
              <a:buNone/>
            </a:pPr>
            <a:r>
              <a:rPr lang="en-US" sz="2800" b="1" dirty="0">
                <a:solidFill>
                  <a:srgbClr val="0E6E62"/>
                </a:solidFill>
                <a:latin typeface="Cambria" pitchFamily="34" charset="0"/>
                <a:ea typeface="Cambria" pitchFamily="34" charset="-122"/>
                <a:cs typeface="Cambria" pitchFamily="34" charset="-120"/>
              </a:rPr>
              <a:t>0</a:t>
            </a:r>
            <a:endParaRPr lang="en-US" sz="2800" dirty="0"/>
          </a:p>
        </p:txBody>
      </p:sp>
      <p:sp>
        <p:nvSpPr>
          <p:cNvPr id="19" name="Text 17"/>
          <p:cNvSpPr txBox="1"/>
          <p:nvPr/>
        </p:nvSpPr>
        <p:spPr>
          <a:xfrm>
            <a:off x="7946136" y="4590288"/>
            <a:ext cx="3694176" cy="502920"/>
          </a:xfrm>
          <a:prstGeom prst="rect">
            <a:avLst/>
          </a:prstGeom>
          <a:noFill/>
          <a:ln/>
        </p:spPr>
        <p:txBody>
          <a:bodyPr wrap="square" lIns="0" tIns="0" rIns="0" bIns="0" rtlCol="0" anchor="t"/>
          <a:lstStyle/>
          <a:p>
            <a:pPr algn="ctr" indent="0" marL="0">
              <a:buNone/>
            </a:pPr>
            <a:r>
              <a:rPr lang="en-US" sz="1150" dirty="0">
                <a:solidFill>
                  <a:srgbClr val="5F6E6C"/>
                </a:solidFill>
                <a:latin typeface="Calibri" pitchFamily="34" charset="0"/>
                <a:ea typeface="Calibri" pitchFamily="34" charset="-122"/>
                <a:cs typeface="Calibri" pitchFamily="34" charset="-120"/>
              </a:rPr>
              <a:t>erreur d'exécution provoquée</a:t>
            </a:r>
            <a:endParaRPr lang="en-US" sz="1150" dirty="0"/>
          </a:p>
        </p:txBody>
      </p:sp>
      <p:sp>
        <p:nvSpPr>
          <p:cNvPr id="20" name="Shape 18"/>
          <p:cNvSpPr/>
          <p:nvPr/>
        </p:nvSpPr>
        <p:spPr>
          <a:xfrm>
            <a:off x="548640" y="5806440"/>
            <a:ext cx="11091672" cy="566928"/>
          </a:xfrm>
          <a:prstGeom prst="roundRect">
            <a:avLst>
              <a:gd name="adj" fmla="val 11290"/>
            </a:avLst>
          </a:prstGeom>
          <a:solidFill>
            <a:srgbClr val="D9EBE7"/>
          </a:solidFill>
          <a:ln w="9525">
            <a:solidFill>
              <a:srgbClr val="CBD8D5"/>
            </a:solidFill>
            <a:prstDash val="solid"/>
          </a:ln>
        </p:spPr>
      </p:sp>
      <p:sp>
        <p:nvSpPr>
          <p:cNvPr id="21" name="Text 19"/>
          <p:cNvSpPr txBox="1"/>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6E62"/>
                </a:solidFill>
                <a:latin typeface="Calibri" pitchFamily="34" charset="0"/>
                <a:ea typeface="Calibri" pitchFamily="34" charset="-122"/>
                <a:cs typeface="Calibri" pitchFamily="34" charset="-120"/>
              </a:rPr>
              <a:t>Effet : la Fréquence et le Montant des clients de décembre 2010 sont gonflés — ils glissent vers les segments haut de gamme.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241280" cy="685800"/>
          </a:xfrm>
          <a:prstGeom prst="rect">
            <a:avLst/>
          </a:prstGeom>
          <a:noFill/>
          <a:ln/>
        </p:spPr>
        <p:txBody>
          <a:bodyPr wrap="square" lIns="0" tIns="0" rIns="0" bIns="0" rtlCol="0" anchor="ctr"/>
          <a:lstStyle/>
          <a:p>
            <a:pPr indent="0" marL="0">
              <a:buNone/>
            </a:pPr>
            <a:r>
              <a:rPr lang="en-US" sz="3200" b="1" dirty="0">
                <a:solidFill>
                  <a:srgbClr val="16201F"/>
                </a:solidFill>
                <a:latin typeface="Cambria" pitchFamily="34" charset="0"/>
                <a:ea typeface="Cambria" pitchFamily="34" charset="-122"/>
                <a:cs typeface="Cambria" pitchFamily="34" charset="-120"/>
              </a:rPr>
              <a:t>Les retours changent-ils les segments ?</a:t>
            </a:r>
            <a:endParaRPr lang="en-US" sz="3200" dirty="0"/>
          </a:p>
        </p:txBody>
      </p:sp>
      <p:sp>
        <p:nvSpPr>
          <p:cNvPr id="3" name="Shape 1"/>
          <p:cNvSpPr/>
          <p:nvPr/>
        </p:nvSpPr>
        <p:spPr>
          <a:xfrm>
            <a:off x="11018520" y="411480"/>
            <a:ext cx="621792" cy="621792"/>
          </a:xfrm>
          <a:prstGeom prst="ellipse">
            <a:avLst/>
          </a:prstGeom>
          <a:solidFill>
            <a:srgbClr val="D9EBE7"/>
          </a:solidFill>
          <a:ln/>
        </p:spPr>
      </p:sp>
      <p:sp>
        <p:nvSpPr>
          <p:cNvPr id="4" name="Text 2"/>
          <p:cNvSpPr txBox="1"/>
          <p:nvPr/>
        </p:nvSpPr>
        <p:spPr>
          <a:xfrm>
            <a:off x="11018520" y="411480"/>
            <a:ext cx="621792" cy="621792"/>
          </a:xfrm>
          <a:prstGeom prst="rect">
            <a:avLst/>
          </a:prstGeom>
          <a:noFill/>
          <a:ln/>
        </p:spPr>
        <p:txBody>
          <a:bodyPr wrap="square" lIns="0" tIns="0" rIns="0" bIns="0" rtlCol="0" anchor="ctr"/>
          <a:lstStyle/>
          <a:p>
            <a:pPr algn="ctr" indent="0" marL="0">
              <a:buNone/>
            </a:pPr>
            <a:r>
              <a:rPr lang="en-US" sz="1500" b="1" dirty="0">
                <a:solidFill>
                  <a:srgbClr val="0E6E62"/>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548640" y="1188720"/>
            <a:ext cx="11091672" cy="365760"/>
          </a:xfrm>
          <a:prstGeom prst="rect">
            <a:avLst/>
          </a:prstGeom>
          <a:noFill/>
          <a:ln/>
        </p:spPr>
        <p:txBody>
          <a:bodyPr wrap="square" lIns="0" tIns="0" rIns="0" bIns="0" rtlCol="0" anchor="ctr"/>
          <a:lstStyle/>
          <a:p>
            <a:pPr indent="0" marL="0">
              <a:buNone/>
            </a:pPr>
            <a:r>
              <a:rPr lang="en-US" sz="1500" i="1" dirty="0">
                <a:solidFill>
                  <a:srgbClr val="5F6E6C"/>
                </a:solidFill>
                <a:latin typeface="Calibri" pitchFamily="34" charset="0"/>
                <a:ea typeface="Calibri" pitchFamily="34" charset="-122"/>
                <a:cs typeface="Calibri" pitchFamily="34" charset="-120"/>
              </a:rPr>
              <a:t>Question 1 du rapport — nous avons mesuré au lieu de supposer.</a:t>
            </a:r>
            <a:endParaRPr lang="en-US" sz="1500" dirty="0"/>
          </a:p>
        </p:txBody>
      </p:sp>
      <p:sp>
        <p:nvSpPr>
          <p:cNvPr id="6" name="Shape 4"/>
          <p:cNvSpPr/>
          <p:nvPr/>
        </p:nvSpPr>
        <p:spPr>
          <a:xfrm>
            <a:off x="548640" y="1737360"/>
            <a:ext cx="3566160" cy="1554480"/>
          </a:xfrm>
          <a:prstGeom prst="roundRect">
            <a:avLst>
              <a:gd name="adj" fmla="val 4118"/>
            </a:avLst>
          </a:prstGeom>
          <a:solidFill>
            <a:srgbClr val="F1F7F5"/>
          </a:solidFill>
          <a:ln w="9525">
            <a:solidFill>
              <a:srgbClr val="CBD8D5"/>
            </a:solidFill>
            <a:prstDash val="solid"/>
          </a:ln>
        </p:spPr>
      </p:sp>
      <p:sp>
        <p:nvSpPr>
          <p:cNvPr id="7" name="Text 5"/>
          <p:cNvSpPr txBox="1"/>
          <p:nvPr/>
        </p:nvSpPr>
        <p:spPr>
          <a:xfrm>
            <a:off x="804672" y="1938528"/>
            <a:ext cx="3054096" cy="365760"/>
          </a:xfrm>
          <a:prstGeom prst="rect">
            <a:avLst/>
          </a:prstGeom>
          <a:noFill/>
          <a:ln/>
        </p:spPr>
        <p:txBody>
          <a:bodyPr wrap="square" lIns="0" tIns="0" rIns="0" bIns="0" rtlCol="0" anchor="ctr"/>
          <a:lstStyle/>
          <a:p>
            <a:pPr indent="0" marL="0">
              <a:buNone/>
            </a:pPr>
            <a:r>
              <a:rPr lang="en-US" sz="1800" b="1" dirty="0">
                <a:solidFill>
                  <a:srgbClr val="16201F"/>
                </a:solidFill>
                <a:latin typeface="Cambria" pitchFamily="34" charset="0"/>
                <a:ea typeface="Cambria" pitchFamily="34" charset="-122"/>
                <a:cs typeface="Cambria" pitchFamily="34" charset="-120"/>
              </a:rPr>
              <a:t>Jeu A</a:t>
            </a:r>
            <a:endParaRPr lang="en-US" sz="1800" dirty="0"/>
          </a:p>
        </p:txBody>
      </p:sp>
      <p:sp>
        <p:nvSpPr>
          <p:cNvPr id="8" name="Text 6"/>
          <p:cNvSpPr txBox="1"/>
          <p:nvPr/>
        </p:nvSpPr>
        <p:spPr>
          <a:xfrm>
            <a:off x="804672" y="2331720"/>
            <a:ext cx="3054096" cy="365760"/>
          </a:xfrm>
          <a:prstGeom prst="rect">
            <a:avLst/>
          </a:prstGeom>
          <a:noFill/>
          <a:ln/>
        </p:spPr>
        <p:txBody>
          <a:bodyPr wrap="square" lIns="0" tIns="0" rIns="0" bIns="0" rtlCol="0" anchor="ctr"/>
          <a:lstStyle/>
          <a:p>
            <a:pPr indent="0" marL="0">
              <a:buNone/>
            </a:pPr>
            <a:r>
              <a:rPr lang="en-US" sz="1400" dirty="0">
                <a:solidFill>
                  <a:srgbClr val="16201F"/>
                </a:solidFill>
                <a:latin typeface="Calibri" pitchFamily="34" charset="0"/>
                <a:ea typeface="Calibri" pitchFamily="34" charset="-122"/>
                <a:cs typeface="Calibri" pitchFamily="34" charset="-120"/>
              </a:rPr>
              <a:t>Annulations exclues</a:t>
            </a:r>
            <a:endParaRPr lang="en-US" sz="1400" dirty="0"/>
          </a:p>
        </p:txBody>
      </p:sp>
      <p:sp>
        <p:nvSpPr>
          <p:cNvPr id="9" name="Text 7"/>
          <p:cNvSpPr txBox="1"/>
          <p:nvPr/>
        </p:nvSpPr>
        <p:spPr>
          <a:xfrm>
            <a:off x="804672" y="2697480"/>
            <a:ext cx="3054096" cy="365760"/>
          </a:xfrm>
          <a:prstGeom prst="rect">
            <a:avLst/>
          </a:prstGeom>
          <a:noFill/>
          <a:ln/>
        </p:spPr>
        <p:txBody>
          <a:bodyPr wrap="square" lIns="0" tIns="0" rIns="0" bIns="0" rtlCol="0" anchor="ctr"/>
          <a:lstStyle/>
          <a:p>
            <a:pPr indent="0" marL="0">
              <a:buNone/>
            </a:pPr>
            <a:r>
              <a:rPr lang="en-US" sz="1300" dirty="0">
                <a:solidFill>
                  <a:srgbClr val="5F6E6C"/>
                </a:solidFill>
                <a:latin typeface="Calibri" pitchFamily="34" charset="0"/>
                <a:ea typeface="Calibri" pitchFamily="34" charset="-122"/>
                <a:cs typeface="Calibri" pitchFamily="34" charset="-120"/>
              </a:rPr>
              <a:t>5 852 clients</a:t>
            </a:r>
            <a:endParaRPr lang="en-US" sz="1300" dirty="0"/>
          </a:p>
        </p:txBody>
      </p:sp>
      <p:sp>
        <p:nvSpPr>
          <p:cNvPr id="10" name="Text 8"/>
          <p:cNvSpPr txBox="1"/>
          <p:nvPr/>
        </p:nvSpPr>
        <p:spPr>
          <a:xfrm>
            <a:off x="4133088" y="2240280"/>
            <a:ext cx="256032" cy="457200"/>
          </a:xfrm>
          <a:prstGeom prst="rect">
            <a:avLst/>
          </a:prstGeom>
          <a:noFill/>
          <a:ln/>
        </p:spPr>
        <p:txBody>
          <a:bodyPr wrap="square" lIns="0" tIns="0" rIns="0" bIns="0" rtlCol="0" anchor="ctr"/>
          <a:lstStyle/>
          <a:p>
            <a:pPr algn="ctr" indent="0" marL="0">
              <a:buNone/>
            </a:pPr>
            <a:r>
              <a:rPr lang="en-US" sz="2000" dirty="0">
                <a:solidFill>
                  <a:srgbClr val="0E6E62"/>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4407408" y="1737360"/>
            <a:ext cx="3566160" cy="1554480"/>
          </a:xfrm>
          <a:prstGeom prst="roundRect">
            <a:avLst>
              <a:gd name="adj" fmla="val 4118"/>
            </a:avLst>
          </a:prstGeom>
          <a:solidFill>
            <a:srgbClr val="F1F7F5"/>
          </a:solidFill>
          <a:ln w="9525">
            <a:solidFill>
              <a:srgbClr val="CBD8D5"/>
            </a:solidFill>
            <a:prstDash val="solid"/>
          </a:ln>
        </p:spPr>
      </p:sp>
      <p:sp>
        <p:nvSpPr>
          <p:cNvPr id="12" name="Text 10"/>
          <p:cNvSpPr txBox="1"/>
          <p:nvPr/>
        </p:nvSpPr>
        <p:spPr>
          <a:xfrm>
            <a:off x="4663440" y="1938528"/>
            <a:ext cx="3054096" cy="365760"/>
          </a:xfrm>
          <a:prstGeom prst="rect">
            <a:avLst/>
          </a:prstGeom>
          <a:noFill/>
          <a:ln/>
        </p:spPr>
        <p:txBody>
          <a:bodyPr wrap="square" lIns="0" tIns="0" rIns="0" bIns="0" rtlCol="0" anchor="ctr"/>
          <a:lstStyle/>
          <a:p>
            <a:pPr indent="0" marL="0">
              <a:buNone/>
            </a:pPr>
            <a:r>
              <a:rPr lang="en-US" sz="1800" b="1" dirty="0">
                <a:solidFill>
                  <a:srgbClr val="16201F"/>
                </a:solidFill>
                <a:latin typeface="Cambria" pitchFamily="34" charset="0"/>
                <a:ea typeface="Cambria" pitchFamily="34" charset="-122"/>
                <a:cs typeface="Cambria" pitchFamily="34" charset="-120"/>
              </a:rPr>
              <a:t>Jeu B</a:t>
            </a:r>
            <a:endParaRPr lang="en-US" sz="1800" dirty="0"/>
          </a:p>
        </p:txBody>
      </p:sp>
      <p:sp>
        <p:nvSpPr>
          <p:cNvPr id="13" name="Text 11"/>
          <p:cNvSpPr txBox="1"/>
          <p:nvPr/>
        </p:nvSpPr>
        <p:spPr>
          <a:xfrm>
            <a:off x="4663440" y="2331720"/>
            <a:ext cx="3054096" cy="365760"/>
          </a:xfrm>
          <a:prstGeom prst="rect">
            <a:avLst/>
          </a:prstGeom>
          <a:noFill/>
          <a:ln/>
        </p:spPr>
        <p:txBody>
          <a:bodyPr wrap="square" lIns="0" tIns="0" rIns="0" bIns="0" rtlCol="0" anchor="ctr"/>
          <a:lstStyle/>
          <a:p>
            <a:pPr indent="0" marL="0">
              <a:buNone/>
            </a:pPr>
            <a:r>
              <a:rPr lang="en-US" sz="1400" dirty="0">
                <a:solidFill>
                  <a:srgbClr val="16201F"/>
                </a:solidFill>
                <a:latin typeface="Calibri" pitchFamily="34" charset="0"/>
                <a:ea typeface="Calibri" pitchFamily="34" charset="-122"/>
                <a:cs typeface="Calibri" pitchFamily="34" charset="-120"/>
              </a:rPr>
              <a:t>Retours déduits du CA</a:t>
            </a:r>
            <a:endParaRPr lang="en-US" sz="1400" dirty="0"/>
          </a:p>
        </p:txBody>
      </p:sp>
      <p:sp>
        <p:nvSpPr>
          <p:cNvPr id="14" name="Text 12"/>
          <p:cNvSpPr txBox="1"/>
          <p:nvPr/>
        </p:nvSpPr>
        <p:spPr>
          <a:xfrm>
            <a:off x="4663440" y="2697480"/>
            <a:ext cx="3054096" cy="365760"/>
          </a:xfrm>
          <a:prstGeom prst="rect">
            <a:avLst/>
          </a:prstGeom>
          <a:noFill/>
          <a:ln/>
        </p:spPr>
        <p:txBody>
          <a:bodyPr wrap="square" lIns="0" tIns="0" rIns="0" bIns="0" rtlCol="0" anchor="ctr"/>
          <a:lstStyle/>
          <a:p>
            <a:pPr indent="0" marL="0">
              <a:buNone/>
            </a:pPr>
            <a:r>
              <a:rPr lang="en-US" sz="1300" dirty="0">
                <a:solidFill>
                  <a:srgbClr val="5F6E6C"/>
                </a:solidFill>
                <a:latin typeface="Calibri" pitchFamily="34" charset="0"/>
                <a:ea typeface="Calibri" pitchFamily="34" charset="-122"/>
                <a:cs typeface="Calibri" pitchFamily="34" charset="-120"/>
              </a:rPr>
              <a:t>5 838 clients</a:t>
            </a:r>
            <a:endParaRPr lang="en-US" sz="1300" dirty="0"/>
          </a:p>
        </p:txBody>
      </p:sp>
      <p:sp>
        <p:nvSpPr>
          <p:cNvPr id="15" name="Text 13"/>
          <p:cNvSpPr txBox="1"/>
          <p:nvPr/>
        </p:nvSpPr>
        <p:spPr>
          <a:xfrm>
            <a:off x="7991856" y="2240280"/>
            <a:ext cx="256032" cy="457200"/>
          </a:xfrm>
          <a:prstGeom prst="rect">
            <a:avLst/>
          </a:prstGeom>
          <a:noFill/>
          <a:ln/>
        </p:spPr>
        <p:txBody>
          <a:bodyPr wrap="square" lIns="0" tIns="0" rIns="0" bIns="0" rtlCol="0" anchor="ctr"/>
          <a:lstStyle/>
          <a:p>
            <a:pPr algn="ctr" indent="0" marL="0">
              <a:buNone/>
            </a:pPr>
            <a:r>
              <a:rPr lang="en-US" sz="2000" dirty="0">
                <a:solidFill>
                  <a:srgbClr val="0E6E62"/>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8266176" y="1737360"/>
            <a:ext cx="3566160" cy="1554480"/>
          </a:xfrm>
          <a:prstGeom prst="roundRect">
            <a:avLst>
              <a:gd name="adj" fmla="val 4118"/>
            </a:avLst>
          </a:prstGeom>
          <a:solidFill>
            <a:srgbClr val="D9EBE7"/>
          </a:solidFill>
          <a:ln w="9525">
            <a:solidFill>
              <a:srgbClr val="CBD8D5"/>
            </a:solidFill>
            <a:prstDash val="solid"/>
          </a:ln>
        </p:spPr>
      </p:sp>
      <p:sp>
        <p:nvSpPr>
          <p:cNvPr id="17" name="Text 15"/>
          <p:cNvSpPr txBox="1"/>
          <p:nvPr/>
        </p:nvSpPr>
        <p:spPr>
          <a:xfrm>
            <a:off x="8522208" y="1938528"/>
            <a:ext cx="3054096" cy="365760"/>
          </a:xfrm>
          <a:prstGeom prst="rect">
            <a:avLst/>
          </a:prstGeom>
          <a:noFill/>
          <a:ln/>
        </p:spPr>
        <p:txBody>
          <a:bodyPr wrap="square" lIns="0" tIns="0" rIns="0" bIns="0" rtlCol="0" anchor="ctr"/>
          <a:lstStyle/>
          <a:p>
            <a:pPr indent="0" marL="0">
              <a:buNone/>
            </a:pPr>
            <a:r>
              <a:rPr lang="en-US" sz="1800" b="1" dirty="0">
                <a:solidFill>
                  <a:srgbClr val="0E6E62"/>
                </a:solidFill>
                <a:latin typeface="Cambria" pitchFamily="34" charset="0"/>
                <a:ea typeface="Cambria" pitchFamily="34" charset="-122"/>
                <a:cs typeface="Cambria" pitchFamily="34" charset="-120"/>
              </a:rPr>
              <a:t>Comparaison</a:t>
            </a:r>
            <a:endParaRPr lang="en-US" sz="1800" dirty="0"/>
          </a:p>
        </p:txBody>
      </p:sp>
      <p:sp>
        <p:nvSpPr>
          <p:cNvPr id="18" name="Text 16"/>
          <p:cNvSpPr txBox="1"/>
          <p:nvPr/>
        </p:nvSpPr>
        <p:spPr>
          <a:xfrm>
            <a:off x="8522208" y="2331720"/>
            <a:ext cx="3054096" cy="365760"/>
          </a:xfrm>
          <a:prstGeom prst="rect">
            <a:avLst/>
          </a:prstGeom>
          <a:noFill/>
          <a:ln/>
        </p:spPr>
        <p:txBody>
          <a:bodyPr wrap="square" lIns="0" tIns="0" rIns="0" bIns="0" rtlCol="0" anchor="ctr"/>
          <a:lstStyle/>
          <a:p>
            <a:pPr indent="0" marL="0">
              <a:buNone/>
            </a:pPr>
            <a:r>
              <a:rPr lang="en-US" sz="1400" dirty="0">
                <a:solidFill>
                  <a:srgbClr val="16201F"/>
                </a:solidFill>
                <a:latin typeface="Calibri" pitchFamily="34" charset="0"/>
                <a:ea typeface="Calibri" pitchFamily="34" charset="-122"/>
                <a:cs typeface="Calibri" pitchFamily="34" charset="-120"/>
              </a:rPr>
              <a:t>Adjusted Rand Index</a:t>
            </a:r>
            <a:endParaRPr lang="en-US" sz="1400" dirty="0"/>
          </a:p>
        </p:txBody>
      </p:sp>
      <p:sp>
        <p:nvSpPr>
          <p:cNvPr id="19" name="Text 17"/>
          <p:cNvSpPr txBox="1"/>
          <p:nvPr/>
        </p:nvSpPr>
        <p:spPr>
          <a:xfrm>
            <a:off x="8522208" y="2697480"/>
            <a:ext cx="3054096" cy="365760"/>
          </a:xfrm>
          <a:prstGeom prst="rect">
            <a:avLst/>
          </a:prstGeom>
          <a:noFill/>
          <a:ln/>
        </p:spPr>
        <p:txBody>
          <a:bodyPr wrap="square" lIns="0" tIns="0" rIns="0" bIns="0" rtlCol="0" anchor="ctr"/>
          <a:lstStyle/>
          <a:p>
            <a:pPr indent="0" marL="0">
              <a:buNone/>
            </a:pPr>
            <a:r>
              <a:rPr lang="en-US" sz="1300" dirty="0">
                <a:solidFill>
                  <a:srgbClr val="5F6E6C"/>
                </a:solidFill>
                <a:latin typeface="Calibri" pitchFamily="34" charset="0"/>
                <a:ea typeface="Calibri" pitchFamily="34" charset="-122"/>
                <a:cs typeface="Calibri" pitchFamily="34" charset="-120"/>
              </a:rPr>
              <a:t>sur les clients communs</a:t>
            </a:r>
            <a:endParaRPr lang="en-US" sz="1300" dirty="0"/>
          </a:p>
        </p:txBody>
      </p:sp>
      <p:sp>
        <p:nvSpPr>
          <p:cNvPr id="20" name="Shape 18"/>
          <p:cNvSpPr/>
          <p:nvPr/>
        </p:nvSpPr>
        <p:spPr>
          <a:xfrm>
            <a:off x="548640" y="3611880"/>
            <a:ext cx="3374136" cy="1508760"/>
          </a:xfrm>
          <a:prstGeom prst="roundRect">
            <a:avLst>
              <a:gd name="adj" fmla="val 4242"/>
            </a:avLst>
          </a:prstGeom>
          <a:solidFill>
            <a:srgbClr val="D9EBE7"/>
          </a:solidFill>
          <a:ln w="9525">
            <a:solidFill>
              <a:srgbClr val="CBD8D5"/>
            </a:solidFill>
            <a:prstDash val="solid"/>
          </a:ln>
        </p:spPr>
      </p:sp>
      <p:sp>
        <p:nvSpPr>
          <p:cNvPr id="21" name="Text 19"/>
          <p:cNvSpPr txBox="1"/>
          <p:nvPr/>
        </p:nvSpPr>
        <p:spPr>
          <a:xfrm>
            <a:off x="548640" y="3794760"/>
            <a:ext cx="3374136" cy="658368"/>
          </a:xfrm>
          <a:prstGeom prst="rect">
            <a:avLst/>
          </a:prstGeom>
          <a:noFill/>
          <a:ln/>
        </p:spPr>
        <p:txBody>
          <a:bodyPr wrap="square" lIns="0" tIns="0" rIns="0" bIns="0" rtlCol="0" anchor="ctr"/>
          <a:lstStyle/>
          <a:p>
            <a:pPr algn="ctr" indent="0" marL="0">
              <a:buNone/>
            </a:pPr>
            <a:r>
              <a:rPr lang="en-US" sz="3200" b="1" dirty="0">
                <a:solidFill>
                  <a:srgbClr val="0E6E62"/>
                </a:solidFill>
                <a:latin typeface="Cambria" pitchFamily="34" charset="0"/>
                <a:ea typeface="Cambria" pitchFamily="34" charset="-122"/>
                <a:cs typeface="Cambria" pitchFamily="34" charset="-120"/>
              </a:rPr>
              <a:t>0,876</a:t>
            </a:r>
            <a:endParaRPr lang="en-US" sz="3200" dirty="0"/>
          </a:p>
        </p:txBody>
      </p:sp>
      <p:sp>
        <p:nvSpPr>
          <p:cNvPr id="22" name="Text 20"/>
          <p:cNvSpPr txBox="1"/>
          <p:nvPr/>
        </p:nvSpPr>
        <p:spPr>
          <a:xfrm>
            <a:off x="548640" y="4453128"/>
            <a:ext cx="3374136" cy="502920"/>
          </a:xfrm>
          <a:prstGeom prst="rect">
            <a:avLst/>
          </a:prstGeom>
          <a:noFill/>
          <a:ln/>
        </p:spPr>
        <p:txBody>
          <a:bodyPr wrap="square" lIns="0" tIns="0" rIns="0" bIns="0" rtlCol="0" anchor="t"/>
          <a:lstStyle/>
          <a:p>
            <a:pPr algn="ctr" indent="0" marL="0">
              <a:buNone/>
            </a:pPr>
            <a:r>
              <a:rPr lang="en-US" sz="1150" dirty="0">
                <a:solidFill>
                  <a:srgbClr val="5F6E6C"/>
                </a:solidFill>
                <a:latin typeface="Calibri" pitchFamily="34" charset="0"/>
                <a:ea typeface="Calibri" pitchFamily="34" charset="-122"/>
                <a:cs typeface="Calibri" pitchFamily="34" charset="-120"/>
              </a:rPr>
              <a:t>ARI — structure identique</a:t>
            </a:r>
            <a:endParaRPr lang="en-US" sz="1150" dirty="0"/>
          </a:p>
        </p:txBody>
      </p:sp>
      <p:sp>
        <p:nvSpPr>
          <p:cNvPr id="23" name="Shape 21"/>
          <p:cNvSpPr/>
          <p:nvPr/>
        </p:nvSpPr>
        <p:spPr>
          <a:xfrm>
            <a:off x="4407408" y="3611880"/>
            <a:ext cx="3374136" cy="1508760"/>
          </a:xfrm>
          <a:prstGeom prst="roundRect">
            <a:avLst>
              <a:gd name="adj" fmla="val 4242"/>
            </a:avLst>
          </a:prstGeom>
          <a:solidFill>
            <a:srgbClr val="F1F7F5"/>
          </a:solidFill>
          <a:ln w="9525">
            <a:solidFill>
              <a:srgbClr val="CBD8D5"/>
            </a:solidFill>
            <a:prstDash val="solid"/>
          </a:ln>
        </p:spPr>
      </p:sp>
      <p:sp>
        <p:nvSpPr>
          <p:cNvPr id="24" name="Text 22"/>
          <p:cNvSpPr txBox="1"/>
          <p:nvPr/>
        </p:nvSpPr>
        <p:spPr>
          <a:xfrm>
            <a:off x="4407408" y="3794760"/>
            <a:ext cx="3374136" cy="658368"/>
          </a:xfrm>
          <a:prstGeom prst="rect">
            <a:avLst/>
          </a:prstGeom>
          <a:noFill/>
          <a:ln/>
        </p:spPr>
        <p:txBody>
          <a:bodyPr wrap="square" lIns="0" tIns="0" rIns="0" bIns="0" rtlCol="0" anchor="ctr"/>
          <a:lstStyle/>
          <a:p>
            <a:pPr algn="ctr" indent="0" marL="0">
              <a:buNone/>
            </a:pPr>
            <a:r>
              <a:rPr lang="en-US" sz="3200" b="1" dirty="0">
                <a:solidFill>
                  <a:srgbClr val="16201F"/>
                </a:solidFill>
                <a:latin typeface="Cambria" pitchFamily="34" charset="0"/>
                <a:ea typeface="Cambria" pitchFamily="34" charset="-122"/>
                <a:cs typeface="Cambria" pitchFamily="34" charset="-120"/>
              </a:rPr>
              <a:t>4,9 %</a:t>
            </a:r>
            <a:endParaRPr lang="en-US" sz="3200" dirty="0"/>
          </a:p>
        </p:txBody>
      </p:sp>
      <p:sp>
        <p:nvSpPr>
          <p:cNvPr id="25" name="Text 23"/>
          <p:cNvSpPr txBox="1"/>
          <p:nvPr/>
        </p:nvSpPr>
        <p:spPr>
          <a:xfrm>
            <a:off x="4407408" y="4453128"/>
            <a:ext cx="3374136" cy="502920"/>
          </a:xfrm>
          <a:prstGeom prst="rect">
            <a:avLst/>
          </a:prstGeom>
          <a:noFill/>
          <a:ln/>
        </p:spPr>
        <p:txBody>
          <a:bodyPr wrap="square" lIns="0" tIns="0" rIns="0" bIns="0" rtlCol="0" anchor="t"/>
          <a:lstStyle/>
          <a:p>
            <a:pPr algn="ctr" indent="0" marL="0">
              <a:buNone/>
            </a:pPr>
            <a:r>
              <a:rPr lang="en-US" sz="1150" dirty="0">
                <a:solidFill>
                  <a:srgbClr val="5F6E6C"/>
                </a:solidFill>
                <a:latin typeface="Calibri" pitchFamily="34" charset="0"/>
                <a:ea typeface="Calibri" pitchFamily="34" charset="-122"/>
                <a:cs typeface="Calibri" pitchFamily="34" charset="-120"/>
              </a:rPr>
              <a:t>des clients changent de segment</a:t>
            </a:r>
            <a:endParaRPr lang="en-US" sz="1150" dirty="0"/>
          </a:p>
        </p:txBody>
      </p:sp>
      <p:sp>
        <p:nvSpPr>
          <p:cNvPr id="26" name="Shape 24"/>
          <p:cNvSpPr/>
          <p:nvPr/>
        </p:nvSpPr>
        <p:spPr>
          <a:xfrm>
            <a:off x="8266176" y="3611880"/>
            <a:ext cx="3374136" cy="1508760"/>
          </a:xfrm>
          <a:prstGeom prst="roundRect">
            <a:avLst>
              <a:gd name="adj" fmla="val 4242"/>
            </a:avLst>
          </a:prstGeom>
          <a:solidFill>
            <a:srgbClr val="F1F7F5"/>
          </a:solidFill>
          <a:ln w="9525">
            <a:solidFill>
              <a:srgbClr val="CBD8D5"/>
            </a:solidFill>
            <a:prstDash val="solid"/>
          </a:ln>
        </p:spPr>
      </p:sp>
      <p:sp>
        <p:nvSpPr>
          <p:cNvPr id="27" name="Text 25"/>
          <p:cNvSpPr txBox="1"/>
          <p:nvPr/>
        </p:nvSpPr>
        <p:spPr>
          <a:xfrm>
            <a:off x="8266176" y="3794760"/>
            <a:ext cx="3374136" cy="658368"/>
          </a:xfrm>
          <a:prstGeom prst="rect">
            <a:avLst/>
          </a:prstGeom>
          <a:noFill/>
          <a:ln/>
        </p:spPr>
        <p:txBody>
          <a:bodyPr wrap="square" lIns="0" tIns="0" rIns="0" bIns="0" rtlCol="0" anchor="ctr"/>
          <a:lstStyle/>
          <a:p>
            <a:pPr algn="ctr" indent="0" marL="0">
              <a:buNone/>
            </a:pPr>
            <a:r>
              <a:rPr lang="en-US" sz="3200" b="1" dirty="0">
                <a:solidFill>
                  <a:srgbClr val="16201F"/>
                </a:solidFill>
                <a:latin typeface="Cambria" pitchFamily="34" charset="0"/>
                <a:ea typeface="Cambria" pitchFamily="34" charset="-122"/>
                <a:cs typeface="Cambria" pitchFamily="34" charset="-120"/>
              </a:rPr>
              <a:t>37</a:t>
            </a:r>
            <a:endParaRPr lang="en-US" sz="3200" dirty="0"/>
          </a:p>
        </p:txBody>
      </p:sp>
      <p:sp>
        <p:nvSpPr>
          <p:cNvPr id="28" name="Text 26"/>
          <p:cNvSpPr txBox="1"/>
          <p:nvPr/>
        </p:nvSpPr>
        <p:spPr>
          <a:xfrm>
            <a:off x="8266176" y="4453128"/>
            <a:ext cx="3374136" cy="502920"/>
          </a:xfrm>
          <a:prstGeom prst="rect">
            <a:avLst/>
          </a:prstGeom>
          <a:noFill/>
          <a:ln/>
        </p:spPr>
        <p:txBody>
          <a:bodyPr wrap="square" lIns="0" tIns="0" rIns="0" bIns="0" rtlCol="0" anchor="t"/>
          <a:lstStyle/>
          <a:p>
            <a:pPr algn="ctr" indent="0" marL="0">
              <a:buNone/>
            </a:pPr>
            <a:r>
              <a:rPr lang="en-US" sz="1150" dirty="0">
                <a:solidFill>
                  <a:srgbClr val="5F6E6C"/>
                </a:solidFill>
                <a:latin typeface="Calibri" pitchFamily="34" charset="0"/>
                <a:ea typeface="Calibri" pitchFamily="34" charset="-122"/>
                <a:cs typeface="Calibri" pitchFamily="34" charset="-120"/>
              </a:rPr>
              <a:t>clients à CA net ≤ 0, exclus</a:t>
            </a:r>
            <a:endParaRPr lang="en-US" sz="1150" dirty="0"/>
          </a:p>
        </p:txBody>
      </p:sp>
      <p:sp>
        <p:nvSpPr>
          <p:cNvPr id="29" name="Shape 27"/>
          <p:cNvSpPr/>
          <p:nvPr/>
        </p:nvSpPr>
        <p:spPr>
          <a:xfrm>
            <a:off x="548640" y="5806440"/>
            <a:ext cx="11091672" cy="566928"/>
          </a:xfrm>
          <a:prstGeom prst="roundRect">
            <a:avLst>
              <a:gd name="adj" fmla="val 11290"/>
            </a:avLst>
          </a:prstGeom>
          <a:solidFill>
            <a:srgbClr val="D9EBE7"/>
          </a:solidFill>
          <a:ln w="9525">
            <a:solidFill>
              <a:srgbClr val="CBD8D5"/>
            </a:solidFill>
            <a:prstDash val="solid"/>
          </a:ln>
        </p:spPr>
      </p:sp>
      <p:sp>
        <p:nvSpPr>
          <p:cNvPr id="30" name="Text 28"/>
          <p:cNvSpPr txBox="1"/>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6E62"/>
                </a:solidFill>
                <a:latin typeface="Calibri" pitchFamily="34" charset="0"/>
                <a:ea typeface="Calibri" pitchFamily="34" charset="-122"/>
                <a:cs typeface="Calibri" pitchFamily="34" charset="-120"/>
              </a:rPr>
              <a:t>Réponse : non. Nous gardons le jeu le plus simple et documentons que ce choix n'est pas structurant.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241280" cy="685800"/>
          </a:xfrm>
          <a:prstGeom prst="rect">
            <a:avLst/>
          </a:prstGeom>
          <a:noFill/>
          <a:ln/>
        </p:spPr>
        <p:txBody>
          <a:bodyPr wrap="square" lIns="0" tIns="0" rIns="0" bIns="0" rtlCol="0" anchor="ctr"/>
          <a:lstStyle/>
          <a:p>
            <a:pPr indent="0" marL="0">
              <a:buNone/>
            </a:pPr>
            <a:r>
              <a:rPr lang="en-US" sz="3200" b="1" dirty="0">
                <a:solidFill>
                  <a:srgbClr val="16201F"/>
                </a:solidFill>
                <a:latin typeface="Cambria" pitchFamily="34" charset="0"/>
                <a:ea typeface="Cambria" pitchFamily="34" charset="-122"/>
                <a:cs typeface="Cambria" pitchFamily="34" charset="-120"/>
              </a:rPr>
              <a:t>Partie 2 — Construire les variables RFM</a:t>
            </a:r>
            <a:endParaRPr lang="en-US" sz="3200" dirty="0"/>
          </a:p>
        </p:txBody>
      </p:sp>
      <p:sp>
        <p:nvSpPr>
          <p:cNvPr id="3" name="Shape 1"/>
          <p:cNvSpPr/>
          <p:nvPr/>
        </p:nvSpPr>
        <p:spPr>
          <a:xfrm>
            <a:off x="11018520" y="411480"/>
            <a:ext cx="621792" cy="621792"/>
          </a:xfrm>
          <a:prstGeom prst="ellipse">
            <a:avLst/>
          </a:prstGeom>
          <a:solidFill>
            <a:srgbClr val="D9EBE7"/>
          </a:solidFill>
          <a:ln/>
        </p:spPr>
      </p:sp>
      <p:sp>
        <p:nvSpPr>
          <p:cNvPr id="4" name="Text 2"/>
          <p:cNvSpPr txBox="1"/>
          <p:nvPr/>
        </p:nvSpPr>
        <p:spPr>
          <a:xfrm>
            <a:off x="11018520" y="411480"/>
            <a:ext cx="621792" cy="621792"/>
          </a:xfrm>
          <a:prstGeom prst="rect">
            <a:avLst/>
          </a:prstGeom>
          <a:noFill/>
          <a:ln/>
        </p:spPr>
        <p:txBody>
          <a:bodyPr wrap="square" lIns="0" tIns="0" rIns="0" bIns="0" rtlCol="0" anchor="ctr"/>
          <a:lstStyle/>
          <a:p>
            <a:pPr algn="ctr" indent="0" marL="0">
              <a:buNone/>
            </a:pPr>
            <a:r>
              <a:rPr lang="en-US" sz="1500" b="1" dirty="0">
                <a:solidFill>
                  <a:srgbClr val="0E6E62"/>
                </a:solidFill>
                <a:latin typeface="Calibri" pitchFamily="34" charset="0"/>
                <a:ea typeface="Calibri" pitchFamily="34" charset="-122"/>
                <a:cs typeface="Calibri" pitchFamily="34" charset="-120"/>
              </a:rPr>
              <a:t>2</a:t>
            </a:r>
            <a:endParaRPr lang="en-US" sz="1500" dirty="0"/>
          </a:p>
        </p:txBody>
      </p:sp>
      <p:sp>
        <p:nvSpPr>
          <p:cNvPr id="5" name="Shape 3"/>
          <p:cNvSpPr/>
          <p:nvPr/>
        </p:nvSpPr>
        <p:spPr>
          <a:xfrm>
            <a:off x="548640" y="1280160"/>
            <a:ext cx="3566160" cy="1783080"/>
          </a:xfrm>
          <a:prstGeom prst="roundRect">
            <a:avLst>
              <a:gd name="adj" fmla="val 3590"/>
            </a:avLst>
          </a:prstGeom>
          <a:solidFill>
            <a:srgbClr val="F1F7F5"/>
          </a:solidFill>
          <a:ln w="9525">
            <a:solidFill>
              <a:srgbClr val="CBD8D5"/>
            </a:solidFill>
            <a:prstDash val="solid"/>
          </a:ln>
        </p:spPr>
      </p:sp>
      <p:sp>
        <p:nvSpPr>
          <p:cNvPr id="6" name="Shape 4"/>
          <p:cNvSpPr/>
          <p:nvPr/>
        </p:nvSpPr>
        <p:spPr>
          <a:xfrm>
            <a:off x="804672" y="1508760"/>
            <a:ext cx="548640" cy="548640"/>
          </a:xfrm>
          <a:prstGeom prst="ellipse">
            <a:avLst/>
          </a:prstGeom>
          <a:solidFill>
            <a:srgbClr val="0E6E62"/>
          </a:solidFill>
          <a:ln/>
        </p:spPr>
      </p:sp>
      <p:sp>
        <p:nvSpPr>
          <p:cNvPr id="7" name="Text 5"/>
          <p:cNvSpPr txBox="1"/>
          <p:nvPr/>
        </p:nvSpPr>
        <p:spPr>
          <a:xfrm>
            <a:off x="804672" y="15087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R</a:t>
            </a:r>
            <a:endParaRPr lang="en-US" sz="2200" dirty="0"/>
          </a:p>
        </p:txBody>
      </p:sp>
      <p:sp>
        <p:nvSpPr>
          <p:cNvPr id="8" name="Text 6"/>
          <p:cNvSpPr txBox="1"/>
          <p:nvPr/>
        </p:nvSpPr>
        <p:spPr>
          <a:xfrm>
            <a:off x="1463040" y="1572768"/>
            <a:ext cx="2377440" cy="411480"/>
          </a:xfrm>
          <a:prstGeom prst="rect">
            <a:avLst/>
          </a:prstGeom>
          <a:noFill/>
          <a:ln/>
        </p:spPr>
        <p:txBody>
          <a:bodyPr wrap="square" lIns="0" tIns="0" rIns="0" bIns="0" rtlCol="0" anchor="ctr"/>
          <a:lstStyle/>
          <a:p>
            <a:pPr indent="0" marL="0">
              <a:buNone/>
            </a:pPr>
            <a:r>
              <a:rPr lang="en-US" sz="1900" b="1" dirty="0">
                <a:solidFill>
                  <a:srgbClr val="16201F"/>
                </a:solidFill>
                <a:latin typeface="Cambria" pitchFamily="34" charset="0"/>
                <a:ea typeface="Cambria" pitchFamily="34" charset="-122"/>
                <a:cs typeface="Cambria" pitchFamily="34" charset="-120"/>
              </a:rPr>
              <a:t>Récence</a:t>
            </a:r>
            <a:endParaRPr lang="en-US" sz="1900" dirty="0"/>
          </a:p>
        </p:txBody>
      </p:sp>
      <p:sp>
        <p:nvSpPr>
          <p:cNvPr id="9" name="Text 7"/>
          <p:cNvSpPr txBox="1"/>
          <p:nvPr/>
        </p:nvSpPr>
        <p:spPr>
          <a:xfrm>
            <a:off x="804672" y="2212848"/>
            <a:ext cx="3054096" cy="731520"/>
          </a:xfrm>
          <a:prstGeom prst="rect">
            <a:avLst/>
          </a:prstGeom>
          <a:noFill/>
          <a:ln/>
        </p:spPr>
        <p:txBody>
          <a:bodyPr wrap="square" lIns="0" tIns="0" rIns="0" bIns="0" rtlCol="0" anchor="ctr"/>
          <a:lstStyle/>
          <a:p>
            <a:pPr indent="0" marL="0">
              <a:lnSpc>
                <a:spcPct val="115000"/>
              </a:lnSpc>
              <a:buNone/>
            </a:pPr>
            <a:r>
              <a:rPr lang="en-US" sz="1300" dirty="0">
                <a:solidFill>
                  <a:srgbClr val="5F6E6C"/>
                </a:solidFill>
                <a:latin typeface="Calibri" pitchFamily="34" charset="0"/>
                <a:ea typeface="Calibri" pitchFamily="34" charset="-122"/>
                <a:cs typeface="Calibri" pitchFamily="34" charset="-120"/>
              </a:rPr>
              <a:t>Jours depuis le dernier achat.</a:t>
            </a:r>
            <a:endParaRPr lang="en-US" sz="1300" dirty="0"/>
          </a:p>
          <a:p>
            <a:pPr indent="0" marL="0">
              <a:lnSpc>
                <a:spcPct val="115000"/>
              </a:lnSpc>
              <a:buNone/>
            </a:pPr>
            <a:r>
              <a:rPr lang="en-US" sz="1300" dirty="0">
                <a:solidFill>
                  <a:srgbClr val="5F6E6C"/>
                </a:solidFill>
                <a:latin typeface="Calibri" pitchFamily="34" charset="0"/>
                <a:ea typeface="Calibri" pitchFamily="34" charset="-122"/>
                <a:cs typeface="Calibri" pitchFamily="34" charset="-120"/>
              </a:rPr>
              <a:t>Plus c'est bas, mieux c'est.</a:t>
            </a:r>
            <a:endParaRPr lang="en-US" sz="1300" dirty="0"/>
          </a:p>
        </p:txBody>
      </p:sp>
      <p:sp>
        <p:nvSpPr>
          <p:cNvPr id="10" name="Shape 8"/>
          <p:cNvSpPr/>
          <p:nvPr/>
        </p:nvSpPr>
        <p:spPr>
          <a:xfrm>
            <a:off x="4407408" y="1280160"/>
            <a:ext cx="3566160" cy="1783080"/>
          </a:xfrm>
          <a:prstGeom prst="roundRect">
            <a:avLst>
              <a:gd name="adj" fmla="val 3590"/>
            </a:avLst>
          </a:prstGeom>
          <a:solidFill>
            <a:srgbClr val="F1F7F5"/>
          </a:solidFill>
          <a:ln w="9525">
            <a:solidFill>
              <a:srgbClr val="CBD8D5"/>
            </a:solidFill>
            <a:prstDash val="solid"/>
          </a:ln>
        </p:spPr>
      </p:sp>
      <p:sp>
        <p:nvSpPr>
          <p:cNvPr id="11" name="Shape 9"/>
          <p:cNvSpPr/>
          <p:nvPr/>
        </p:nvSpPr>
        <p:spPr>
          <a:xfrm>
            <a:off x="4663440" y="1508760"/>
            <a:ext cx="548640" cy="548640"/>
          </a:xfrm>
          <a:prstGeom prst="ellipse">
            <a:avLst/>
          </a:prstGeom>
          <a:solidFill>
            <a:srgbClr val="0E6E62"/>
          </a:solidFill>
          <a:ln/>
        </p:spPr>
      </p:sp>
      <p:sp>
        <p:nvSpPr>
          <p:cNvPr id="12" name="Text 10"/>
          <p:cNvSpPr txBox="1"/>
          <p:nvPr/>
        </p:nvSpPr>
        <p:spPr>
          <a:xfrm>
            <a:off x="4663440" y="15087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F</a:t>
            </a:r>
            <a:endParaRPr lang="en-US" sz="2200" dirty="0"/>
          </a:p>
        </p:txBody>
      </p:sp>
      <p:sp>
        <p:nvSpPr>
          <p:cNvPr id="13" name="Text 11"/>
          <p:cNvSpPr txBox="1"/>
          <p:nvPr/>
        </p:nvSpPr>
        <p:spPr>
          <a:xfrm>
            <a:off x="5321808" y="1572768"/>
            <a:ext cx="2377440" cy="411480"/>
          </a:xfrm>
          <a:prstGeom prst="rect">
            <a:avLst/>
          </a:prstGeom>
          <a:noFill/>
          <a:ln/>
        </p:spPr>
        <p:txBody>
          <a:bodyPr wrap="square" lIns="0" tIns="0" rIns="0" bIns="0" rtlCol="0" anchor="ctr"/>
          <a:lstStyle/>
          <a:p>
            <a:pPr indent="0" marL="0">
              <a:buNone/>
            </a:pPr>
            <a:r>
              <a:rPr lang="en-US" sz="1900" b="1" dirty="0">
                <a:solidFill>
                  <a:srgbClr val="16201F"/>
                </a:solidFill>
                <a:latin typeface="Cambria" pitchFamily="34" charset="0"/>
                <a:ea typeface="Cambria" pitchFamily="34" charset="-122"/>
                <a:cs typeface="Cambria" pitchFamily="34" charset="-120"/>
              </a:rPr>
              <a:t>Fréquence</a:t>
            </a:r>
            <a:endParaRPr lang="en-US" sz="1900" dirty="0"/>
          </a:p>
        </p:txBody>
      </p:sp>
      <p:sp>
        <p:nvSpPr>
          <p:cNvPr id="14" name="Text 12"/>
          <p:cNvSpPr txBox="1"/>
          <p:nvPr/>
        </p:nvSpPr>
        <p:spPr>
          <a:xfrm>
            <a:off x="4663440" y="2212848"/>
            <a:ext cx="3054096" cy="731520"/>
          </a:xfrm>
          <a:prstGeom prst="rect">
            <a:avLst/>
          </a:prstGeom>
          <a:noFill/>
          <a:ln/>
        </p:spPr>
        <p:txBody>
          <a:bodyPr wrap="square" lIns="0" tIns="0" rIns="0" bIns="0" rtlCol="0" anchor="ctr"/>
          <a:lstStyle/>
          <a:p>
            <a:pPr indent="0" marL="0">
              <a:lnSpc>
                <a:spcPct val="115000"/>
              </a:lnSpc>
              <a:buNone/>
            </a:pPr>
            <a:r>
              <a:rPr lang="en-US" sz="1300" dirty="0">
                <a:solidFill>
                  <a:srgbClr val="5F6E6C"/>
                </a:solidFill>
                <a:latin typeface="Calibri" pitchFamily="34" charset="0"/>
                <a:ea typeface="Calibri" pitchFamily="34" charset="-122"/>
                <a:cs typeface="Calibri" pitchFamily="34" charset="-120"/>
              </a:rPr>
              <a:t>Nombre de factures distinctes.</a:t>
            </a:r>
            <a:endParaRPr lang="en-US" sz="1300" dirty="0"/>
          </a:p>
          <a:p>
            <a:pPr indent="0" marL="0">
              <a:lnSpc>
                <a:spcPct val="115000"/>
              </a:lnSpc>
              <a:buNone/>
            </a:pPr>
            <a:r>
              <a:rPr lang="en-US" sz="1300" dirty="0">
                <a:solidFill>
                  <a:srgbClr val="5F6E6C"/>
                </a:solidFill>
                <a:latin typeface="Calibri" pitchFamily="34" charset="0"/>
                <a:ea typeface="Calibri" pitchFamily="34" charset="-122"/>
                <a:cs typeface="Calibri" pitchFamily="34" charset="-120"/>
              </a:rPr>
              <a:t>Pas le nombre de lignes.</a:t>
            </a:r>
            <a:endParaRPr lang="en-US" sz="1300" dirty="0"/>
          </a:p>
        </p:txBody>
      </p:sp>
      <p:sp>
        <p:nvSpPr>
          <p:cNvPr id="15" name="Shape 13"/>
          <p:cNvSpPr/>
          <p:nvPr/>
        </p:nvSpPr>
        <p:spPr>
          <a:xfrm>
            <a:off x="8266176" y="1280160"/>
            <a:ext cx="3566160" cy="1783080"/>
          </a:xfrm>
          <a:prstGeom prst="roundRect">
            <a:avLst>
              <a:gd name="adj" fmla="val 3590"/>
            </a:avLst>
          </a:prstGeom>
          <a:solidFill>
            <a:srgbClr val="F1F7F5"/>
          </a:solidFill>
          <a:ln w="9525">
            <a:solidFill>
              <a:srgbClr val="CBD8D5"/>
            </a:solidFill>
            <a:prstDash val="solid"/>
          </a:ln>
        </p:spPr>
      </p:sp>
      <p:sp>
        <p:nvSpPr>
          <p:cNvPr id="16" name="Shape 14"/>
          <p:cNvSpPr/>
          <p:nvPr/>
        </p:nvSpPr>
        <p:spPr>
          <a:xfrm>
            <a:off x="8522208" y="1508760"/>
            <a:ext cx="548640" cy="548640"/>
          </a:xfrm>
          <a:prstGeom prst="ellipse">
            <a:avLst/>
          </a:prstGeom>
          <a:solidFill>
            <a:srgbClr val="0E6E62"/>
          </a:solidFill>
          <a:ln/>
        </p:spPr>
      </p:sp>
      <p:sp>
        <p:nvSpPr>
          <p:cNvPr id="17" name="Text 15"/>
          <p:cNvSpPr txBox="1"/>
          <p:nvPr/>
        </p:nvSpPr>
        <p:spPr>
          <a:xfrm>
            <a:off x="8522208" y="15087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M</a:t>
            </a:r>
            <a:endParaRPr lang="en-US" sz="2200" dirty="0"/>
          </a:p>
        </p:txBody>
      </p:sp>
      <p:sp>
        <p:nvSpPr>
          <p:cNvPr id="18" name="Text 16"/>
          <p:cNvSpPr txBox="1"/>
          <p:nvPr/>
        </p:nvSpPr>
        <p:spPr>
          <a:xfrm>
            <a:off x="9180576" y="1572768"/>
            <a:ext cx="2377440" cy="411480"/>
          </a:xfrm>
          <a:prstGeom prst="rect">
            <a:avLst/>
          </a:prstGeom>
          <a:noFill/>
          <a:ln/>
        </p:spPr>
        <p:txBody>
          <a:bodyPr wrap="square" lIns="0" tIns="0" rIns="0" bIns="0" rtlCol="0" anchor="ctr"/>
          <a:lstStyle/>
          <a:p>
            <a:pPr indent="0" marL="0">
              <a:buNone/>
            </a:pPr>
            <a:r>
              <a:rPr lang="en-US" sz="1900" b="1" dirty="0">
                <a:solidFill>
                  <a:srgbClr val="16201F"/>
                </a:solidFill>
                <a:latin typeface="Cambria" pitchFamily="34" charset="0"/>
                <a:ea typeface="Cambria" pitchFamily="34" charset="-122"/>
                <a:cs typeface="Cambria" pitchFamily="34" charset="-120"/>
              </a:rPr>
              <a:t>Montant</a:t>
            </a:r>
            <a:endParaRPr lang="en-US" sz="1900" dirty="0"/>
          </a:p>
        </p:txBody>
      </p:sp>
      <p:sp>
        <p:nvSpPr>
          <p:cNvPr id="19" name="Text 17"/>
          <p:cNvSpPr txBox="1"/>
          <p:nvPr/>
        </p:nvSpPr>
        <p:spPr>
          <a:xfrm>
            <a:off x="8522208" y="2212848"/>
            <a:ext cx="3054096" cy="731520"/>
          </a:xfrm>
          <a:prstGeom prst="rect">
            <a:avLst/>
          </a:prstGeom>
          <a:noFill/>
          <a:ln/>
        </p:spPr>
        <p:txBody>
          <a:bodyPr wrap="square" lIns="0" tIns="0" rIns="0" bIns="0" rtlCol="0" anchor="ctr"/>
          <a:lstStyle/>
          <a:p>
            <a:pPr indent="0" marL="0">
              <a:lnSpc>
                <a:spcPct val="115000"/>
              </a:lnSpc>
              <a:buNone/>
            </a:pPr>
            <a:r>
              <a:rPr lang="en-US" sz="1300" dirty="0">
                <a:solidFill>
                  <a:srgbClr val="5F6E6C"/>
                </a:solidFill>
                <a:latin typeface="Calibri" pitchFamily="34" charset="0"/>
                <a:ea typeface="Calibri" pitchFamily="34" charset="-122"/>
                <a:cs typeface="Calibri" pitchFamily="34" charset="-120"/>
              </a:rPr>
              <a:t>Chiffre d'affaires cumulé</a:t>
            </a:r>
            <a:endParaRPr lang="en-US" sz="1300" dirty="0"/>
          </a:p>
          <a:p>
            <a:pPr indent="0" marL="0">
              <a:lnSpc>
                <a:spcPct val="115000"/>
              </a:lnSpc>
              <a:buNone/>
            </a:pPr>
            <a:r>
              <a:rPr lang="en-US" sz="1300" dirty="0">
                <a:solidFill>
                  <a:srgbClr val="5F6E6C"/>
                </a:solidFill>
                <a:latin typeface="Calibri" pitchFamily="34" charset="0"/>
                <a:ea typeface="Calibri" pitchFamily="34" charset="-122"/>
                <a:cs typeface="Calibri" pitchFamily="34" charset="-120"/>
              </a:rPr>
              <a:t>sur la période.</a:t>
            </a:r>
            <a:endParaRPr lang="en-US" sz="1300" dirty="0"/>
          </a:p>
        </p:txBody>
      </p:sp>
      <p:sp>
        <p:nvSpPr>
          <p:cNvPr id="20" name="Text 18"/>
          <p:cNvSpPr txBox="1"/>
          <p:nvPr/>
        </p:nvSpPr>
        <p:spPr>
          <a:xfrm>
            <a:off x="548640" y="3291840"/>
            <a:ext cx="11091672" cy="365760"/>
          </a:xfrm>
          <a:prstGeom prst="rect">
            <a:avLst/>
          </a:prstGeom>
          <a:noFill/>
          <a:ln/>
        </p:spPr>
        <p:txBody>
          <a:bodyPr wrap="square" lIns="0" tIns="0" rIns="0" bIns="0" rtlCol="0" anchor="ctr"/>
          <a:lstStyle/>
          <a:p>
            <a:pPr indent="0" marL="0">
              <a:buNone/>
            </a:pPr>
            <a:r>
              <a:rPr lang="en-US" sz="1500" b="1" dirty="0">
                <a:solidFill>
                  <a:srgbClr val="0E6E62"/>
                </a:solidFill>
                <a:latin typeface="Calibri" pitchFamily="34" charset="0"/>
                <a:ea typeface="Calibri" pitchFamily="34" charset="-122"/>
                <a:cs typeface="Calibri" pitchFamily="34" charset="-120"/>
              </a:rPr>
              <a:t>Deux décisions à défendre</a:t>
            </a:r>
            <a:endParaRPr lang="en-US" sz="1500" dirty="0"/>
          </a:p>
        </p:txBody>
      </p:sp>
      <p:sp>
        <p:nvSpPr>
          <p:cNvPr id="21" name="Shape 19"/>
          <p:cNvSpPr/>
          <p:nvPr/>
        </p:nvSpPr>
        <p:spPr>
          <a:xfrm>
            <a:off x="548640" y="3703320"/>
            <a:ext cx="5577840" cy="1691640"/>
          </a:xfrm>
          <a:prstGeom prst="roundRect">
            <a:avLst>
              <a:gd name="adj" fmla="val 3784"/>
            </a:avLst>
          </a:prstGeom>
          <a:solidFill>
            <a:srgbClr val="F1F7F5"/>
          </a:solidFill>
          <a:ln w="9525">
            <a:solidFill>
              <a:srgbClr val="CBD8D5"/>
            </a:solidFill>
            <a:prstDash val="solid"/>
          </a:ln>
        </p:spPr>
      </p:sp>
      <p:sp>
        <p:nvSpPr>
          <p:cNvPr id="22" name="Text 20"/>
          <p:cNvSpPr txBox="1"/>
          <p:nvPr/>
        </p:nvSpPr>
        <p:spPr>
          <a:xfrm>
            <a:off x="804672" y="3913632"/>
            <a:ext cx="5065776" cy="1280160"/>
          </a:xfrm>
          <a:prstGeom prst="rect">
            <a:avLst/>
          </a:prstGeom>
          <a:noFill/>
          <a:ln/>
        </p:spPr>
        <p:txBody>
          <a:bodyPr wrap="square" lIns="0" tIns="0" rIns="0" bIns="0" rtlCol="0" anchor="ctr"/>
          <a:lstStyle/>
          <a:p>
            <a:pPr indent="0" marL="0">
              <a:lnSpc>
                <a:spcPct val="115000"/>
              </a:lnSpc>
              <a:buNone/>
            </a:pPr>
            <a:r>
              <a:rPr lang="en-US" sz="1350" b="1" dirty="0">
                <a:solidFill>
                  <a:srgbClr val="16201F"/>
                </a:solidFill>
                <a:latin typeface="Calibri" pitchFamily="34" charset="0"/>
                <a:ea typeface="Calibri" pitchFamily="34" charset="-122"/>
                <a:cs typeface="Calibri" pitchFamily="34" charset="-120"/>
              </a:rPr>
              <a:t>Snapshot figé au 10/12/2011</a:t>
            </a:r>
            <a:endParaRPr lang="en-US" sz="1350" dirty="0"/>
          </a:p>
          <a:p>
            <a:pPr indent="0" marL="0">
              <a:lnSpc>
                <a:spcPct val="115000"/>
              </a:lnSpc>
              <a:buNone/>
            </a:pPr>
            <a:r>
              <a:rPr lang="en-US" sz="1350" dirty="0">
                <a:solidFill>
                  <a:srgbClr val="16201F"/>
                </a:solidFill>
                <a:latin typeface="Calibri" pitchFamily="34" charset="0"/>
                <a:ea typeface="Calibri" pitchFamily="34" charset="-122"/>
                <a:cs typeface="Calibri" pitchFamily="34" charset="-120"/>
              </a:rPr>
              <a:t>Lendemain de la dernière transaction. Utiliser la date du jour donnerait quinze ans de récence à tout le monde : la variable ne discriminerait plus rien.</a:t>
            </a:r>
            <a:endParaRPr lang="en-US" sz="1350" dirty="0"/>
          </a:p>
        </p:txBody>
      </p:sp>
      <p:sp>
        <p:nvSpPr>
          <p:cNvPr id="23" name="Shape 21"/>
          <p:cNvSpPr/>
          <p:nvPr/>
        </p:nvSpPr>
        <p:spPr>
          <a:xfrm>
            <a:off x="6400800" y="3703320"/>
            <a:ext cx="5239512" cy="1691640"/>
          </a:xfrm>
          <a:prstGeom prst="roundRect">
            <a:avLst>
              <a:gd name="adj" fmla="val 3784"/>
            </a:avLst>
          </a:prstGeom>
          <a:solidFill>
            <a:srgbClr val="F1F7F5"/>
          </a:solidFill>
          <a:ln w="9525">
            <a:solidFill>
              <a:srgbClr val="CBD8D5"/>
            </a:solidFill>
            <a:prstDash val="solid"/>
          </a:ln>
        </p:spPr>
      </p:sp>
      <p:sp>
        <p:nvSpPr>
          <p:cNvPr id="24" name="Text 22"/>
          <p:cNvSpPr txBox="1"/>
          <p:nvPr/>
        </p:nvSpPr>
        <p:spPr>
          <a:xfrm>
            <a:off x="6656832" y="3913632"/>
            <a:ext cx="4727448" cy="1280160"/>
          </a:xfrm>
          <a:prstGeom prst="rect">
            <a:avLst/>
          </a:prstGeom>
          <a:noFill/>
          <a:ln/>
        </p:spPr>
        <p:txBody>
          <a:bodyPr wrap="square" lIns="0" tIns="0" rIns="0" bIns="0" rtlCol="0" anchor="ctr"/>
          <a:lstStyle/>
          <a:p>
            <a:pPr indent="0" marL="0">
              <a:lnSpc>
                <a:spcPct val="115000"/>
              </a:lnSpc>
              <a:buNone/>
            </a:pPr>
            <a:r>
              <a:rPr lang="en-US" sz="1350" b="1" dirty="0">
                <a:solidFill>
                  <a:srgbClr val="16201F"/>
                </a:solidFill>
                <a:latin typeface="Calibri" pitchFamily="34" charset="0"/>
                <a:ea typeface="Calibri" pitchFamily="34" charset="-122"/>
                <a:cs typeface="Calibri" pitchFamily="34" charset="-120"/>
              </a:rPr>
              <a:t>La Fréquence compte les factures</a:t>
            </a:r>
            <a:endParaRPr lang="en-US" sz="1350" dirty="0"/>
          </a:p>
          <a:p>
            <a:pPr indent="0" marL="0">
              <a:lnSpc>
                <a:spcPct val="115000"/>
              </a:lnSpc>
              <a:buNone/>
            </a:pPr>
            <a:r>
              <a:rPr lang="en-US" sz="1350" dirty="0">
                <a:solidFill>
                  <a:srgbClr val="16201F"/>
                </a:solidFill>
                <a:latin typeface="Calibri" pitchFamily="34" charset="0"/>
                <a:ea typeface="Calibri" pitchFamily="34" charset="-122"/>
                <a:cs typeface="Calibri" pitchFamily="34" charset="-120"/>
              </a:rPr>
              <a:t>Une commande de quarante articles reste un acte d'achat. Compter les lignes confondrait « client fidèle » et « gros panier ».</a:t>
            </a:r>
            <a:endParaRPr lang="en-US" sz="1350" dirty="0"/>
          </a:p>
        </p:txBody>
      </p:sp>
      <p:sp>
        <p:nvSpPr>
          <p:cNvPr id="25" name="Shape 23"/>
          <p:cNvSpPr/>
          <p:nvPr/>
        </p:nvSpPr>
        <p:spPr>
          <a:xfrm>
            <a:off x="548640" y="5806440"/>
            <a:ext cx="11091672" cy="566928"/>
          </a:xfrm>
          <a:prstGeom prst="roundRect">
            <a:avLst>
              <a:gd name="adj" fmla="val 11290"/>
            </a:avLst>
          </a:prstGeom>
          <a:solidFill>
            <a:srgbClr val="D9EBE7"/>
          </a:solidFill>
          <a:ln w="9525">
            <a:solidFill>
              <a:srgbClr val="CBD8D5"/>
            </a:solidFill>
            <a:prstDash val="solid"/>
          </a:ln>
        </p:spPr>
      </p:sp>
      <p:sp>
        <p:nvSpPr>
          <p:cNvPr id="26" name="Text 24"/>
          <p:cNvSpPr txBox="1"/>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6E62"/>
                </a:solidFill>
                <a:latin typeface="Calibri" pitchFamily="34" charset="0"/>
                <a:ea typeface="Calibri" pitchFamily="34" charset="-122"/>
                <a:cs typeface="Calibri" pitchFamily="34" charset="-120"/>
              </a:rPr>
              <a:t>776 582 transactions deviennent 5 852 lignes — une par client.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241280" cy="685800"/>
          </a:xfrm>
          <a:prstGeom prst="rect">
            <a:avLst/>
          </a:prstGeom>
          <a:noFill/>
          <a:ln/>
        </p:spPr>
        <p:txBody>
          <a:bodyPr wrap="square" lIns="0" tIns="0" rIns="0" bIns="0" rtlCol="0" anchor="ctr"/>
          <a:lstStyle/>
          <a:p>
            <a:pPr indent="0" marL="0">
              <a:buNone/>
            </a:pPr>
            <a:r>
              <a:rPr lang="en-US" sz="3200" b="1" dirty="0">
                <a:solidFill>
                  <a:srgbClr val="16201F"/>
                </a:solidFill>
                <a:latin typeface="Cambria" pitchFamily="34" charset="0"/>
                <a:ea typeface="Cambria" pitchFamily="34" charset="-122"/>
                <a:cs typeface="Cambria" pitchFamily="34" charset="-120"/>
              </a:rPr>
              <a:t>Pourquoi pas K-means sur les données brutes ?</a:t>
            </a:r>
            <a:endParaRPr lang="en-US" sz="3200" dirty="0"/>
          </a:p>
        </p:txBody>
      </p:sp>
      <p:sp>
        <p:nvSpPr>
          <p:cNvPr id="3" name="Shape 1"/>
          <p:cNvSpPr/>
          <p:nvPr/>
        </p:nvSpPr>
        <p:spPr>
          <a:xfrm>
            <a:off x="11018520" y="411480"/>
            <a:ext cx="621792" cy="621792"/>
          </a:xfrm>
          <a:prstGeom prst="ellipse">
            <a:avLst/>
          </a:prstGeom>
          <a:solidFill>
            <a:srgbClr val="D9EBE7"/>
          </a:solidFill>
          <a:ln/>
        </p:spPr>
      </p:sp>
      <p:sp>
        <p:nvSpPr>
          <p:cNvPr id="4" name="Text 2"/>
          <p:cNvSpPr txBox="1"/>
          <p:nvPr/>
        </p:nvSpPr>
        <p:spPr>
          <a:xfrm>
            <a:off x="11018520" y="411480"/>
            <a:ext cx="621792" cy="621792"/>
          </a:xfrm>
          <a:prstGeom prst="rect">
            <a:avLst/>
          </a:prstGeom>
          <a:noFill/>
          <a:ln/>
        </p:spPr>
        <p:txBody>
          <a:bodyPr wrap="square" lIns="0" tIns="0" rIns="0" bIns="0" rtlCol="0" anchor="ctr"/>
          <a:lstStyle/>
          <a:p>
            <a:pPr algn="ctr" indent="0" marL="0">
              <a:buNone/>
            </a:pPr>
            <a:r>
              <a:rPr lang="en-US" sz="1500" b="1" dirty="0">
                <a:solidFill>
                  <a:srgbClr val="0E6E62"/>
                </a:solidFill>
                <a:latin typeface="Calibri" pitchFamily="34" charset="0"/>
                <a:ea typeface="Calibri" pitchFamily="34" charset="-122"/>
                <a:cs typeface="Calibri" pitchFamily="34" charset="-120"/>
              </a:rPr>
              <a:t>2</a:t>
            </a:r>
            <a:endParaRPr lang="en-US" sz="1500" dirty="0"/>
          </a:p>
        </p:txBody>
      </p:sp>
      <p:pic>
        <p:nvPicPr>
          <p:cNvPr id="5" name="Image 0" descr="02_avant_apres_transformation.png">    </p:cNvPr>
          <p:cNvPicPr>
            <a:picLocks noChangeAspect="1"/>
          </p:cNvPicPr>
          <p:nvPr/>
        </p:nvPicPr>
        <p:blipFill>
          <a:blip r:embed="rId1"/>
          <a:srcRect l="0" r="0" t="0" b="0"/>
          <a:stretch/>
        </p:blipFill>
        <p:spPr>
          <a:xfrm>
            <a:off x="548640" y="1143000"/>
            <a:ext cx="7040880" cy="2743200"/>
          </a:xfrm>
          <a:prstGeom prst="rect">
            <a:avLst/>
          </a:prstGeom>
        </p:spPr>
      </p:pic>
      <p:sp>
        <p:nvSpPr>
          <p:cNvPr id="6" name="Text 3"/>
          <p:cNvSpPr txBox="1"/>
          <p:nvPr/>
        </p:nvSpPr>
        <p:spPr>
          <a:xfrm>
            <a:off x="548640" y="3931920"/>
            <a:ext cx="7040880" cy="365760"/>
          </a:xfrm>
          <a:prstGeom prst="rect">
            <a:avLst/>
          </a:prstGeom>
          <a:noFill/>
          <a:ln/>
        </p:spPr>
        <p:txBody>
          <a:bodyPr wrap="square" lIns="0" tIns="0" rIns="0" bIns="0" rtlCol="0" anchor="t"/>
          <a:lstStyle/>
          <a:p>
            <a:pPr indent="0" marL="0">
              <a:buNone/>
            </a:pPr>
            <a:r>
              <a:rPr lang="en-US" sz="1150" i="1" dirty="0">
                <a:solidFill>
                  <a:srgbClr val="5F6E6C"/>
                </a:solidFill>
                <a:latin typeface="Calibri" pitchFamily="34" charset="0"/>
                <a:ea typeface="Calibri" pitchFamily="34" charset="-122"/>
                <a:cs typeface="Calibri" pitchFamily="34" charset="-120"/>
              </a:rPr>
              <a:t>À gauche : quelques clients écrasent tout le nuage. À droite : après log et standardisation, la structure devient lisible.</a:t>
            </a:r>
            <a:endParaRPr lang="en-US" sz="11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863840" y="1234440"/>
          <a:ext cx="3776472" cy="914400"/>
        </p:xfrm>
        <a:graphic>
          <a:graphicData uri="http://schemas.openxmlformats.org/drawingml/2006/table">
            <a:tbl>
              <a:tblPr/>
              <a:tblGrid>
                <a:gridCol w="1490472"/>
                <a:gridCol w="1143000"/>
                <a:gridCol w="1143000"/>
              </a:tblGrid>
              <a:tr h="0">
                <a:tc>
                  <a:txBody>
                    <a:bodyPr/>
                    <a:lstStyle/>
                    <a:p>
                      <a:pPr algn="l" indent="0" marL="0">
                        <a:buNone/>
                      </a:pPr>
                      <a:r>
                        <a:rPr lang="en-US" sz="1250" b="1" dirty="0">
                          <a:solidFill>
                            <a:srgbClr val="16201F"/>
                          </a:solidFill>
                          <a:latin typeface="Calibri" pitchFamily="34" charset="0"/>
                          <a:ea typeface="Calibri" pitchFamily="34" charset="-122"/>
                          <a:cs typeface="Calibri" pitchFamily="34" charset="-120"/>
                        </a:rPr>
                        <a:t>Asymétrie</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D9EBE7"/>
                    </a:solidFill>
                  </a:tcPr>
                </a:tc>
                <a:tc>
                  <a:txBody>
                    <a:bodyPr/>
                    <a:lstStyle/>
                    <a:p>
                      <a:pPr algn="r" indent="0" marL="0">
                        <a:buNone/>
                      </a:pPr>
                      <a:r>
                        <a:rPr lang="en-US" sz="1250" b="1" dirty="0">
                          <a:solidFill>
                            <a:srgbClr val="16201F"/>
                          </a:solidFill>
                          <a:latin typeface="Calibri" pitchFamily="34" charset="0"/>
                          <a:ea typeface="Calibri" pitchFamily="34" charset="-122"/>
                          <a:cs typeface="Calibri" pitchFamily="34" charset="-120"/>
                        </a:rPr>
                        <a:t>Brute</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D9EBE7"/>
                    </a:solidFill>
                  </a:tcPr>
                </a:tc>
                <a:tc>
                  <a:txBody>
                    <a:bodyPr/>
                    <a:lstStyle/>
                    <a:p>
                      <a:pPr algn="r" indent="0" marL="0">
                        <a:buNone/>
                      </a:pPr>
                      <a:r>
                        <a:rPr lang="en-US" sz="1250" b="1" dirty="0">
                          <a:solidFill>
                            <a:srgbClr val="16201F"/>
                          </a:solidFill>
                          <a:latin typeface="Calibri" pitchFamily="34" charset="0"/>
                          <a:ea typeface="Calibri" pitchFamily="34" charset="-122"/>
                          <a:cs typeface="Calibri" pitchFamily="34" charset="-120"/>
                        </a:rPr>
                        <a:t>Log</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D9EBE7"/>
                    </a:solidFill>
                  </a:tcPr>
                </a:tc>
              </a:tr>
              <a:tr h="0">
                <a:tc>
                  <a:txBody>
                    <a:bodyPr/>
                    <a:lstStyle/>
                    <a:p>
                      <a:pPr algn="l" indent="0" marL="0">
                        <a:buNone/>
                      </a:pPr>
                      <a:r>
                        <a:rPr lang="en-US" sz="1250" dirty="0">
                          <a:solidFill>
                            <a:srgbClr val="16201F"/>
                          </a:solidFill>
                          <a:latin typeface="Calibri" pitchFamily="34" charset="0"/>
                          <a:ea typeface="Calibri" pitchFamily="34" charset="-122"/>
                          <a:cs typeface="Calibri" pitchFamily="34" charset="-120"/>
                        </a:rPr>
                        <a:t>Récence</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0,89</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−0,49</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6201F"/>
                          </a:solidFill>
                          <a:latin typeface="Calibri" pitchFamily="34" charset="0"/>
                          <a:ea typeface="Calibri" pitchFamily="34" charset="-122"/>
                          <a:cs typeface="Calibri" pitchFamily="34" charset="-120"/>
                        </a:rPr>
                        <a:t>Fréquence</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12,04</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r>
              <a:tr h="0">
                <a:tc>
                  <a:txBody>
                    <a:bodyPr/>
                    <a:lstStyle/>
                    <a:p>
                      <a:pPr algn="l" indent="0" marL="0">
                        <a:buNone/>
                      </a:pPr>
                      <a:r>
                        <a:rPr lang="en-US" sz="1250" dirty="0">
                          <a:solidFill>
                            <a:srgbClr val="16201F"/>
                          </a:solidFill>
                          <a:latin typeface="Calibri" pitchFamily="34" charset="0"/>
                          <a:ea typeface="Calibri" pitchFamily="34" charset="-122"/>
                          <a:cs typeface="Calibri" pitchFamily="34" charset="-120"/>
                        </a:rPr>
                        <a:t>Montant</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25,33</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0,27</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r>
            </a:tbl>
          </a:graphicData>
        </a:graphic>
      </p:graphicFrame>
      <p:sp>
        <p:nvSpPr>
          <p:cNvPr id="8" name="Shape 4"/>
          <p:cNvSpPr/>
          <p:nvPr/>
        </p:nvSpPr>
        <p:spPr>
          <a:xfrm>
            <a:off x="7863840" y="3200400"/>
            <a:ext cx="3776472" cy="2377440"/>
          </a:xfrm>
          <a:prstGeom prst="roundRect">
            <a:avLst>
              <a:gd name="adj" fmla="val 2692"/>
            </a:avLst>
          </a:prstGeom>
          <a:solidFill>
            <a:srgbClr val="D9EBE7"/>
          </a:solidFill>
          <a:ln w="9525">
            <a:solidFill>
              <a:srgbClr val="CBD8D5"/>
            </a:solidFill>
            <a:prstDash val="solid"/>
          </a:ln>
        </p:spPr>
      </p:sp>
      <p:sp>
        <p:nvSpPr>
          <p:cNvPr id="9" name="Text 5"/>
          <p:cNvSpPr txBox="1"/>
          <p:nvPr/>
        </p:nvSpPr>
        <p:spPr>
          <a:xfrm>
            <a:off x="8119872" y="3401568"/>
            <a:ext cx="3264408" cy="1965960"/>
          </a:xfrm>
          <a:prstGeom prst="rect">
            <a:avLst/>
          </a:prstGeom>
          <a:noFill/>
          <a:ln/>
        </p:spPr>
        <p:txBody>
          <a:bodyPr wrap="square" lIns="0" tIns="0" rIns="0" bIns="0" rtlCol="0" anchor="ctr"/>
          <a:lstStyle/>
          <a:p>
            <a:pPr indent="0" marL="0">
              <a:lnSpc>
                <a:spcPct val="120000"/>
              </a:lnSpc>
              <a:buNone/>
            </a:pPr>
            <a:r>
              <a:rPr lang="en-US" sz="1350" b="1" dirty="0">
                <a:solidFill>
                  <a:srgbClr val="16201F"/>
                </a:solidFill>
                <a:latin typeface="Calibri" pitchFamily="34" charset="0"/>
                <a:ea typeface="Calibri" pitchFamily="34" charset="-122"/>
                <a:cs typeface="Calibri" pitchFamily="34" charset="-120"/>
              </a:rPr>
              <a:t>Deux corrections distinctes</a:t>
            </a:r>
            <a:endParaRPr lang="en-US" sz="1350" dirty="0"/>
          </a:p>
          <a:p>
            <a:pPr indent="0" marL="0">
              <a:lnSpc>
                <a:spcPct val="120000"/>
              </a:lnSpc>
              <a:buNone/>
            </a:pPr>
            <a:r>
              <a:rPr lang="en-US" sz="1350" dirty="0">
                <a:solidFill>
                  <a:srgbClr val="16201F"/>
                </a:solidFill>
                <a:latin typeface="Calibri" pitchFamily="34" charset="0"/>
                <a:ea typeface="Calibri" pitchFamily="34" charset="-122"/>
                <a:cs typeface="Calibri" pitchFamily="34" charset="-120"/>
              </a:rPr>
              <a:t>Le log corrige l'asymétrie.</a:t>
            </a:r>
            <a:endParaRPr lang="en-US" sz="1350" dirty="0"/>
          </a:p>
          <a:p>
            <a:pPr indent="0" marL="0">
              <a:lnSpc>
                <a:spcPct val="120000"/>
              </a:lnSpc>
              <a:buNone/>
            </a:pPr>
            <a:r>
              <a:rPr lang="en-US" sz="1350" dirty="0">
                <a:solidFill>
                  <a:srgbClr val="16201F"/>
                </a:solidFill>
                <a:latin typeface="Calibri" pitchFamily="34" charset="0"/>
                <a:ea typeface="Calibri" pitchFamily="34" charset="-122"/>
                <a:cs typeface="Calibri" pitchFamily="34" charset="-120"/>
              </a:rPr>
              <a:t>La standardisation égalise le poids des trois variables.</a:t>
            </a:r>
            <a:endParaRPr lang="en-US" sz="1350" dirty="0"/>
          </a:p>
          <a:p>
            <a:pPr indent="0" marL="0">
              <a:lnSpc>
                <a:spcPct val="120000"/>
              </a:lnSpc>
              <a:buNone/>
            </a:pPr>
            <a:endParaRPr lang="en-US" sz="1350" dirty="0"/>
          </a:p>
          <a:p>
            <a:pPr indent="0" marL="0">
              <a:lnSpc>
                <a:spcPct val="120000"/>
              </a:lnSpc>
              <a:buNone/>
            </a:pPr>
            <a:r>
              <a:rPr lang="en-US" sz="1350" dirty="0">
                <a:solidFill>
                  <a:srgbClr val="16201F"/>
                </a:solidFill>
                <a:latin typeface="Calibri" pitchFamily="34" charset="0"/>
                <a:ea typeface="Calibri" pitchFamily="34" charset="-122"/>
                <a:cs typeface="Calibri" pitchFamily="34" charset="-120"/>
              </a:rPr>
              <a:t>L'une ne remplace pas l'autre.</a:t>
            </a:r>
            <a:endParaRPr lang="en-US" sz="1350" dirty="0"/>
          </a:p>
        </p:txBody>
      </p:sp>
      <p:sp>
        <p:nvSpPr>
          <p:cNvPr id="10" name="Shape 6"/>
          <p:cNvSpPr/>
          <p:nvPr/>
        </p:nvSpPr>
        <p:spPr>
          <a:xfrm>
            <a:off x="548640" y="5806440"/>
            <a:ext cx="11091672" cy="566928"/>
          </a:xfrm>
          <a:prstGeom prst="roundRect">
            <a:avLst>
              <a:gd name="adj" fmla="val 11290"/>
            </a:avLst>
          </a:prstGeom>
          <a:solidFill>
            <a:srgbClr val="D9EBE7"/>
          </a:solidFill>
          <a:ln w="9525">
            <a:solidFill>
              <a:srgbClr val="CBD8D5"/>
            </a:solidFill>
            <a:prstDash val="solid"/>
          </a:ln>
        </p:spPr>
      </p:sp>
      <p:sp>
        <p:nvSpPr>
          <p:cNvPr id="11" name="Text 7"/>
          <p:cNvSpPr txBox="1"/>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6E62"/>
                </a:solidFill>
                <a:latin typeface="Calibri" pitchFamily="34" charset="0"/>
                <a:ea typeface="Calibri" pitchFamily="34" charset="-122"/>
                <a:cs typeface="Calibri" pitchFamily="34" charset="-120"/>
              </a:rPr>
              <a:t>En brut, 100 £ → 200 £ et 10 000 £ → 10 100 £ sont le même écart. Le premier client a doublé sa valeur, le second a bougé de 1 %.</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241280" cy="685800"/>
          </a:xfrm>
          <a:prstGeom prst="rect">
            <a:avLst/>
          </a:prstGeom>
          <a:noFill/>
          <a:ln/>
        </p:spPr>
        <p:txBody>
          <a:bodyPr wrap="square" lIns="0" tIns="0" rIns="0" bIns="0" rtlCol="0" anchor="ctr"/>
          <a:lstStyle/>
          <a:p>
            <a:pPr indent="0" marL="0">
              <a:buNone/>
            </a:pPr>
            <a:r>
              <a:rPr lang="en-US" sz="3200" b="1" dirty="0">
                <a:solidFill>
                  <a:srgbClr val="16201F"/>
                </a:solidFill>
                <a:latin typeface="Cambria" pitchFamily="34" charset="0"/>
                <a:ea typeface="Cambria" pitchFamily="34" charset="-122"/>
                <a:cs typeface="Cambria" pitchFamily="34" charset="-120"/>
              </a:rPr>
              <a:t>Fréquence et Montant sont redondants</a:t>
            </a:r>
            <a:endParaRPr lang="en-US" sz="3200" dirty="0"/>
          </a:p>
        </p:txBody>
      </p:sp>
      <p:sp>
        <p:nvSpPr>
          <p:cNvPr id="3" name="Shape 1"/>
          <p:cNvSpPr/>
          <p:nvPr/>
        </p:nvSpPr>
        <p:spPr>
          <a:xfrm>
            <a:off x="11018520" y="411480"/>
            <a:ext cx="621792" cy="621792"/>
          </a:xfrm>
          <a:prstGeom prst="ellipse">
            <a:avLst/>
          </a:prstGeom>
          <a:solidFill>
            <a:srgbClr val="D9EBE7"/>
          </a:solidFill>
          <a:ln/>
        </p:spPr>
      </p:sp>
      <p:sp>
        <p:nvSpPr>
          <p:cNvPr id="4" name="Text 2"/>
          <p:cNvSpPr txBox="1"/>
          <p:nvPr/>
        </p:nvSpPr>
        <p:spPr>
          <a:xfrm>
            <a:off x="11018520" y="411480"/>
            <a:ext cx="621792" cy="621792"/>
          </a:xfrm>
          <a:prstGeom prst="rect">
            <a:avLst/>
          </a:prstGeom>
          <a:noFill/>
          <a:ln/>
        </p:spPr>
        <p:txBody>
          <a:bodyPr wrap="square" lIns="0" tIns="0" rIns="0" bIns="0" rtlCol="0" anchor="ctr"/>
          <a:lstStyle/>
          <a:p>
            <a:pPr algn="ctr" indent="0" marL="0">
              <a:buNone/>
            </a:pPr>
            <a:r>
              <a:rPr lang="en-US" sz="1500" b="1" dirty="0">
                <a:solidFill>
                  <a:srgbClr val="0E6E62"/>
                </a:solidFill>
                <a:latin typeface="Calibri" pitchFamily="34" charset="0"/>
                <a:ea typeface="Calibri" pitchFamily="34" charset="-122"/>
                <a:cs typeface="Calibri" pitchFamily="34" charset="-120"/>
              </a:rPr>
              <a:t>2</a:t>
            </a:r>
            <a:endParaRPr lang="en-US" sz="1500" dirty="0"/>
          </a:p>
        </p:txBody>
      </p:sp>
      <p:pic>
        <p:nvPicPr>
          <p:cNvPr id="5" name="Image 0" descr="02_correlations.png">    </p:cNvPr>
          <p:cNvPicPr>
            <a:picLocks noChangeAspect="1"/>
          </p:cNvPicPr>
          <p:nvPr/>
        </p:nvPicPr>
        <p:blipFill>
          <a:blip r:embed="rId1"/>
          <a:srcRect l="0" r="0" t="0" b="0"/>
          <a:stretch/>
        </p:blipFill>
        <p:spPr>
          <a:xfrm>
            <a:off x="548640" y="1188720"/>
            <a:ext cx="5943600" cy="2194560"/>
          </a:xfrm>
          <a:prstGeom prst="rect">
            <a:avLst/>
          </a:prstGeom>
        </p:spPr>
      </p:pic>
      <p:sp>
        <p:nvSpPr>
          <p:cNvPr id="6" name="Shape 3"/>
          <p:cNvSpPr/>
          <p:nvPr/>
        </p:nvSpPr>
        <p:spPr>
          <a:xfrm>
            <a:off x="6766560" y="1188720"/>
            <a:ext cx="4873752" cy="2194560"/>
          </a:xfrm>
          <a:prstGeom prst="roundRect">
            <a:avLst>
              <a:gd name="adj" fmla="val 2917"/>
            </a:avLst>
          </a:prstGeom>
          <a:solidFill>
            <a:srgbClr val="D9EBE7"/>
          </a:solidFill>
          <a:ln w="9525">
            <a:solidFill>
              <a:srgbClr val="CBD8D5"/>
            </a:solidFill>
            <a:prstDash val="solid"/>
          </a:ln>
        </p:spPr>
      </p:sp>
      <p:sp>
        <p:nvSpPr>
          <p:cNvPr id="7" name="Text 4"/>
          <p:cNvSpPr txBox="1"/>
          <p:nvPr/>
        </p:nvSpPr>
        <p:spPr>
          <a:xfrm>
            <a:off x="7022592" y="1371600"/>
            <a:ext cx="4361688" cy="365760"/>
          </a:xfrm>
          <a:prstGeom prst="rect">
            <a:avLst/>
          </a:prstGeom>
          <a:noFill/>
          <a:ln/>
        </p:spPr>
        <p:txBody>
          <a:bodyPr wrap="square" lIns="0" tIns="0" rIns="0" bIns="0" rtlCol="0" anchor="ctr"/>
          <a:lstStyle/>
          <a:p>
            <a:pPr indent="0" marL="0">
              <a:buNone/>
            </a:pPr>
            <a:r>
              <a:rPr lang="en-US" sz="1900" b="1" dirty="0">
                <a:solidFill>
                  <a:srgbClr val="16201F"/>
                </a:solidFill>
                <a:latin typeface="Cambria" pitchFamily="34" charset="0"/>
                <a:ea typeface="Cambria" pitchFamily="34" charset="-122"/>
                <a:cs typeface="Cambria" pitchFamily="34" charset="-120"/>
              </a:rPr>
              <a:t>Un résultat contre-intuitif</a:t>
            </a:r>
            <a:endParaRPr lang="en-US" sz="1900" dirty="0"/>
          </a:p>
        </p:txBody>
      </p:sp>
      <p:sp>
        <p:nvSpPr>
          <p:cNvPr id="8" name="Text 5"/>
          <p:cNvSpPr txBox="1"/>
          <p:nvPr/>
        </p:nvSpPr>
        <p:spPr>
          <a:xfrm>
            <a:off x="7022592" y="1783080"/>
            <a:ext cx="4361688" cy="1463040"/>
          </a:xfrm>
          <a:prstGeom prst="rect">
            <a:avLst/>
          </a:prstGeom>
          <a:noFill/>
          <a:ln/>
        </p:spPr>
        <p:txBody>
          <a:bodyPr wrap="square" lIns="0" tIns="0" rIns="0" bIns="0" rtlCol="0" anchor="ctr"/>
          <a:lstStyle/>
          <a:p>
            <a:pPr indent="0" marL="0">
              <a:lnSpc>
                <a:spcPct val="118000"/>
              </a:lnSpc>
              <a:buNone/>
            </a:pPr>
            <a:r>
              <a:rPr lang="en-US" sz="1350" dirty="0">
                <a:solidFill>
                  <a:srgbClr val="16201F"/>
                </a:solidFill>
                <a:latin typeface="Calibri" pitchFamily="34" charset="0"/>
                <a:ea typeface="Calibri" pitchFamily="34" charset="-122"/>
                <a:cs typeface="Calibri" pitchFamily="34" charset="-120"/>
              </a:rPr>
              <a:t>La corrélation passe de 0,62 sur données brutes à 0,85 après transformation.</a:t>
            </a:r>
            <a:endParaRPr lang="en-US" sz="1350" dirty="0"/>
          </a:p>
          <a:p>
            <a:pPr indent="0" marL="0">
              <a:lnSpc>
                <a:spcPct val="118000"/>
              </a:lnSpc>
              <a:buNone/>
            </a:pPr>
            <a:endParaRPr lang="en-US" sz="1350" dirty="0"/>
          </a:p>
          <a:p>
            <a:pPr indent="0" marL="0">
              <a:lnSpc>
                <a:spcPct val="118000"/>
              </a:lnSpc>
              <a:buNone/>
            </a:pPr>
            <a:r>
              <a:rPr lang="en-US" sz="1350" dirty="0">
                <a:solidFill>
                  <a:srgbClr val="16201F"/>
                </a:solidFill>
                <a:latin typeface="Calibri" pitchFamily="34" charset="0"/>
                <a:ea typeface="Calibri" pitchFamily="34" charset="-122"/>
                <a:cs typeface="Calibri" pitchFamily="34" charset="-120"/>
              </a:rPr>
              <a:t>Elle était artificiellement basse : les valeurs extrêmes cassaient la relation linéaire. Le log ne crée pas la corrélation, il la révèle.</a:t>
            </a:r>
            <a:endParaRPr lang="en-US" sz="1350" dirty="0"/>
          </a:p>
        </p:txBody>
      </p:sp>
      <p:sp>
        <p:nvSpPr>
          <p:cNvPr id="9" name="Text 6"/>
          <p:cNvSpPr txBox="1"/>
          <p:nvPr/>
        </p:nvSpPr>
        <p:spPr>
          <a:xfrm>
            <a:off x="548640" y="3611880"/>
            <a:ext cx="11091672" cy="365760"/>
          </a:xfrm>
          <a:prstGeom prst="rect">
            <a:avLst/>
          </a:prstGeom>
          <a:noFill/>
          <a:ln/>
        </p:spPr>
        <p:txBody>
          <a:bodyPr wrap="square" lIns="0" tIns="0" rIns="0" bIns="0" rtlCol="0" anchor="ctr"/>
          <a:lstStyle/>
          <a:p>
            <a:pPr indent="0" marL="0">
              <a:buNone/>
            </a:pPr>
            <a:r>
              <a:rPr lang="en-US" sz="1500" b="1" dirty="0">
                <a:solidFill>
                  <a:srgbClr val="0E6E62"/>
                </a:solidFill>
                <a:latin typeface="Calibri" pitchFamily="34" charset="0"/>
                <a:ea typeface="Calibri" pitchFamily="34" charset="-122"/>
                <a:cs typeface="Calibri" pitchFamily="34" charset="-120"/>
              </a:rPr>
              <a:t>Notre choix : assumer la redondance plutôt que la corriger</a:t>
            </a:r>
            <a:endParaRPr lang="en-US" sz="1500" dirty="0"/>
          </a:p>
        </p:txBody>
      </p:sp>
      <p:sp>
        <p:nvSpPr>
          <p:cNvPr id="10" name="Text 7"/>
          <p:cNvSpPr txBox="1"/>
          <p:nvPr/>
        </p:nvSpPr>
        <p:spPr>
          <a:xfrm>
            <a:off x="548640" y="4023360"/>
            <a:ext cx="11091672" cy="1645920"/>
          </a:xfrm>
          <a:prstGeom prst="rect">
            <a:avLst/>
          </a:prstGeom>
          <a:noFill/>
          <a:ln/>
        </p:spPr>
        <p:txBody>
          <a:bodyPr wrap="square" lIns="0" tIns="0" rIns="0" bIns="0" rtlCol="0" anchor="ctr"/>
          <a:lstStyle/>
          <a:p>
            <a:pPr marL="342900" indent="-342900">
              <a:lnSpc>
                <a:spcPct val="115000"/>
              </a:lnSpc>
              <a:spcAft>
                <a:spcPts val="1000"/>
              </a:spcAft>
              <a:buSzPct val="100000"/>
              <a:buChar char="•"/>
            </a:pPr>
            <a:r>
              <a:rPr lang="en-US" sz="1450" dirty="0">
                <a:solidFill>
                  <a:srgbClr val="16201F"/>
                </a:solidFill>
                <a:latin typeface="Calibri" pitchFamily="34" charset="0"/>
                <a:ea typeface="Calibri" pitchFamily="34" charset="-122"/>
                <a:cs typeface="Calibri" pitchFamily="34" charset="-120"/>
              </a:rPr>
              <a:t>Une PCA décorrélerait par construction — PC1 capte 76 % de la variance et forme un axe « valeur client »</a:t>
            </a:r>
            <a:endParaRPr lang="en-US" sz="1450" dirty="0"/>
          </a:p>
          <a:p>
            <a:pPr marL="342900" indent="-342900">
              <a:lnSpc>
                <a:spcPct val="115000"/>
              </a:lnSpc>
              <a:spcAft>
                <a:spcPts val="1000"/>
              </a:spcAft>
              <a:buSzPct val="100000"/>
              <a:buChar char="•"/>
            </a:pPr>
            <a:r>
              <a:rPr lang="en-US" sz="1450" dirty="0">
                <a:solidFill>
                  <a:srgbClr val="16201F"/>
                </a:solidFill>
                <a:latin typeface="Calibri" pitchFamily="34" charset="0"/>
                <a:ea typeface="Calibri" pitchFamily="34" charset="-122"/>
                <a:cs typeface="Calibri" pitchFamily="34" charset="-120"/>
              </a:rPr>
              <a:t>Mais elle exprimerait les centroïdes en composantes abstraites, illisibles pour un directeur marketing</a:t>
            </a:r>
            <a:endParaRPr lang="en-US" sz="1450" dirty="0"/>
          </a:p>
          <a:p>
            <a:pPr marL="342900" indent="-342900">
              <a:lnSpc>
                <a:spcPct val="115000"/>
              </a:lnSpc>
              <a:spcAft>
                <a:spcPts val="1000"/>
              </a:spcAft>
              <a:buSzPct val="100000"/>
              <a:buChar char="•"/>
            </a:pPr>
            <a:r>
              <a:rPr lang="en-US" sz="1450" dirty="0">
                <a:solidFill>
                  <a:srgbClr val="16201F"/>
                </a:solidFill>
                <a:latin typeface="Calibri" pitchFamily="34" charset="0"/>
                <a:ea typeface="Calibri" pitchFamily="34" charset="-122"/>
                <a:cs typeface="Calibri" pitchFamily="34" charset="-120"/>
              </a:rPr>
              <a:t>Des centroïdes en jours et en livres se défendent devant une direction ; une combinaison linéaire, non</a:t>
            </a:r>
            <a:endParaRPr lang="en-US" sz="1450" dirty="0"/>
          </a:p>
        </p:txBody>
      </p:sp>
      <p:sp>
        <p:nvSpPr>
          <p:cNvPr id="11" name="Shape 8"/>
          <p:cNvSpPr/>
          <p:nvPr/>
        </p:nvSpPr>
        <p:spPr>
          <a:xfrm>
            <a:off x="548640" y="5806440"/>
            <a:ext cx="11091672" cy="566928"/>
          </a:xfrm>
          <a:prstGeom prst="roundRect">
            <a:avLst>
              <a:gd name="adj" fmla="val 11290"/>
            </a:avLst>
          </a:prstGeom>
          <a:solidFill>
            <a:srgbClr val="D9EBE7"/>
          </a:solidFill>
          <a:ln w="9525">
            <a:solidFill>
              <a:srgbClr val="CBD8D5"/>
            </a:solidFill>
            <a:prstDash val="solid"/>
          </a:ln>
        </p:spPr>
      </p:sp>
      <p:sp>
        <p:nvSpPr>
          <p:cNvPr id="12" name="Text 9"/>
          <p:cNvSpPr txBox="1"/>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6E62"/>
                </a:solidFill>
                <a:latin typeface="Calibri" pitchFamily="34" charset="0"/>
                <a:ea typeface="Calibri" pitchFamily="34" charset="-122"/>
                <a:cs typeface="Calibri" pitchFamily="34" charset="-120"/>
              </a:rPr>
              <a:t>Nous acceptons donc que la segmentation soit d'abord structurée par la valeur client — ce qui correspond au besoin exprimé.</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241280" cy="685800"/>
          </a:xfrm>
          <a:prstGeom prst="rect">
            <a:avLst/>
          </a:prstGeom>
          <a:noFill/>
          <a:ln/>
        </p:spPr>
        <p:txBody>
          <a:bodyPr wrap="square" lIns="0" tIns="0" rIns="0" bIns="0" rtlCol="0" anchor="ctr"/>
          <a:lstStyle/>
          <a:p>
            <a:pPr indent="0" marL="0">
              <a:buNone/>
            </a:pPr>
            <a:r>
              <a:rPr lang="en-US" sz="3200" b="1" dirty="0">
                <a:solidFill>
                  <a:srgbClr val="16201F"/>
                </a:solidFill>
                <a:latin typeface="Cambria" pitchFamily="34" charset="0"/>
                <a:ea typeface="Cambria" pitchFamily="34" charset="-122"/>
                <a:cs typeface="Cambria" pitchFamily="34" charset="-120"/>
              </a:rPr>
              <a:t>Partie 3 — Le piège de la silhouette</a:t>
            </a:r>
            <a:endParaRPr lang="en-US" sz="3200" dirty="0"/>
          </a:p>
        </p:txBody>
      </p:sp>
      <p:sp>
        <p:nvSpPr>
          <p:cNvPr id="3" name="Shape 1"/>
          <p:cNvSpPr/>
          <p:nvPr/>
        </p:nvSpPr>
        <p:spPr>
          <a:xfrm>
            <a:off x="11018520" y="411480"/>
            <a:ext cx="621792" cy="621792"/>
          </a:xfrm>
          <a:prstGeom prst="ellipse">
            <a:avLst/>
          </a:prstGeom>
          <a:solidFill>
            <a:srgbClr val="D9EBE7"/>
          </a:solidFill>
          <a:ln/>
        </p:spPr>
      </p:sp>
      <p:sp>
        <p:nvSpPr>
          <p:cNvPr id="4" name="Text 2"/>
          <p:cNvSpPr txBox="1"/>
          <p:nvPr/>
        </p:nvSpPr>
        <p:spPr>
          <a:xfrm>
            <a:off x="11018520" y="411480"/>
            <a:ext cx="621792" cy="621792"/>
          </a:xfrm>
          <a:prstGeom prst="rect">
            <a:avLst/>
          </a:prstGeom>
          <a:noFill/>
          <a:ln/>
        </p:spPr>
        <p:txBody>
          <a:bodyPr wrap="square" lIns="0" tIns="0" rIns="0" bIns="0" rtlCol="0" anchor="ctr"/>
          <a:lstStyle/>
          <a:p>
            <a:pPr algn="ctr" indent="0" marL="0">
              <a:buNone/>
            </a:pPr>
            <a:r>
              <a:rPr lang="en-US" sz="1500" b="1" dirty="0">
                <a:solidFill>
                  <a:srgbClr val="0E6E62"/>
                </a:solidFill>
                <a:latin typeface="Calibri" pitchFamily="34" charset="0"/>
                <a:ea typeface="Calibri" pitchFamily="34" charset="-122"/>
                <a:cs typeface="Calibri" pitchFamily="34" charset="-120"/>
              </a:rPr>
              <a:t>3</a:t>
            </a:r>
            <a:endParaRPr lang="en-US" sz="1500" dirty="0"/>
          </a:p>
        </p:txBody>
      </p:sp>
      <p:pic>
        <p:nvPicPr>
          <p:cNvPr id="5" name="Image 0" descr="03_silhouette.png">    </p:cNvPr>
          <p:cNvPicPr>
            <a:picLocks noChangeAspect="1"/>
          </p:cNvPicPr>
          <p:nvPr/>
        </p:nvPicPr>
        <p:blipFill>
          <a:blip r:embed="rId1"/>
          <a:srcRect l="0" r="0" t="0" b="0"/>
          <a:stretch/>
        </p:blipFill>
        <p:spPr>
          <a:xfrm>
            <a:off x="548640" y="1188720"/>
            <a:ext cx="5029200" cy="2834640"/>
          </a:xfrm>
          <a:prstGeom prst="rect">
            <a:avLst/>
          </a:prstGeom>
        </p:spPr>
      </p:pic>
      <p:sp>
        <p:nvSpPr>
          <p:cNvPr id="6" name="Shape 3"/>
          <p:cNvSpPr/>
          <p:nvPr/>
        </p:nvSpPr>
        <p:spPr>
          <a:xfrm>
            <a:off x="5943600" y="1188720"/>
            <a:ext cx="5696712" cy="2834640"/>
          </a:xfrm>
          <a:prstGeom prst="roundRect">
            <a:avLst>
              <a:gd name="adj" fmla="val 2258"/>
            </a:avLst>
          </a:prstGeom>
          <a:solidFill>
            <a:srgbClr val="F6E9E1"/>
          </a:solidFill>
          <a:ln w="9525">
            <a:solidFill>
              <a:srgbClr val="CBD8D5"/>
            </a:solidFill>
            <a:prstDash val="solid"/>
          </a:ln>
        </p:spPr>
      </p:sp>
      <p:sp>
        <p:nvSpPr>
          <p:cNvPr id="7" name="Text 4"/>
          <p:cNvSpPr txBox="1"/>
          <p:nvPr/>
        </p:nvSpPr>
        <p:spPr>
          <a:xfrm>
            <a:off x="6199632" y="1417320"/>
            <a:ext cx="5184648" cy="411480"/>
          </a:xfrm>
          <a:prstGeom prst="rect">
            <a:avLst/>
          </a:prstGeom>
          <a:noFill/>
          <a:ln/>
        </p:spPr>
        <p:txBody>
          <a:bodyPr wrap="square" lIns="0" tIns="0" rIns="0" bIns="0" rtlCol="0" anchor="ctr"/>
          <a:lstStyle/>
          <a:p>
            <a:pPr indent="0" marL="0">
              <a:buNone/>
            </a:pPr>
            <a:r>
              <a:rPr lang="en-US" sz="2200" b="1" dirty="0">
                <a:solidFill>
                  <a:srgbClr val="8C4520"/>
                </a:solidFill>
                <a:latin typeface="Cambria" pitchFamily="34" charset="0"/>
                <a:ea typeface="Cambria" pitchFamily="34" charset="-122"/>
                <a:cs typeface="Cambria" pitchFamily="34" charset="-120"/>
              </a:rPr>
              <a:t>La métrique dit k = 2</a:t>
            </a:r>
            <a:endParaRPr lang="en-US" sz="2200" dirty="0"/>
          </a:p>
        </p:txBody>
      </p:sp>
      <p:sp>
        <p:nvSpPr>
          <p:cNvPr id="8" name="Text 5"/>
          <p:cNvSpPr txBox="1"/>
          <p:nvPr/>
        </p:nvSpPr>
        <p:spPr>
          <a:xfrm>
            <a:off x="6199632" y="1920240"/>
            <a:ext cx="5184648" cy="1965960"/>
          </a:xfrm>
          <a:prstGeom prst="rect">
            <a:avLst/>
          </a:prstGeom>
          <a:noFill/>
          <a:ln/>
        </p:spPr>
        <p:txBody>
          <a:bodyPr wrap="square" lIns="0" tIns="0" rIns="0" bIns="0" rtlCol="0" anchor="ctr"/>
          <a:lstStyle/>
          <a:p>
            <a:pPr indent="0" marL="0">
              <a:lnSpc>
                <a:spcPct val="120000"/>
              </a:lnSpc>
              <a:buNone/>
            </a:pPr>
            <a:r>
              <a:rPr lang="en-US" sz="1400" dirty="0">
                <a:solidFill>
                  <a:srgbClr val="16201F"/>
                </a:solidFill>
                <a:latin typeface="Calibri" pitchFamily="34" charset="0"/>
                <a:ea typeface="Calibri" pitchFamily="34" charset="-122"/>
                <a:cs typeface="Calibri" pitchFamily="34" charset="-120"/>
              </a:rPr>
              <a:t>La silhouette est maximale à k = 2 (0,437), loin devant toutes les autres valeurs.</a:t>
            </a:r>
            <a:endParaRPr lang="en-US" sz="1400" dirty="0"/>
          </a:p>
          <a:p>
            <a:pPr indent="0" marL="0">
              <a:lnSpc>
                <a:spcPct val="120000"/>
              </a:lnSpc>
              <a:buNone/>
            </a:pPr>
            <a:endParaRPr lang="en-US" sz="1400" dirty="0"/>
          </a:p>
          <a:p>
            <a:pPr indent="0" marL="0">
              <a:lnSpc>
                <a:spcPct val="120000"/>
              </a:lnSpc>
              <a:buNone/>
            </a:pPr>
            <a:r>
              <a:rPr lang="en-US" sz="1400" dirty="0">
                <a:solidFill>
                  <a:srgbClr val="16201F"/>
                </a:solidFill>
                <a:latin typeface="Calibri" pitchFamily="34" charset="0"/>
                <a:ea typeface="Calibri" pitchFamily="34" charset="-122"/>
                <a:cs typeface="Calibri" pitchFamily="34" charset="-120"/>
              </a:rPr>
              <a:t>En la suivant, nous livrerions deux segments : « clients actifs » et « clients partis ».</a:t>
            </a:r>
            <a:endParaRPr lang="en-US" sz="1400" dirty="0"/>
          </a:p>
          <a:p>
            <a:pPr indent="0" marL="0">
              <a:lnSpc>
                <a:spcPct val="120000"/>
              </a:lnSpc>
              <a:buNone/>
            </a:pPr>
            <a:endParaRPr lang="en-US" sz="1400" dirty="0"/>
          </a:p>
          <a:p>
            <a:pPr indent="0" marL="0">
              <a:lnSpc>
                <a:spcPct val="120000"/>
              </a:lnSpc>
              <a:buNone/>
            </a:pPr>
            <a:r>
              <a:rPr lang="en-US" sz="1400" dirty="0">
                <a:solidFill>
                  <a:srgbClr val="16201F"/>
                </a:solidFill>
                <a:latin typeface="Calibri" pitchFamily="34" charset="0"/>
                <a:ea typeface="Calibri" pitchFamily="34" charset="-122"/>
                <a:cs typeface="Calibri" pitchFamily="34" charset="-120"/>
              </a:rPr>
              <a:t>Techniquement optimal. Commercialement inutile — aucune campagne différenciée ne se construit là-dessus.</a:t>
            </a:r>
            <a:endParaRPr lang="en-US" sz="1400" dirty="0"/>
          </a:p>
        </p:txBody>
      </p:sp>
      <p:sp>
        <p:nvSpPr>
          <p:cNvPr id="9" name="Text 6"/>
          <p:cNvSpPr txBox="1"/>
          <p:nvPr/>
        </p:nvSpPr>
        <p:spPr>
          <a:xfrm>
            <a:off x="548640" y="4160520"/>
            <a:ext cx="11091672" cy="320040"/>
          </a:xfrm>
          <a:prstGeom prst="rect">
            <a:avLst/>
          </a:prstGeom>
          <a:noFill/>
          <a:ln/>
        </p:spPr>
        <p:txBody>
          <a:bodyPr wrap="square" lIns="0" tIns="0" rIns="0" bIns="0" rtlCol="0" anchor="ctr"/>
          <a:lstStyle/>
          <a:p>
            <a:pPr indent="0" marL="0">
              <a:buNone/>
            </a:pPr>
            <a:r>
              <a:rPr lang="en-US" sz="1450" b="1" dirty="0">
                <a:solidFill>
                  <a:srgbClr val="0E6E62"/>
                </a:solidFill>
                <a:latin typeface="Calibri" pitchFamily="34" charset="0"/>
                <a:ea typeface="Calibri" pitchFamily="34" charset="-122"/>
                <a:cs typeface="Calibri" pitchFamily="34" charset="-120"/>
              </a:rPr>
              <a:t>Quatre raisons de ne pas la suivre seule</a:t>
            </a:r>
            <a:endParaRPr lang="en-US" sz="1450" dirty="0"/>
          </a:p>
        </p:txBody>
      </p:sp>
      <p:sp>
        <p:nvSpPr>
          <p:cNvPr id="10" name="Shape 7"/>
          <p:cNvSpPr/>
          <p:nvPr/>
        </p:nvSpPr>
        <p:spPr>
          <a:xfrm>
            <a:off x="548640" y="4507992"/>
            <a:ext cx="2734056" cy="960120"/>
          </a:xfrm>
          <a:prstGeom prst="roundRect">
            <a:avLst>
              <a:gd name="adj" fmla="val 6667"/>
            </a:avLst>
          </a:prstGeom>
          <a:solidFill>
            <a:srgbClr val="F1F7F5"/>
          </a:solidFill>
          <a:ln w="9525">
            <a:solidFill>
              <a:srgbClr val="CBD8D5"/>
            </a:solidFill>
            <a:prstDash val="solid"/>
          </a:ln>
        </p:spPr>
      </p:sp>
      <p:sp>
        <p:nvSpPr>
          <p:cNvPr id="11" name="Text 8"/>
          <p:cNvSpPr txBox="1"/>
          <p:nvPr/>
        </p:nvSpPr>
        <p:spPr>
          <a:xfrm>
            <a:off x="731520" y="4617720"/>
            <a:ext cx="2368296" cy="777240"/>
          </a:xfrm>
          <a:prstGeom prst="rect">
            <a:avLst/>
          </a:prstGeom>
          <a:noFill/>
          <a:ln/>
        </p:spPr>
        <p:txBody>
          <a:bodyPr wrap="square" lIns="0" tIns="0" rIns="0" bIns="0" rtlCol="0" anchor="ctr"/>
          <a:lstStyle/>
          <a:p>
            <a:pPr indent="0" marL="0">
              <a:lnSpc>
                <a:spcPct val="110000"/>
              </a:lnSpc>
              <a:buNone/>
            </a:pPr>
            <a:r>
              <a:rPr lang="en-US" sz="1200" b="1" dirty="0">
                <a:solidFill>
                  <a:srgbClr val="0E6E62"/>
                </a:solidFill>
                <a:latin typeface="Calibri" pitchFamily="34" charset="0"/>
                <a:ea typeface="Calibri" pitchFamily="34" charset="-122"/>
                <a:cs typeface="Calibri" pitchFamily="34" charset="-120"/>
              </a:rPr>
              <a:t>Géométrie  </a:t>
            </a:r>
            <a:pPr indent="0" marL="0">
              <a:lnSpc>
                <a:spcPct val="110000"/>
              </a:lnSpc>
              <a:buNone/>
            </a:pPr>
            <a:r>
              <a:rPr lang="en-US" sz="1200" dirty="0">
                <a:solidFill>
                  <a:srgbClr val="16201F"/>
                </a:solidFill>
                <a:latin typeface="Calibri" pitchFamily="34" charset="0"/>
                <a:ea typeface="Calibri" pitchFamily="34" charset="-122"/>
                <a:cs typeface="Calibri" pitchFamily="34" charset="-120"/>
              </a:rPr>
              <a:t>Elle mesure la compacité,</a:t>
            </a:r>
            <a:endParaRPr lang="en-US" sz="1200" dirty="0"/>
          </a:p>
          <a:p>
            <a:pPr indent="0" marL="0">
              <a:lnSpc>
                <a:spcPct val="110000"/>
              </a:lnSpc>
              <a:buNone/>
            </a:pPr>
            <a:r>
              <a:rPr lang="en-US" sz="1200" dirty="0">
                <a:solidFill>
                  <a:srgbClr val="16201F"/>
                </a:solidFill>
                <a:latin typeface="Calibri" pitchFamily="34" charset="0"/>
                <a:ea typeface="Calibri" pitchFamily="34" charset="-122"/>
                <a:cs typeface="Calibri" pitchFamily="34" charset="-120"/>
              </a:rPr>
              <a:t>pas l'utilité métier</a:t>
            </a:r>
            <a:endParaRPr lang="en-US" sz="1200" dirty="0"/>
          </a:p>
        </p:txBody>
      </p:sp>
      <p:sp>
        <p:nvSpPr>
          <p:cNvPr id="12" name="Shape 9"/>
          <p:cNvSpPr/>
          <p:nvPr/>
        </p:nvSpPr>
        <p:spPr>
          <a:xfrm>
            <a:off x="3392424" y="4507992"/>
            <a:ext cx="2734056" cy="960120"/>
          </a:xfrm>
          <a:prstGeom prst="roundRect">
            <a:avLst>
              <a:gd name="adj" fmla="val 6667"/>
            </a:avLst>
          </a:prstGeom>
          <a:solidFill>
            <a:srgbClr val="F1F7F5"/>
          </a:solidFill>
          <a:ln w="9525">
            <a:solidFill>
              <a:srgbClr val="CBD8D5"/>
            </a:solidFill>
            <a:prstDash val="solid"/>
          </a:ln>
        </p:spPr>
      </p:sp>
      <p:sp>
        <p:nvSpPr>
          <p:cNvPr id="13" name="Text 10"/>
          <p:cNvSpPr txBox="1"/>
          <p:nvPr/>
        </p:nvSpPr>
        <p:spPr>
          <a:xfrm>
            <a:off x="3575304" y="4617720"/>
            <a:ext cx="2368296" cy="777240"/>
          </a:xfrm>
          <a:prstGeom prst="rect">
            <a:avLst/>
          </a:prstGeom>
          <a:noFill/>
          <a:ln/>
        </p:spPr>
        <p:txBody>
          <a:bodyPr wrap="square" lIns="0" tIns="0" rIns="0" bIns="0" rtlCol="0" anchor="ctr"/>
          <a:lstStyle/>
          <a:p>
            <a:pPr indent="0" marL="0">
              <a:lnSpc>
                <a:spcPct val="110000"/>
              </a:lnSpc>
              <a:buNone/>
            </a:pPr>
            <a:r>
              <a:rPr lang="en-US" sz="1200" b="1" dirty="0">
                <a:solidFill>
                  <a:srgbClr val="0E6E62"/>
                </a:solidFill>
                <a:latin typeface="Calibri" pitchFamily="34" charset="0"/>
                <a:ea typeface="Calibri" pitchFamily="34" charset="-122"/>
                <a:cs typeface="Calibri" pitchFamily="34" charset="-120"/>
              </a:rPr>
              <a:t>Biais  </a:t>
            </a:r>
            <a:pPr indent="0" marL="0">
              <a:lnSpc>
                <a:spcPct val="110000"/>
              </a:lnSpc>
              <a:buNone/>
            </a:pPr>
            <a:r>
              <a:rPr lang="en-US" sz="1200" dirty="0">
                <a:solidFill>
                  <a:srgbClr val="16201F"/>
                </a:solidFill>
                <a:latin typeface="Calibri" pitchFamily="34" charset="0"/>
                <a:ea typeface="Calibri" pitchFamily="34" charset="-122"/>
                <a:cs typeface="Calibri" pitchFamily="34" charset="-120"/>
              </a:rPr>
              <a:t>Elle favorise</a:t>
            </a:r>
            <a:endParaRPr lang="en-US" sz="1200" dirty="0"/>
          </a:p>
          <a:p>
            <a:pPr indent="0" marL="0">
              <a:lnSpc>
                <a:spcPct val="110000"/>
              </a:lnSpc>
              <a:buNone/>
            </a:pPr>
            <a:r>
              <a:rPr lang="en-US" sz="1200" dirty="0">
                <a:solidFill>
                  <a:srgbClr val="16201F"/>
                </a:solidFill>
                <a:latin typeface="Calibri" pitchFamily="34" charset="0"/>
                <a:ea typeface="Calibri" pitchFamily="34" charset="-122"/>
                <a:cs typeface="Calibri" pitchFamily="34" charset="-120"/>
              </a:rPr>
              <a:t>mécaniquement les petits k</a:t>
            </a:r>
            <a:endParaRPr lang="en-US" sz="1200" dirty="0"/>
          </a:p>
        </p:txBody>
      </p:sp>
      <p:sp>
        <p:nvSpPr>
          <p:cNvPr id="14" name="Shape 11"/>
          <p:cNvSpPr/>
          <p:nvPr/>
        </p:nvSpPr>
        <p:spPr>
          <a:xfrm>
            <a:off x="6236208" y="4507992"/>
            <a:ext cx="2734056" cy="960120"/>
          </a:xfrm>
          <a:prstGeom prst="roundRect">
            <a:avLst>
              <a:gd name="adj" fmla="val 6667"/>
            </a:avLst>
          </a:prstGeom>
          <a:solidFill>
            <a:srgbClr val="F1F7F5"/>
          </a:solidFill>
          <a:ln w="9525">
            <a:solidFill>
              <a:srgbClr val="CBD8D5"/>
            </a:solidFill>
            <a:prstDash val="solid"/>
          </a:ln>
        </p:spPr>
      </p:sp>
      <p:sp>
        <p:nvSpPr>
          <p:cNvPr id="15" name="Text 12"/>
          <p:cNvSpPr txBox="1"/>
          <p:nvPr/>
        </p:nvSpPr>
        <p:spPr>
          <a:xfrm>
            <a:off x="6419088" y="4617720"/>
            <a:ext cx="2368296" cy="777240"/>
          </a:xfrm>
          <a:prstGeom prst="rect">
            <a:avLst/>
          </a:prstGeom>
          <a:noFill/>
          <a:ln/>
        </p:spPr>
        <p:txBody>
          <a:bodyPr wrap="square" lIns="0" tIns="0" rIns="0" bIns="0" rtlCol="0" anchor="ctr"/>
          <a:lstStyle/>
          <a:p>
            <a:pPr indent="0" marL="0">
              <a:lnSpc>
                <a:spcPct val="110000"/>
              </a:lnSpc>
              <a:buNone/>
            </a:pPr>
            <a:r>
              <a:rPr lang="en-US" sz="1200" b="1" dirty="0">
                <a:solidFill>
                  <a:srgbClr val="0E6E62"/>
                </a:solidFill>
                <a:latin typeface="Calibri" pitchFamily="34" charset="0"/>
                <a:ea typeface="Calibri" pitchFamily="34" charset="-122"/>
                <a:cs typeface="Calibri" pitchFamily="34" charset="-120"/>
              </a:rPr>
              <a:t>Taille  </a:t>
            </a:r>
            <a:pPr indent="0" marL="0">
              <a:lnSpc>
                <a:spcPct val="110000"/>
              </a:lnSpc>
              <a:buNone/>
            </a:pPr>
            <a:r>
              <a:rPr lang="en-US" sz="1200" dirty="0">
                <a:solidFill>
                  <a:srgbClr val="16201F"/>
                </a:solidFill>
                <a:latin typeface="Calibri" pitchFamily="34" charset="0"/>
                <a:ea typeface="Calibri" pitchFamily="34" charset="-122"/>
                <a:cs typeface="Calibri" pitchFamily="34" charset="-120"/>
              </a:rPr>
              <a:t>Elle ignore un segment</a:t>
            </a:r>
            <a:endParaRPr lang="en-US" sz="1200" dirty="0"/>
          </a:p>
          <a:p>
            <a:pPr indent="0" marL="0">
              <a:lnSpc>
                <a:spcPct val="110000"/>
              </a:lnSpc>
              <a:buNone/>
            </a:pPr>
            <a:r>
              <a:rPr lang="en-US" sz="1200" dirty="0">
                <a:solidFill>
                  <a:srgbClr val="16201F"/>
                </a:solidFill>
                <a:latin typeface="Calibri" pitchFamily="34" charset="0"/>
                <a:ea typeface="Calibri" pitchFamily="34" charset="-122"/>
                <a:cs typeface="Calibri" pitchFamily="34" charset="-120"/>
              </a:rPr>
              <a:t>de 200 clients</a:t>
            </a:r>
            <a:endParaRPr lang="en-US" sz="1200" dirty="0"/>
          </a:p>
        </p:txBody>
      </p:sp>
      <p:sp>
        <p:nvSpPr>
          <p:cNvPr id="16" name="Shape 13"/>
          <p:cNvSpPr/>
          <p:nvPr/>
        </p:nvSpPr>
        <p:spPr>
          <a:xfrm>
            <a:off x="9079992" y="4507992"/>
            <a:ext cx="2734056" cy="960120"/>
          </a:xfrm>
          <a:prstGeom prst="roundRect">
            <a:avLst>
              <a:gd name="adj" fmla="val 6667"/>
            </a:avLst>
          </a:prstGeom>
          <a:solidFill>
            <a:srgbClr val="F1F7F5"/>
          </a:solidFill>
          <a:ln w="9525">
            <a:solidFill>
              <a:srgbClr val="CBD8D5"/>
            </a:solidFill>
            <a:prstDash val="solid"/>
          </a:ln>
        </p:spPr>
      </p:sp>
      <p:sp>
        <p:nvSpPr>
          <p:cNvPr id="17" name="Text 14"/>
          <p:cNvSpPr txBox="1"/>
          <p:nvPr/>
        </p:nvSpPr>
        <p:spPr>
          <a:xfrm>
            <a:off x="9262872" y="4617720"/>
            <a:ext cx="2368296" cy="777240"/>
          </a:xfrm>
          <a:prstGeom prst="rect">
            <a:avLst/>
          </a:prstGeom>
          <a:noFill/>
          <a:ln/>
        </p:spPr>
        <p:txBody>
          <a:bodyPr wrap="square" lIns="0" tIns="0" rIns="0" bIns="0" rtlCol="0" anchor="ctr"/>
          <a:lstStyle/>
          <a:p>
            <a:pPr indent="0" marL="0">
              <a:lnSpc>
                <a:spcPct val="110000"/>
              </a:lnSpc>
              <a:buNone/>
            </a:pPr>
            <a:r>
              <a:rPr lang="en-US" sz="1200" b="1" dirty="0">
                <a:solidFill>
                  <a:srgbClr val="0E6E62"/>
                </a:solidFill>
                <a:latin typeface="Calibri" pitchFamily="34" charset="0"/>
                <a:ea typeface="Calibri" pitchFamily="34" charset="-122"/>
                <a:cs typeface="Calibri" pitchFamily="34" charset="-120"/>
              </a:rPr>
              <a:t>Forme  </a:t>
            </a:r>
            <a:pPr indent="0" marL="0">
              <a:lnSpc>
                <a:spcPct val="110000"/>
              </a:lnSpc>
              <a:buNone/>
            </a:pPr>
            <a:r>
              <a:rPr lang="en-US" sz="1200" dirty="0">
                <a:solidFill>
                  <a:srgbClr val="16201F"/>
                </a:solidFill>
                <a:latin typeface="Calibri" pitchFamily="34" charset="0"/>
                <a:ea typeface="Calibri" pitchFamily="34" charset="-122"/>
                <a:cs typeface="Calibri" pitchFamily="34" charset="-120"/>
              </a:rPr>
              <a:t>Elle suppose des groupes</a:t>
            </a:r>
            <a:endParaRPr lang="en-US" sz="1200" dirty="0"/>
          </a:p>
          <a:p>
            <a:pPr indent="0" marL="0">
              <a:lnSpc>
                <a:spcPct val="110000"/>
              </a:lnSpc>
              <a:buNone/>
            </a:pPr>
            <a:r>
              <a:rPr lang="en-US" sz="1200" dirty="0">
                <a:solidFill>
                  <a:srgbClr val="16201F"/>
                </a:solidFill>
                <a:latin typeface="Calibri" pitchFamily="34" charset="0"/>
                <a:ea typeface="Calibri" pitchFamily="34" charset="-122"/>
                <a:cs typeface="Calibri" pitchFamily="34" charset="-120"/>
              </a:rPr>
              <a:t>convexes, pas un continuum</a:t>
            </a:r>
            <a:endParaRPr lang="en-US" sz="1200" dirty="0"/>
          </a:p>
        </p:txBody>
      </p:sp>
      <p:sp>
        <p:nvSpPr>
          <p:cNvPr id="18" name="Shape 15"/>
          <p:cNvSpPr/>
          <p:nvPr/>
        </p:nvSpPr>
        <p:spPr>
          <a:xfrm>
            <a:off x="548640" y="5687568"/>
            <a:ext cx="11091672" cy="566928"/>
          </a:xfrm>
          <a:prstGeom prst="roundRect">
            <a:avLst>
              <a:gd name="adj" fmla="val 11290"/>
            </a:avLst>
          </a:prstGeom>
          <a:solidFill>
            <a:srgbClr val="D9EBE7"/>
          </a:solidFill>
          <a:ln w="9525">
            <a:solidFill>
              <a:srgbClr val="CBD8D5"/>
            </a:solidFill>
            <a:prstDash val="solid"/>
          </a:ln>
        </p:spPr>
      </p:sp>
      <p:sp>
        <p:nvSpPr>
          <p:cNvPr id="19" name="Text 16"/>
          <p:cNvSpPr txBox="1"/>
          <p:nvPr/>
        </p:nvSpPr>
        <p:spPr>
          <a:xfrm>
            <a:off x="777240" y="5687568"/>
            <a:ext cx="10607040" cy="566928"/>
          </a:xfrm>
          <a:prstGeom prst="rect">
            <a:avLst/>
          </a:prstGeom>
          <a:noFill/>
          <a:ln/>
        </p:spPr>
        <p:txBody>
          <a:bodyPr wrap="square" lIns="0" tIns="0" rIns="0" bIns="0" rtlCol="0" anchor="ctr"/>
          <a:lstStyle/>
          <a:p>
            <a:pPr indent="0" marL="0">
              <a:buNone/>
            </a:pPr>
            <a:r>
              <a:rPr lang="en-US" sz="1400" b="1" dirty="0">
                <a:solidFill>
                  <a:srgbClr val="0E6E62"/>
                </a:solidFill>
                <a:latin typeface="Calibri" pitchFamily="34" charset="0"/>
                <a:ea typeface="Calibri" pitchFamily="34" charset="-122"/>
                <a:cs typeface="Calibri" pitchFamily="34" charset="-120"/>
              </a:rPr>
              <a:t>Ce qui nous intéresse n'est pas sa valeur absolue mais ses variations : elle chute de k=2 à k=3, puis remonte à k=4.</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241280" cy="685800"/>
          </a:xfrm>
          <a:prstGeom prst="rect">
            <a:avLst/>
          </a:prstGeom>
          <a:noFill/>
          <a:ln/>
        </p:spPr>
        <p:txBody>
          <a:bodyPr wrap="square" lIns="0" tIns="0" rIns="0" bIns="0" rtlCol="0" anchor="ctr"/>
          <a:lstStyle/>
          <a:p>
            <a:pPr indent="0" marL="0">
              <a:buNone/>
            </a:pPr>
            <a:r>
              <a:rPr lang="en-US" sz="3200" b="1" dirty="0">
                <a:solidFill>
                  <a:srgbClr val="16201F"/>
                </a:solidFill>
                <a:latin typeface="Cambria" pitchFamily="34" charset="0"/>
                <a:ea typeface="Cambria" pitchFamily="34" charset="-122"/>
                <a:cs typeface="Cambria" pitchFamily="34" charset="-120"/>
              </a:rPr>
              <a:t>Le coude ne tranche pas non plus</a:t>
            </a:r>
            <a:endParaRPr lang="en-US" sz="3200" dirty="0"/>
          </a:p>
        </p:txBody>
      </p:sp>
      <p:sp>
        <p:nvSpPr>
          <p:cNvPr id="3" name="Shape 1"/>
          <p:cNvSpPr/>
          <p:nvPr/>
        </p:nvSpPr>
        <p:spPr>
          <a:xfrm>
            <a:off x="11018520" y="411480"/>
            <a:ext cx="621792" cy="621792"/>
          </a:xfrm>
          <a:prstGeom prst="ellipse">
            <a:avLst/>
          </a:prstGeom>
          <a:solidFill>
            <a:srgbClr val="D9EBE7"/>
          </a:solidFill>
          <a:ln/>
        </p:spPr>
      </p:sp>
      <p:sp>
        <p:nvSpPr>
          <p:cNvPr id="4" name="Text 2"/>
          <p:cNvSpPr txBox="1"/>
          <p:nvPr/>
        </p:nvSpPr>
        <p:spPr>
          <a:xfrm>
            <a:off x="11018520" y="411480"/>
            <a:ext cx="621792" cy="621792"/>
          </a:xfrm>
          <a:prstGeom prst="rect">
            <a:avLst/>
          </a:prstGeom>
          <a:noFill/>
          <a:ln/>
        </p:spPr>
        <p:txBody>
          <a:bodyPr wrap="square" lIns="0" tIns="0" rIns="0" bIns="0" rtlCol="0" anchor="ctr"/>
          <a:lstStyle/>
          <a:p>
            <a:pPr algn="ctr" indent="0" marL="0">
              <a:buNone/>
            </a:pPr>
            <a:r>
              <a:rPr lang="en-US" sz="1500" b="1" dirty="0">
                <a:solidFill>
                  <a:srgbClr val="0E6E62"/>
                </a:solidFill>
                <a:latin typeface="Calibri" pitchFamily="34" charset="0"/>
                <a:ea typeface="Calibri" pitchFamily="34" charset="-122"/>
                <a:cs typeface="Calibri" pitchFamily="34" charset="-120"/>
              </a:rPr>
              <a:t>3</a:t>
            </a:r>
            <a:endParaRPr lang="en-US" sz="1500" dirty="0"/>
          </a:p>
        </p:txBody>
      </p:sp>
      <p:pic>
        <p:nvPicPr>
          <p:cNvPr id="5" name="Image 0" descr="03_coude.png">    </p:cNvPr>
          <p:cNvPicPr>
            <a:picLocks noChangeAspect="1"/>
          </p:cNvPicPr>
          <p:nvPr/>
        </p:nvPicPr>
        <p:blipFill>
          <a:blip r:embed="rId1"/>
          <a:srcRect l="0" r="0" t="0" b="0"/>
          <a:stretch/>
        </p:blipFill>
        <p:spPr>
          <a:xfrm>
            <a:off x="548640" y="1234440"/>
            <a:ext cx="7132320" cy="2606040"/>
          </a:xfrm>
          <a:prstGeom prst="rect">
            <a:avLst/>
          </a:prstGeom>
        </p:spPr>
      </p:pic>
      <p:sp>
        <p:nvSpPr>
          <p:cNvPr id="6" name="Text 3"/>
          <p:cNvSpPr txBox="1"/>
          <p:nvPr/>
        </p:nvSpPr>
        <p:spPr>
          <a:xfrm>
            <a:off x="548640" y="3931920"/>
            <a:ext cx="7132320" cy="365760"/>
          </a:xfrm>
          <a:prstGeom prst="rect">
            <a:avLst/>
          </a:prstGeom>
          <a:noFill/>
          <a:ln/>
        </p:spPr>
        <p:txBody>
          <a:bodyPr wrap="square" lIns="0" tIns="0" rIns="0" bIns="0" rtlCol="0" anchor="t"/>
          <a:lstStyle/>
          <a:p>
            <a:pPr indent="0" marL="0">
              <a:buNone/>
            </a:pPr>
            <a:r>
              <a:rPr lang="en-US" sz="1150" i="1" dirty="0">
                <a:solidFill>
                  <a:srgbClr val="5F6E6C"/>
                </a:solidFill>
                <a:latin typeface="Calibri" pitchFamily="34" charset="0"/>
                <a:ea typeface="Calibri" pitchFamily="34" charset="-122"/>
                <a:cs typeface="Calibri" pitchFamily="34" charset="-120"/>
              </a:rPr>
              <a:t>Le gain marginal fléchit progressivement entre k=3 et k=5, sans angle net.</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955280" y="1234440"/>
          <a:ext cx="3685032" cy="914400"/>
        </p:xfrm>
        <a:graphic>
          <a:graphicData uri="http://schemas.openxmlformats.org/drawingml/2006/table">
            <a:tbl>
              <a:tblPr/>
              <a:tblGrid>
                <a:gridCol w="1600200"/>
                <a:gridCol w="2084832"/>
              </a:tblGrid>
              <a:tr h="0">
                <a:tc>
                  <a:txBody>
                    <a:bodyPr/>
                    <a:lstStyle/>
                    <a:p>
                      <a:pPr algn="l" indent="0" marL="0">
                        <a:buNone/>
                      </a:pPr>
                      <a:r>
                        <a:rPr lang="en-US" sz="1400" b="1" dirty="0">
                          <a:solidFill>
                            <a:srgbClr val="16201F"/>
                          </a:solidFill>
                          <a:latin typeface="Calibri" pitchFamily="34" charset="0"/>
                          <a:ea typeface="Calibri" pitchFamily="34" charset="-122"/>
                          <a:cs typeface="Calibri" pitchFamily="34" charset="-120"/>
                        </a:rPr>
                        <a:t>Passer à</a:t>
                      </a:r>
                      <a:endParaRPr lang="en-US" sz="14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D9EBE7"/>
                    </a:solidFill>
                  </a:tcPr>
                </a:tc>
                <a:tc>
                  <a:txBody>
                    <a:bodyPr/>
                    <a:lstStyle/>
                    <a:p>
                      <a:pPr algn="r" indent="0" marL="0">
                        <a:buNone/>
                      </a:pPr>
                      <a:r>
                        <a:rPr lang="en-US" sz="1400" b="1" dirty="0">
                          <a:solidFill>
                            <a:srgbClr val="16201F"/>
                          </a:solidFill>
                          <a:latin typeface="Calibri" pitchFamily="34" charset="0"/>
                          <a:ea typeface="Calibri" pitchFamily="34" charset="-122"/>
                          <a:cs typeface="Calibri" pitchFamily="34" charset="-120"/>
                        </a:rPr>
                        <a:t>Gain d'inertie</a:t>
                      </a:r>
                      <a:endParaRPr lang="en-US" sz="14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D9EBE7"/>
                    </a:solidFill>
                  </a:tcPr>
                </a:tc>
              </a:tr>
              <a:tr h="0">
                <a:tc>
                  <a:txBody>
                    <a:bodyPr/>
                    <a:lstStyle/>
                    <a:p>
                      <a:pPr algn="l" indent="0" marL="0">
                        <a:buNone/>
                      </a:pPr>
                      <a:r>
                        <a:rPr lang="en-US" sz="1400" dirty="0">
                          <a:solidFill>
                            <a:srgbClr val="16201F"/>
                          </a:solidFill>
                          <a:latin typeface="Calibri" pitchFamily="34" charset="0"/>
                          <a:ea typeface="Calibri" pitchFamily="34" charset="-122"/>
                          <a:cs typeface="Calibri" pitchFamily="34" charset="-120"/>
                        </a:rPr>
                        <a:t>k = 3</a:t>
                      </a:r>
                      <a:endParaRPr lang="en-US" sz="14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6201F"/>
                          </a:solidFill>
                          <a:latin typeface="Calibri" pitchFamily="34" charset="0"/>
                          <a:ea typeface="Calibri" pitchFamily="34" charset="-122"/>
                          <a:cs typeface="Calibri" pitchFamily="34" charset="-120"/>
                        </a:rPr>
                        <a:t>2 224</a:t>
                      </a:r>
                      <a:endParaRPr lang="en-US" sz="14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r>
              <a:tr h="0">
                <a:tc>
                  <a:txBody>
                    <a:bodyPr/>
                    <a:lstStyle/>
                    <a:p>
                      <a:pPr algn="l" indent="0" marL="0">
                        <a:buNone/>
                      </a:pPr>
                      <a:r>
                        <a:rPr lang="en-US" sz="1400" dirty="0">
                          <a:solidFill>
                            <a:srgbClr val="16201F"/>
                          </a:solidFill>
                          <a:latin typeface="Calibri" pitchFamily="34" charset="0"/>
                          <a:ea typeface="Calibri" pitchFamily="34" charset="-122"/>
                          <a:cs typeface="Calibri" pitchFamily="34" charset="-120"/>
                        </a:rPr>
                        <a:t>k = 4</a:t>
                      </a:r>
                      <a:endParaRPr lang="en-US" sz="14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400" dirty="0">
                          <a:solidFill>
                            <a:srgbClr val="16201F"/>
                          </a:solidFill>
                          <a:latin typeface="Calibri" pitchFamily="34" charset="0"/>
                          <a:ea typeface="Calibri" pitchFamily="34" charset="-122"/>
                          <a:cs typeface="Calibri" pitchFamily="34" charset="-120"/>
                        </a:rPr>
                        <a:t>1 430</a:t>
                      </a:r>
                      <a:endParaRPr lang="en-US" sz="14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r>
              <a:tr h="0">
                <a:tc>
                  <a:txBody>
                    <a:bodyPr/>
                    <a:lstStyle/>
                    <a:p>
                      <a:pPr algn="l" indent="0" marL="0">
                        <a:buNone/>
                      </a:pPr>
                      <a:r>
                        <a:rPr lang="en-US" sz="1400" dirty="0">
                          <a:solidFill>
                            <a:srgbClr val="16201F"/>
                          </a:solidFill>
                          <a:latin typeface="Calibri" pitchFamily="34" charset="0"/>
                          <a:ea typeface="Calibri" pitchFamily="34" charset="-122"/>
                          <a:cs typeface="Calibri" pitchFamily="34" charset="-120"/>
                        </a:rPr>
                        <a:t>k = 5</a:t>
                      </a:r>
                      <a:endParaRPr lang="en-US" sz="14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6201F"/>
                          </a:solidFill>
                          <a:latin typeface="Calibri" pitchFamily="34" charset="0"/>
                          <a:ea typeface="Calibri" pitchFamily="34" charset="-122"/>
                          <a:cs typeface="Calibri" pitchFamily="34" charset="-120"/>
                        </a:rPr>
                        <a:t>818</a:t>
                      </a:r>
                      <a:endParaRPr lang="en-US" sz="14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r>
              <a:tr h="0">
                <a:tc>
                  <a:txBody>
                    <a:bodyPr/>
                    <a:lstStyle/>
                    <a:p>
                      <a:pPr algn="l" indent="0" marL="0">
                        <a:buNone/>
                      </a:pPr>
                      <a:r>
                        <a:rPr lang="en-US" sz="1400" dirty="0">
                          <a:solidFill>
                            <a:srgbClr val="16201F"/>
                          </a:solidFill>
                          <a:latin typeface="Calibri" pitchFamily="34" charset="0"/>
                          <a:ea typeface="Calibri" pitchFamily="34" charset="-122"/>
                          <a:cs typeface="Calibri" pitchFamily="34" charset="-120"/>
                        </a:rPr>
                        <a:t>k = 6</a:t>
                      </a:r>
                      <a:endParaRPr lang="en-US" sz="14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400" dirty="0">
                          <a:solidFill>
                            <a:srgbClr val="16201F"/>
                          </a:solidFill>
                          <a:latin typeface="Calibri" pitchFamily="34" charset="0"/>
                          <a:ea typeface="Calibri" pitchFamily="34" charset="-122"/>
                          <a:cs typeface="Calibri" pitchFamily="34" charset="-120"/>
                        </a:rPr>
                        <a:t>541</a:t>
                      </a:r>
                      <a:endParaRPr lang="en-US" sz="140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r>
            </a:tbl>
          </a:graphicData>
        </a:graphic>
      </p:graphicFrame>
      <p:sp>
        <p:nvSpPr>
          <p:cNvPr id="8" name="Shape 4"/>
          <p:cNvSpPr/>
          <p:nvPr/>
        </p:nvSpPr>
        <p:spPr>
          <a:xfrm>
            <a:off x="7955280" y="3657600"/>
            <a:ext cx="3685032" cy="1783080"/>
          </a:xfrm>
          <a:prstGeom prst="roundRect">
            <a:avLst>
              <a:gd name="adj" fmla="val 3590"/>
            </a:avLst>
          </a:prstGeom>
          <a:solidFill>
            <a:srgbClr val="D9EBE7"/>
          </a:solidFill>
          <a:ln w="9525">
            <a:solidFill>
              <a:srgbClr val="CBD8D5"/>
            </a:solidFill>
            <a:prstDash val="solid"/>
          </a:ln>
        </p:spPr>
      </p:sp>
      <p:sp>
        <p:nvSpPr>
          <p:cNvPr id="9" name="Text 5"/>
          <p:cNvSpPr txBox="1"/>
          <p:nvPr/>
        </p:nvSpPr>
        <p:spPr>
          <a:xfrm>
            <a:off x="8211312" y="3858768"/>
            <a:ext cx="3172968" cy="1417320"/>
          </a:xfrm>
          <a:prstGeom prst="rect">
            <a:avLst/>
          </a:prstGeom>
          <a:noFill/>
          <a:ln/>
        </p:spPr>
        <p:txBody>
          <a:bodyPr wrap="square" lIns="0" tIns="0" rIns="0" bIns="0" rtlCol="0" anchor="ctr"/>
          <a:lstStyle/>
          <a:p>
            <a:pPr indent="0" marL="0">
              <a:lnSpc>
                <a:spcPct val="115000"/>
              </a:lnSpc>
              <a:buNone/>
            </a:pPr>
            <a:r>
              <a:rPr lang="en-US" sz="1350" b="1" dirty="0">
                <a:solidFill>
                  <a:srgbClr val="16201F"/>
                </a:solidFill>
                <a:latin typeface="Calibri" pitchFamily="34" charset="0"/>
                <a:ea typeface="Calibri" pitchFamily="34" charset="-122"/>
                <a:cs typeface="Calibri" pitchFamily="34" charset="-120"/>
              </a:rPr>
              <a:t>Limite connue de la méthode</a:t>
            </a:r>
            <a:endParaRPr lang="en-US" sz="1350" dirty="0"/>
          </a:p>
          <a:p>
            <a:pPr indent="0" marL="0">
              <a:lnSpc>
                <a:spcPct val="115000"/>
              </a:lnSpc>
              <a:buNone/>
            </a:pPr>
            <a:r>
              <a:rPr lang="en-US" sz="1350" dirty="0">
                <a:solidFill>
                  <a:srgbClr val="16201F"/>
                </a:solidFill>
                <a:latin typeface="Calibri" pitchFamily="34" charset="0"/>
                <a:ea typeface="Calibri" pitchFamily="34" charset="-122"/>
                <a:cs typeface="Calibri" pitchFamily="34" charset="-120"/>
              </a:rPr>
              <a:t>Elle repose sur une lecture visuelle. Trois personnes peuvent voir le coude à trois endroits différents.</a:t>
            </a:r>
            <a:endParaRPr lang="en-US" sz="1350" dirty="0"/>
          </a:p>
        </p:txBody>
      </p:sp>
      <p:sp>
        <p:nvSpPr>
          <p:cNvPr id="10" name="Text 6"/>
          <p:cNvSpPr txBox="1"/>
          <p:nvPr/>
        </p:nvSpPr>
        <p:spPr>
          <a:xfrm>
            <a:off x="548640" y="4434840"/>
            <a:ext cx="7132320" cy="457200"/>
          </a:xfrm>
          <a:prstGeom prst="rect">
            <a:avLst/>
          </a:prstGeom>
          <a:noFill/>
          <a:ln/>
        </p:spPr>
        <p:txBody>
          <a:bodyPr wrap="square" lIns="0" tIns="0" rIns="0" bIns="0" rtlCol="0" anchor="ctr"/>
          <a:lstStyle/>
          <a:p>
            <a:pPr indent="0" marL="0">
              <a:buNone/>
            </a:pPr>
            <a:r>
              <a:rPr lang="en-US" sz="1400" b="1" dirty="0">
                <a:solidFill>
                  <a:srgbClr val="0E6E62"/>
                </a:solidFill>
                <a:latin typeface="Calibri" pitchFamily="34" charset="0"/>
                <a:ea typeface="Calibri" pitchFamily="34" charset="-122"/>
                <a:cs typeface="Calibri" pitchFamily="34" charset="-120"/>
              </a:rPr>
              <a:t>Les métriques cadrent la zone ; elles ne désignent pas la valeur.</a:t>
            </a:r>
            <a:endParaRPr lang="en-US" sz="1400" dirty="0"/>
          </a:p>
        </p:txBody>
      </p:sp>
      <p:sp>
        <p:nvSpPr>
          <p:cNvPr id="11" name="Shape 7"/>
          <p:cNvSpPr/>
          <p:nvPr/>
        </p:nvSpPr>
        <p:spPr>
          <a:xfrm>
            <a:off x="548640" y="5806440"/>
            <a:ext cx="11091672" cy="566928"/>
          </a:xfrm>
          <a:prstGeom prst="roundRect">
            <a:avLst>
              <a:gd name="adj" fmla="val 11290"/>
            </a:avLst>
          </a:prstGeom>
          <a:solidFill>
            <a:srgbClr val="D9EBE7"/>
          </a:solidFill>
          <a:ln w="9525">
            <a:solidFill>
              <a:srgbClr val="CBD8D5"/>
            </a:solidFill>
            <a:prstDash val="solid"/>
          </a:ln>
        </p:spPr>
      </p:sp>
      <p:sp>
        <p:nvSpPr>
          <p:cNvPr id="12" name="Text 8"/>
          <p:cNvSpPr txBox="1"/>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6E62"/>
                </a:solidFill>
                <a:latin typeface="Calibri" pitchFamily="34" charset="0"/>
                <a:ea typeface="Calibri" pitchFamily="34" charset="-122"/>
                <a:cs typeface="Calibri" pitchFamily="34" charset="-120"/>
              </a:rPr>
              <a:t>Le coude délimite une zone — k entre 3 et 5 — mais ne désigne pas une valeur. Il faut un critère qui tranche.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241280" cy="685800"/>
          </a:xfrm>
          <a:prstGeom prst="rect">
            <a:avLst/>
          </a:prstGeom>
          <a:noFill/>
          <a:ln/>
        </p:spPr>
        <p:txBody>
          <a:bodyPr wrap="square" lIns="0" tIns="0" rIns="0" bIns="0" rtlCol="0" anchor="ctr"/>
          <a:lstStyle/>
          <a:p>
            <a:pPr indent="0" marL="0">
              <a:buNone/>
            </a:pPr>
            <a:r>
              <a:rPr lang="en-US" sz="3200" b="1" dirty="0">
                <a:solidFill>
                  <a:srgbClr val="16201F"/>
                </a:solidFill>
                <a:latin typeface="Cambria" pitchFamily="34" charset="0"/>
                <a:ea typeface="Cambria" pitchFamily="34" charset="-122"/>
                <a:cs typeface="Cambria" pitchFamily="34" charset="-120"/>
              </a:rPr>
              <a:t>La stabilité : notre meilleure preuve</a:t>
            </a:r>
            <a:endParaRPr lang="en-US" sz="3200" dirty="0"/>
          </a:p>
        </p:txBody>
      </p:sp>
      <p:sp>
        <p:nvSpPr>
          <p:cNvPr id="3" name="Shape 1"/>
          <p:cNvSpPr/>
          <p:nvPr/>
        </p:nvSpPr>
        <p:spPr>
          <a:xfrm>
            <a:off x="11018520" y="411480"/>
            <a:ext cx="621792" cy="621792"/>
          </a:xfrm>
          <a:prstGeom prst="ellipse">
            <a:avLst/>
          </a:prstGeom>
          <a:solidFill>
            <a:srgbClr val="D9EBE7"/>
          </a:solidFill>
          <a:ln/>
        </p:spPr>
      </p:sp>
      <p:sp>
        <p:nvSpPr>
          <p:cNvPr id="4" name="Text 2"/>
          <p:cNvSpPr txBox="1"/>
          <p:nvPr/>
        </p:nvSpPr>
        <p:spPr>
          <a:xfrm>
            <a:off x="11018520" y="411480"/>
            <a:ext cx="621792" cy="621792"/>
          </a:xfrm>
          <a:prstGeom prst="rect">
            <a:avLst/>
          </a:prstGeom>
          <a:noFill/>
          <a:ln/>
        </p:spPr>
        <p:txBody>
          <a:bodyPr wrap="square" lIns="0" tIns="0" rIns="0" bIns="0" rtlCol="0" anchor="ctr"/>
          <a:lstStyle/>
          <a:p>
            <a:pPr algn="ctr" indent="0" marL="0">
              <a:buNone/>
            </a:pPr>
            <a:r>
              <a:rPr lang="en-US" sz="1500" b="1" dirty="0">
                <a:solidFill>
                  <a:srgbClr val="0E6E62"/>
                </a:solidFill>
                <a:latin typeface="Calibri" pitchFamily="34" charset="0"/>
                <a:ea typeface="Calibri" pitchFamily="34" charset="-122"/>
                <a:cs typeface="Calibri" pitchFamily="34" charset="-120"/>
              </a:rPr>
              <a:t>3</a:t>
            </a:r>
            <a:endParaRPr lang="en-US" sz="1500" dirty="0"/>
          </a:p>
        </p:txBody>
      </p:sp>
      <p:pic>
        <p:nvPicPr>
          <p:cNvPr id="5" name="Image 0" descr="03_stabilite.png">    </p:cNvPr>
          <p:cNvPicPr>
            <a:picLocks noChangeAspect="1"/>
          </p:cNvPicPr>
          <p:nvPr/>
        </p:nvPicPr>
        <p:blipFill>
          <a:blip r:embed="rId1"/>
          <a:srcRect l="0" r="0" t="0" b="0"/>
          <a:stretch/>
        </p:blipFill>
        <p:spPr>
          <a:xfrm>
            <a:off x="548640" y="1188720"/>
            <a:ext cx="5120640" cy="2743200"/>
          </a:xfrm>
          <a:prstGeom prst="rect">
            <a:avLst/>
          </a:prstGeom>
        </p:spPr>
      </p:pic>
      <p:sp>
        <p:nvSpPr>
          <p:cNvPr id="6" name="Shape 3"/>
          <p:cNvSpPr/>
          <p:nvPr/>
        </p:nvSpPr>
        <p:spPr>
          <a:xfrm>
            <a:off x="6035040" y="1188720"/>
            <a:ext cx="5605272" cy="2743200"/>
          </a:xfrm>
          <a:prstGeom prst="roundRect">
            <a:avLst>
              <a:gd name="adj" fmla="val 2333"/>
            </a:avLst>
          </a:prstGeom>
          <a:solidFill>
            <a:srgbClr val="F1F7F5"/>
          </a:solidFill>
          <a:ln w="9525">
            <a:solidFill>
              <a:srgbClr val="CBD8D5"/>
            </a:solidFill>
            <a:prstDash val="solid"/>
          </a:ln>
        </p:spPr>
      </p:sp>
      <p:sp>
        <p:nvSpPr>
          <p:cNvPr id="7" name="Text 4"/>
          <p:cNvSpPr txBox="1"/>
          <p:nvPr/>
        </p:nvSpPr>
        <p:spPr>
          <a:xfrm>
            <a:off x="6291072" y="1371600"/>
            <a:ext cx="5093208" cy="365760"/>
          </a:xfrm>
          <a:prstGeom prst="rect">
            <a:avLst/>
          </a:prstGeom>
          <a:noFill/>
          <a:ln/>
        </p:spPr>
        <p:txBody>
          <a:bodyPr wrap="square" lIns="0" tIns="0" rIns="0" bIns="0" rtlCol="0" anchor="ctr"/>
          <a:lstStyle/>
          <a:p>
            <a:pPr indent="0" marL="0">
              <a:buNone/>
            </a:pPr>
            <a:r>
              <a:rPr lang="en-US" sz="1900" b="1" dirty="0">
                <a:solidFill>
                  <a:srgbClr val="16201F"/>
                </a:solidFill>
                <a:latin typeface="Cambria" pitchFamily="34" charset="0"/>
                <a:ea typeface="Cambria" pitchFamily="34" charset="-122"/>
                <a:cs typeface="Cambria" pitchFamily="34" charset="-120"/>
              </a:rPr>
              <a:t>Le principe</a:t>
            </a:r>
            <a:endParaRPr lang="en-US" sz="1900" dirty="0"/>
          </a:p>
        </p:txBody>
      </p:sp>
      <p:sp>
        <p:nvSpPr>
          <p:cNvPr id="8" name="Text 5"/>
          <p:cNvSpPr txBox="1"/>
          <p:nvPr/>
        </p:nvSpPr>
        <p:spPr>
          <a:xfrm>
            <a:off x="6291072" y="1783080"/>
            <a:ext cx="5093208" cy="20116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350" dirty="0">
                <a:solidFill>
                  <a:srgbClr val="16201F"/>
                </a:solidFill>
                <a:latin typeface="Calibri" pitchFamily="34" charset="0"/>
                <a:ea typeface="Calibri" pitchFamily="34" charset="-122"/>
                <a:cs typeface="Calibri" pitchFamily="34" charset="-120"/>
              </a:rPr>
              <a:t>On tire au hasard 80 % des clients</a:t>
            </a:r>
            <a:endParaRPr lang="en-US" sz="1350" dirty="0"/>
          </a:p>
          <a:p>
            <a:pPr marL="342900" indent="-342900">
              <a:lnSpc>
                <a:spcPct val="115000"/>
              </a:lnSpc>
              <a:spcAft>
                <a:spcPts val="800"/>
              </a:spcAft>
              <a:buSzPct val="100000"/>
              <a:buChar char="•"/>
            </a:pPr>
            <a:r>
              <a:rPr lang="en-US" sz="1350" dirty="0">
                <a:solidFill>
                  <a:srgbClr val="16201F"/>
                </a:solidFill>
                <a:latin typeface="Calibri" pitchFamily="34" charset="0"/>
                <a:ea typeface="Calibri" pitchFamily="34" charset="-122"/>
                <a:cs typeface="Calibri" pitchFamily="34" charset="-120"/>
              </a:rPr>
              <a:t>On refait tourner K-means sur eux seuls</a:t>
            </a:r>
            <a:endParaRPr lang="en-US" sz="1350" dirty="0"/>
          </a:p>
          <a:p>
            <a:pPr marL="342900" indent="-342900">
              <a:lnSpc>
                <a:spcPct val="115000"/>
              </a:lnSpc>
              <a:spcAft>
                <a:spcPts val="800"/>
              </a:spcAft>
              <a:buSzPct val="100000"/>
              <a:buChar char="•"/>
            </a:pPr>
            <a:r>
              <a:rPr lang="en-US" sz="1350" dirty="0">
                <a:solidFill>
                  <a:srgbClr val="16201F"/>
                </a:solidFill>
                <a:latin typeface="Calibri" pitchFamily="34" charset="0"/>
                <a:ea typeface="Calibri" pitchFamily="34" charset="-122"/>
                <a:cs typeface="Calibri" pitchFamily="34" charset="-120"/>
              </a:rPr>
              <a:t>On compare au découpage de référence (ARI)</a:t>
            </a:r>
            <a:endParaRPr lang="en-US" sz="1350" dirty="0"/>
          </a:p>
          <a:p>
            <a:pPr marL="342900" indent="-342900">
              <a:lnSpc>
                <a:spcPct val="115000"/>
              </a:lnSpc>
              <a:spcAft>
                <a:spcPts val="800"/>
              </a:spcAft>
              <a:buSzPct val="100000"/>
              <a:buChar char="•"/>
            </a:pPr>
            <a:r>
              <a:rPr lang="en-US" sz="1350" dirty="0">
                <a:solidFill>
                  <a:srgbClr val="16201F"/>
                </a:solidFill>
                <a:latin typeface="Calibri" pitchFamily="34" charset="0"/>
                <a:ea typeface="Calibri" pitchFamily="34" charset="-122"/>
                <a:cs typeface="Calibri" pitchFamily="34" charset="-120"/>
              </a:rPr>
              <a:t>On recommence vingt fois</a:t>
            </a:r>
            <a:endParaRPr lang="en-US" sz="1350" dirty="0"/>
          </a:p>
        </p:txBody>
      </p:sp>
      <p:sp>
        <p:nvSpPr>
          <p:cNvPr id="9" name="Shape 6"/>
          <p:cNvSpPr/>
          <p:nvPr/>
        </p:nvSpPr>
        <p:spPr>
          <a:xfrm>
            <a:off x="548640" y="4114800"/>
            <a:ext cx="3694176" cy="1325880"/>
          </a:xfrm>
          <a:prstGeom prst="roundRect">
            <a:avLst>
              <a:gd name="adj" fmla="val 4828"/>
            </a:avLst>
          </a:prstGeom>
          <a:solidFill>
            <a:srgbClr val="D9EBE7"/>
          </a:solidFill>
          <a:ln w="9525">
            <a:solidFill>
              <a:srgbClr val="CBD8D5"/>
            </a:solidFill>
            <a:prstDash val="solid"/>
          </a:ln>
        </p:spPr>
      </p:sp>
      <p:sp>
        <p:nvSpPr>
          <p:cNvPr id="10" name="Text 7"/>
          <p:cNvSpPr txBox="1"/>
          <p:nvPr/>
        </p:nvSpPr>
        <p:spPr>
          <a:xfrm>
            <a:off x="548640" y="4224528"/>
            <a:ext cx="3694176" cy="658368"/>
          </a:xfrm>
          <a:prstGeom prst="rect">
            <a:avLst/>
          </a:prstGeom>
          <a:noFill/>
          <a:ln/>
        </p:spPr>
        <p:txBody>
          <a:bodyPr wrap="square" lIns="0" tIns="0" rIns="0" bIns="0" rtlCol="0" anchor="ctr"/>
          <a:lstStyle/>
          <a:p>
            <a:pPr algn="ctr" indent="0" marL="0">
              <a:buNone/>
            </a:pPr>
            <a:r>
              <a:rPr lang="en-US" sz="3000" b="1" dirty="0">
                <a:solidFill>
                  <a:srgbClr val="0E6E62"/>
                </a:solidFill>
                <a:latin typeface="Cambria" pitchFamily="34" charset="0"/>
                <a:ea typeface="Cambria" pitchFamily="34" charset="-122"/>
                <a:cs typeface="Cambria" pitchFamily="34" charset="-120"/>
              </a:rPr>
              <a:t>0,963</a:t>
            </a:r>
            <a:endParaRPr lang="en-US" sz="3000" dirty="0"/>
          </a:p>
        </p:txBody>
      </p:sp>
      <p:sp>
        <p:nvSpPr>
          <p:cNvPr id="11" name="Text 8"/>
          <p:cNvSpPr txBox="1"/>
          <p:nvPr/>
        </p:nvSpPr>
        <p:spPr>
          <a:xfrm>
            <a:off x="548640" y="4882896"/>
            <a:ext cx="3694176" cy="502920"/>
          </a:xfrm>
          <a:prstGeom prst="rect">
            <a:avLst/>
          </a:prstGeom>
          <a:noFill/>
          <a:ln/>
        </p:spPr>
        <p:txBody>
          <a:bodyPr wrap="square" lIns="0" tIns="0" rIns="0" bIns="0" rtlCol="0" anchor="t"/>
          <a:lstStyle/>
          <a:p>
            <a:pPr algn="ctr" indent="0" marL="0">
              <a:buNone/>
            </a:pPr>
            <a:r>
              <a:rPr lang="en-US" sz="1150" dirty="0">
                <a:solidFill>
                  <a:srgbClr val="5F6E6C"/>
                </a:solidFill>
                <a:latin typeface="Calibri" pitchFamily="34" charset="0"/>
                <a:ea typeface="Calibri" pitchFamily="34" charset="-122"/>
                <a:cs typeface="Calibri" pitchFamily="34" charset="-120"/>
              </a:rPr>
              <a:t>ARI moyen à k = 4</a:t>
            </a:r>
            <a:endParaRPr lang="en-US" sz="1150" dirty="0"/>
          </a:p>
        </p:txBody>
      </p:sp>
      <p:sp>
        <p:nvSpPr>
          <p:cNvPr id="12" name="Shape 9"/>
          <p:cNvSpPr/>
          <p:nvPr/>
        </p:nvSpPr>
        <p:spPr>
          <a:xfrm>
            <a:off x="4242816" y="4114800"/>
            <a:ext cx="3694176" cy="1325880"/>
          </a:xfrm>
          <a:prstGeom prst="roundRect">
            <a:avLst>
              <a:gd name="adj" fmla="val 4828"/>
            </a:avLst>
          </a:prstGeom>
          <a:solidFill>
            <a:srgbClr val="F1F7F5"/>
          </a:solidFill>
          <a:ln w="9525">
            <a:solidFill>
              <a:srgbClr val="CBD8D5"/>
            </a:solidFill>
            <a:prstDash val="solid"/>
          </a:ln>
        </p:spPr>
      </p:sp>
      <p:sp>
        <p:nvSpPr>
          <p:cNvPr id="13" name="Text 10"/>
          <p:cNvSpPr txBox="1"/>
          <p:nvPr/>
        </p:nvSpPr>
        <p:spPr>
          <a:xfrm>
            <a:off x="4242816" y="4224528"/>
            <a:ext cx="3694176" cy="658368"/>
          </a:xfrm>
          <a:prstGeom prst="rect">
            <a:avLst/>
          </a:prstGeom>
          <a:noFill/>
          <a:ln/>
        </p:spPr>
        <p:txBody>
          <a:bodyPr wrap="square" lIns="0" tIns="0" rIns="0" bIns="0" rtlCol="0" anchor="ctr"/>
          <a:lstStyle/>
          <a:p>
            <a:pPr algn="ctr" indent="0" marL="0">
              <a:buNone/>
            </a:pPr>
            <a:r>
              <a:rPr lang="en-US" sz="3000" b="1" dirty="0">
                <a:solidFill>
                  <a:srgbClr val="16201F"/>
                </a:solidFill>
                <a:latin typeface="Cambria" pitchFamily="34" charset="0"/>
                <a:ea typeface="Cambria" pitchFamily="34" charset="-122"/>
                <a:cs typeface="Cambria" pitchFamily="34" charset="-120"/>
              </a:rPr>
              <a:t>0,893</a:t>
            </a:r>
            <a:endParaRPr lang="en-US" sz="3000" dirty="0"/>
          </a:p>
        </p:txBody>
      </p:sp>
      <p:sp>
        <p:nvSpPr>
          <p:cNvPr id="14" name="Text 11"/>
          <p:cNvSpPr txBox="1"/>
          <p:nvPr/>
        </p:nvSpPr>
        <p:spPr>
          <a:xfrm>
            <a:off x="4242816" y="4882896"/>
            <a:ext cx="3694176" cy="502920"/>
          </a:xfrm>
          <a:prstGeom prst="rect">
            <a:avLst/>
          </a:prstGeom>
          <a:noFill/>
          <a:ln/>
        </p:spPr>
        <p:txBody>
          <a:bodyPr wrap="square" lIns="0" tIns="0" rIns="0" bIns="0" rtlCol="0" anchor="t"/>
          <a:lstStyle/>
          <a:p>
            <a:pPr algn="ctr" indent="0" marL="0">
              <a:buNone/>
            </a:pPr>
            <a:r>
              <a:rPr lang="en-US" sz="1150" dirty="0">
                <a:solidFill>
                  <a:srgbClr val="5F6E6C"/>
                </a:solidFill>
                <a:latin typeface="Calibri" pitchFamily="34" charset="0"/>
                <a:ea typeface="Calibri" pitchFamily="34" charset="-122"/>
                <a:cs typeface="Calibri" pitchFamily="34" charset="-120"/>
              </a:rPr>
              <a:t>le pire des vingt essais</a:t>
            </a:r>
            <a:endParaRPr lang="en-US" sz="1150" dirty="0"/>
          </a:p>
        </p:txBody>
      </p:sp>
      <p:sp>
        <p:nvSpPr>
          <p:cNvPr id="15" name="Shape 12"/>
          <p:cNvSpPr/>
          <p:nvPr/>
        </p:nvSpPr>
        <p:spPr>
          <a:xfrm>
            <a:off x="7946136" y="4114800"/>
            <a:ext cx="3694176" cy="1325880"/>
          </a:xfrm>
          <a:prstGeom prst="roundRect">
            <a:avLst>
              <a:gd name="adj" fmla="val 4828"/>
            </a:avLst>
          </a:prstGeom>
          <a:solidFill>
            <a:srgbClr val="F1F7F5"/>
          </a:solidFill>
          <a:ln w="9525">
            <a:solidFill>
              <a:srgbClr val="CBD8D5"/>
            </a:solidFill>
            <a:prstDash val="solid"/>
          </a:ln>
        </p:spPr>
      </p:sp>
      <p:sp>
        <p:nvSpPr>
          <p:cNvPr id="16" name="Text 13"/>
          <p:cNvSpPr txBox="1"/>
          <p:nvPr/>
        </p:nvSpPr>
        <p:spPr>
          <a:xfrm>
            <a:off x="7946136" y="4224528"/>
            <a:ext cx="3694176" cy="658368"/>
          </a:xfrm>
          <a:prstGeom prst="rect">
            <a:avLst/>
          </a:prstGeom>
          <a:noFill/>
          <a:ln/>
        </p:spPr>
        <p:txBody>
          <a:bodyPr wrap="square" lIns="0" tIns="0" rIns="0" bIns="0" rtlCol="0" anchor="ctr"/>
          <a:lstStyle/>
          <a:p>
            <a:pPr algn="ctr" indent="0" marL="0">
              <a:buNone/>
            </a:pPr>
            <a:r>
              <a:rPr lang="en-US" sz="3000" b="1" dirty="0">
                <a:solidFill>
                  <a:srgbClr val="16201F"/>
                </a:solidFill>
                <a:latin typeface="Cambria" pitchFamily="34" charset="0"/>
                <a:ea typeface="Cambria" pitchFamily="34" charset="-122"/>
                <a:cs typeface="Cambria" pitchFamily="34" charset="-120"/>
              </a:rPr>
              <a:t>0,890</a:t>
            </a:r>
            <a:endParaRPr lang="en-US" sz="3000" dirty="0"/>
          </a:p>
        </p:txBody>
      </p:sp>
      <p:sp>
        <p:nvSpPr>
          <p:cNvPr id="17" name="Text 14"/>
          <p:cNvSpPr txBox="1"/>
          <p:nvPr/>
        </p:nvSpPr>
        <p:spPr>
          <a:xfrm>
            <a:off x="7946136" y="4882896"/>
            <a:ext cx="3694176" cy="502920"/>
          </a:xfrm>
          <a:prstGeom prst="rect">
            <a:avLst/>
          </a:prstGeom>
          <a:noFill/>
          <a:ln/>
        </p:spPr>
        <p:txBody>
          <a:bodyPr wrap="square" lIns="0" tIns="0" rIns="0" bIns="0" rtlCol="0" anchor="t"/>
          <a:lstStyle/>
          <a:p>
            <a:pPr algn="ctr" indent="0" marL="0">
              <a:buNone/>
            </a:pPr>
            <a:r>
              <a:rPr lang="en-US" sz="1150" dirty="0">
                <a:solidFill>
                  <a:srgbClr val="5F6E6C"/>
                </a:solidFill>
                <a:latin typeface="Calibri" pitchFamily="34" charset="0"/>
                <a:ea typeface="Calibri" pitchFamily="34" charset="-122"/>
                <a:cs typeface="Calibri" pitchFamily="34" charset="-120"/>
              </a:rPr>
              <a:t>à k = 6 : ça se dégrade</a:t>
            </a:r>
            <a:endParaRPr lang="en-US" sz="1150" dirty="0"/>
          </a:p>
        </p:txBody>
      </p:sp>
      <p:sp>
        <p:nvSpPr>
          <p:cNvPr id="18" name="Shape 15"/>
          <p:cNvSpPr/>
          <p:nvPr/>
        </p:nvSpPr>
        <p:spPr>
          <a:xfrm>
            <a:off x="548640" y="5806440"/>
            <a:ext cx="11091672" cy="566928"/>
          </a:xfrm>
          <a:prstGeom prst="roundRect">
            <a:avLst>
              <a:gd name="adj" fmla="val 11290"/>
            </a:avLst>
          </a:prstGeom>
          <a:solidFill>
            <a:srgbClr val="D9EBE7"/>
          </a:solidFill>
          <a:ln w="9525">
            <a:solidFill>
              <a:srgbClr val="CBD8D5"/>
            </a:solidFill>
            <a:prstDash val="solid"/>
          </a:ln>
        </p:spPr>
      </p:sp>
      <p:sp>
        <p:nvSpPr>
          <p:cNvPr id="19" name="Text 16"/>
          <p:cNvSpPr txBox="1"/>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6E62"/>
                </a:solidFill>
                <a:latin typeface="Calibri" pitchFamily="34" charset="0"/>
                <a:ea typeface="Calibri" pitchFamily="34" charset="-122"/>
                <a:cs typeface="Calibri" pitchFamily="34" charset="-120"/>
              </a:rPr>
              <a:t>En repartant de quatre clients sur cinq tirés au hasard, nous retrouvons pratiquement la même segmentation.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241280" cy="685800"/>
          </a:xfrm>
          <a:prstGeom prst="rect">
            <a:avLst/>
          </a:prstGeom>
          <a:noFill/>
          <a:ln/>
        </p:spPr>
        <p:txBody>
          <a:bodyPr wrap="square" lIns="0" tIns="0" rIns="0" bIns="0" rtlCol="0" anchor="ctr"/>
          <a:lstStyle/>
          <a:p>
            <a:pPr indent="0" marL="0">
              <a:buNone/>
            </a:pPr>
            <a:r>
              <a:rPr lang="en-US" sz="3200" b="1" dirty="0">
                <a:solidFill>
                  <a:srgbClr val="16201F"/>
                </a:solidFill>
                <a:latin typeface="Cambria" pitchFamily="34" charset="0"/>
                <a:ea typeface="Cambria" pitchFamily="34" charset="-122"/>
                <a:cs typeface="Cambria" pitchFamily="34" charset="-120"/>
              </a:rPr>
              <a:t>Notre décision : k = 4</a:t>
            </a:r>
            <a:endParaRPr lang="en-US" sz="3200" dirty="0"/>
          </a:p>
        </p:txBody>
      </p:sp>
      <p:sp>
        <p:nvSpPr>
          <p:cNvPr id="3" name="Shape 1"/>
          <p:cNvSpPr/>
          <p:nvPr/>
        </p:nvSpPr>
        <p:spPr>
          <a:xfrm>
            <a:off x="11018520" y="411480"/>
            <a:ext cx="621792" cy="621792"/>
          </a:xfrm>
          <a:prstGeom prst="ellipse">
            <a:avLst/>
          </a:prstGeom>
          <a:solidFill>
            <a:srgbClr val="D9EBE7"/>
          </a:solidFill>
          <a:ln/>
        </p:spPr>
      </p:sp>
      <p:sp>
        <p:nvSpPr>
          <p:cNvPr id="4" name="Text 2"/>
          <p:cNvSpPr txBox="1"/>
          <p:nvPr/>
        </p:nvSpPr>
        <p:spPr>
          <a:xfrm>
            <a:off x="11018520" y="411480"/>
            <a:ext cx="621792" cy="621792"/>
          </a:xfrm>
          <a:prstGeom prst="rect">
            <a:avLst/>
          </a:prstGeom>
          <a:noFill/>
          <a:ln/>
        </p:spPr>
        <p:txBody>
          <a:bodyPr wrap="square" lIns="0" tIns="0" rIns="0" bIns="0" rtlCol="0" anchor="ctr"/>
          <a:lstStyle/>
          <a:p>
            <a:pPr algn="ctr" indent="0" marL="0">
              <a:buNone/>
            </a:pPr>
            <a:r>
              <a:rPr lang="en-US" sz="1500" b="1" dirty="0">
                <a:solidFill>
                  <a:srgbClr val="0E6E62"/>
                </a:solidFill>
                <a:latin typeface="Calibri" pitchFamily="34" charset="0"/>
                <a:ea typeface="Calibri" pitchFamily="34" charset="-122"/>
                <a:cs typeface="Calibri" pitchFamily="34" charset="-120"/>
              </a:rPr>
              <a:t>3</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6949440" cy="914400"/>
        </p:xfrm>
        <a:graphic>
          <a:graphicData uri="http://schemas.openxmlformats.org/drawingml/2006/table">
            <a:tbl>
              <a:tblPr/>
              <a:tblGrid>
                <a:gridCol w="1005840"/>
                <a:gridCol w="1508760"/>
                <a:gridCol w="1600200"/>
                <a:gridCol w="1463040"/>
                <a:gridCol w="1371600"/>
              </a:tblGrid>
              <a:tr h="0">
                <a:tc>
                  <a:txBody>
                    <a:bodyPr/>
                    <a:lstStyle/>
                    <a:p>
                      <a:pPr algn="l" indent="0" marL="0">
                        <a:buNone/>
                      </a:pPr>
                      <a:r>
                        <a:rPr lang="en-US" sz="1250" b="1" dirty="0">
                          <a:solidFill>
                            <a:srgbClr val="16201F"/>
                          </a:solidFill>
                          <a:latin typeface="Calibri" pitchFamily="34" charset="0"/>
                          <a:ea typeface="Calibri" pitchFamily="34" charset="-122"/>
                          <a:cs typeface="Calibri" pitchFamily="34" charset="-120"/>
                        </a:rPr>
                        <a:t>k</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D9EBE7"/>
                    </a:solidFill>
                  </a:tcPr>
                </a:tc>
                <a:tc>
                  <a:txBody>
                    <a:bodyPr/>
                    <a:lstStyle/>
                    <a:p>
                      <a:pPr algn="r" indent="0" marL="0">
                        <a:buNone/>
                      </a:pPr>
                      <a:r>
                        <a:rPr lang="en-US" sz="1250" b="1" dirty="0">
                          <a:solidFill>
                            <a:srgbClr val="16201F"/>
                          </a:solidFill>
                          <a:latin typeface="Calibri" pitchFamily="34" charset="0"/>
                          <a:ea typeface="Calibri" pitchFamily="34" charset="-122"/>
                          <a:cs typeface="Calibri" pitchFamily="34" charset="-120"/>
                        </a:rPr>
                        <a:t>Silhouette</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D9EBE7"/>
                    </a:solidFill>
                  </a:tcPr>
                </a:tc>
                <a:tc>
                  <a:txBody>
                    <a:bodyPr/>
                    <a:lstStyle/>
                    <a:p>
                      <a:pPr algn="r" indent="0" marL="0">
                        <a:buNone/>
                      </a:pPr>
                      <a:r>
                        <a:rPr lang="en-US" sz="1250" b="1" dirty="0">
                          <a:solidFill>
                            <a:srgbClr val="16201F"/>
                          </a:solidFill>
                          <a:latin typeface="Calibri" pitchFamily="34" charset="0"/>
                          <a:ea typeface="Calibri" pitchFamily="34" charset="-122"/>
                          <a:cs typeface="Calibri" pitchFamily="34" charset="-120"/>
                        </a:rPr>
                        <a:t>Davies-Bouldin</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D9EBE7"/>
                    </a:solidFill>
                  </a:tcPr>
                </a:tc>
                <a:tc>
                  <a:txBody>
                    <a:bodyPr/>
                    <a:lstStyle/>
                    <a:p>
                      <a:pPr algn="r" indent="0" marL="0">
                        <a:buNone/>
                      </a:pPr>
                      <a:r>
                        <a:rPr lang="en-US" sz="1250" b="1" dirty="0">
                          <a:solidFill>
                            <a:srgbClr val="16201F"/>
                          </a:solidFill>
                          <a:latin typeface="Calibri" pitchFamily="34" charset="0"/>
                          <a:ea typeface="Calibri" pitchFamily="34" charset="-122"/>
                          <a:cs typeface="Calibri" pitchFamily="34" charset="-120"/>
                        </a:rPr>
                        <a:t>+ petit gr.</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D9EBE7"/>
                    </a:solidFill>
                  </a:tcPr>
                </a:tc>
                <a:tc>
                  <a:txBody>
                    <a:bodyPr/>
                    <a:lstStyle/>
                    <a:p>
                      <a:pPr algn="r" indent="0" marL="0">
                        <a:buNone/>
                      </a:pPr>
                      <a:r>
                        <a:rPr lang="en-US" sz="1250" b="1" dirty="0">
                          <a:solidFill>
                            <a:srgbClr val="16201F"/>
                          </a:solidFill>
                          <a:latin typeface="Calibri" pitchFamily="34" charset="0"/>
                          <a:ea typeface="Calibri" pitchFamily="34" charset="-122"/>
                          <a:cs typeface="Calibri" pitchFamily="34" charset="-120"/>
                        </a:rPr>
                        <a:t>Stabilité</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D9EBE7"/>
                    </a:solidFill>
                  </a:tcPr>
                </a:tc>
              </a:tr>
              <a:tr h="0">
                <a:tc>
                  <a:txBody>
                    <a:bodyPr/>
                    <a:lstStyle/>
                    <a:p>
                      <a:pPr algn="l" indent="0" marL="0">
                        <a:buNone/>
                      </a:pPr>
                      <a:r>
                        <a:rPr lang="en-US" sz="1250" dirty="0">
                          <a:solidFill>
                            <a:srgbClr val="16201F"/>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0,437</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0,874</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2 312</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6201F"/>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0,349</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1,038</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1 217</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0,955</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r>
              <a:tr h="0">
                <a:tc>
                  <a:txBody>
                    <a:bodyPr/>
                    <a:lstStyle/>
                    <a:p>
                      <a:pPr algn="l" indent="0" marL="0">
                        <a:buNone/>
                      </a:pPr>
                      <a:r>
                        <a:rPr lang="en-US" sz="1250" dirty="0">
                          <a:solidFill>
                            <a:srgbClr val="16201F"/>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0,365</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0,931</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1 184</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0,963</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6201F"/>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0,342</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0,950</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450</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0,928</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r>
              <a:tr h="0">
                <a:tc>
                  <a:txBody>
                    <a:bodyPr/>
                    <a:lstStyle/>
                    <a:p>
                      <a:pPr algn="l" indent="0" marL="0">
                        <a:buNone/>
                      </a:pPr>
                      <a:r>
                        <a:rPr lang="en-US" sz="1250" dirty="0">
                          <a:solidFill>
                            <a:srgbClr val="16201F"/>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0,335</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0,962</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472</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0,890</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r>
            </a:tbl>
          </a:graphicData>
        </a:graphic>
      </p:graphicFrame>
      <p:sp>
        <p:nvSpPr>
          <p:cNvPr id="6" name="Shape 3"/>
          <p:cNvSpPr/>
          <p:nvPr/>
        </p:nvSpPr>
        <p:spPr>
          <a:xfrm>
            <a:off x="7772400" y="1188720"/>
            <a:ext cx="3867912" cy="3063240"/>
          </a:xfrm>
          <a:prstGeom prst="roundRect">
            <a:avLst>
              <a:gd name="adj" fmla="val 2090"/>
            </a:avLst>
          </a:prstGeom>
          <a:solidFill>
            <a:srgbClr val="D9EBE7"/>
          </a:solidFill>
          <a:ln w="9525">
            <a:solidFill>
              <a:srgbClr val="CBD8D5"/>
            </a:solidFill>
            <a:prstDash val="solid"/>
          </a:ln>
        </p:spPr>
      </p:sp>
      <p:sp>
        <p:nvSpPr>
          <p:cNvPr id="7" name="Text 4"/>
          <p:cNvSpPr txBox="1"/>
          <p:nvPr/>
        </p:nvSpPr>
        <p:spPr>
          <a:xfrm>
            <a:off x="8028432" y="1371600"/>
            <a:ext cx="3355848" cy="411480"/>
          </a:xfrm>
          <a:prstGeom prst="rect">
            <a:avLst/>
          </a:prstGeom>
          <a:noFill/>
          <a:ln/>
        </p:spPr>
        <p:txBody>
          <a:bodyPr wrap="square" lIns="0" tIns="0" rIns="0" bIns="0" rtlCol="0" anchor="ctr"/>
          <a:lstStyle/>
          <a:p>
            <a:pPr indent="0" marL="0">
              <a:buNone/>
            </a:pPr>
            <a:r>
              <a:rPr lang="en-US" sz="1800" b="1" dirty="0">
                <a:solidFill>
                  <a:srgbClr val="16201F"/>
                </a:solidFill>
                <a:latin typeface="Cambria" pitchFamily="34" charset="0"/>
                <a:ea typeface="Cambria" pitchFamily="34" charset="-122"/>
                <a:cs typeface="Cambria" pitchFamily="34" charset="-120"/>
              </a:rPr>
              <a:t>Quatre indications convergent</a:t>
            </a:r>
            <a:endParaRPr lang="en-US" sz="1800" dirty="0"/>
          </a:p>
        </p:txBody>
      </p:sp>
      <p:sp>
        <p:nvSpPr>
          <p:cNvPr id="8" name="Text 5"/>
          <p:cNvSpPr txBox="1"/>
          <p:nvPr/>
        </p:nvSpPr>
        <p:spPr>
          <a:xfrm>
            <a:off x="8028432" y="1828800"/>
            <a:ext cx="3355848" cy="2286000"/>
          </a:xfrm>
          <a:prstGeom prst="rect">
            <a:avLst/>
          </a:prstGeom>
          <a:noFill/>
          <a:ln/>
        </p:spPr>
        <p:txBody>
          <a:bodyPr wrap="square" lIns="0" tIns="0" rIns="0" bIns="0" rtlCol="0" anchor="ctr"/>
          <a:lstStyle/>
          <a:p>
            <a:pPr marL="342900" indent="-342900">
              <a:lnSpc>
                <a:spcPct val="115000"/>
              </a:lnSpc>
              <a:spcAft>
                <a:spcPts val="900"/>
              </a:spcAft>
              <a:buSzPct val="100000"/>
              <a:buChar char="•"/>
            </a:pPr>
            <a:r>
              <a:rPr lang="en-US" sz="1300" dirty="0">
                <a:solidFill>
                  <a:srgbClr val="16201F"/>
                </a:solidFill>
                <a:latin typeface="Calibri" pitchFamily="34" charset="0"/>
                <a:ea typeface="Calibri" pitchFamily="34" charset="-122"/>
                <a:cs typeface="Calibri" pitchFamily="34" charset="-120"/>
              </a:rPr>
              <a:t>Rebond de la silhouette</a:t>
            </a:r>
            <a:endParaRPr lang="en-US" sz="1300" dirty="0"/>
          </a:p>
          <a:p>
            <a:pPr marL="342900" indent="-342900">
              <a:lnSpc>
                <a:spcPct val="115000"/>
              </a:lnSpc>
              <a:spcAft>
                <a:spcPts val="900"/>
              </a:spcAft>
              <a:buSzPct val="100000"/>
              <a:buChar char="•"/>
            </a:pPr>
            <a:r>
              <a:rPr lang="en-US" sz="1300" dirty="0">
                <a:solidFill>
                  <a:srgbClr val="16201F"/>
                </a:solidFill>
                <a:latin typeface="Calibri" pitchFamily="34" charset="0"/>
                <a:ea typeface="Calibri" pitchFamily="34" charset="-122"/>
                <a:cs typeface="Calibri" pitchFamily="34" charset="-120"/>
              </a:rPr>
              <a:t>Minimum de Davies-Bouldin</a:t>
            </a:r>
            <a:endParaRPr lang="en-US" sz="1300" dirty="0"/>
          </a:p>
          <a:p>
            <a:pPr marL="342900" indent="-342900">
              <a:lnSpc>
                <a:spcPct val="115000"/>
              </a:lnSpc>
              <a:spcAft>
                <a:spcPts val="900"/>
              </a:spcAft>
              <a:buSzPct val="100000"/>
              <a:buChar char="•"/>
            </a:pPr>
            <a:r>
              <a:rPr lang="en-US" sz="1300" dirty="0">
                <a:solidFill>
                  <a:srgbClr val="16201F"/>
                </a:solidFill>
                <a:latin typeface="Calibri" pitchFamily="34" charset="0"/>
                <a:ea typeface="Calibri" pitchFamily="34" charset="-122"/>
                <a:cs typeface="Calibri" pitchFamily="34" charset="-120"/>
              </a:rPr>
              <a:t>Aucun segment sous 1 100 clients</a:t>
            </a:r>
            <a:endParaRPr lang="en-US" sz="1300" dirty="0"/>
          </a:p>
          <a:p>
            <a:pPr marL="342900" indent="-342900">
              <a:lnSpc>
                <a:spcPct val="115000"/>
              </a:lnSpc>
              <a:spcAft>
                <a:spcPts val="900"/>
              </a:spcAft>
              <a:buSzPct val="100000"/>
              <a:buChar char="•"/>
            </a:pPr>
            <a:r>
              <a:rPr lang="en-US" sz="1300" dirty="0">
                <a:solidFill>
                  <a:srgbClr val="16201F"/>
                </a:solidFill>
                <a:latin typeface="Calibri" pitchFamily="34" charset="0"/>
                <a:ea typeface="Calibri" pitchFamily="34" charset="-122"/>
                <a:cs typeface="Calibri" pitchFamily="34" charset="-120"/>
              </a:rPr>
              <a:t>Meilleure stabilité (0,963)</a:t>
            </a:r>
            <a:endParaRPr lang="en-US" sz="1300" dirty="0"/>
          </a:p>
        </p:txBody>
      </p:sp>
      <p:sp>
        <p:nvSpPr>
          <p:cNvPr id="9" name="Shape 6"/>
          <p:cNvSpPr/>
          <p:nvPr/>
        </p:nvSpPr>
        <p:spPr>
          <a:xfrm>
            <a:off x="548640" y="3794760"/>
            <a:ext cx="6949440" cy="1645920"/>
          </a:xfrm>
          <a:prstGeom prst="roundRect">
            <a:avLst>
              <a:gd name="adj" fmla="val 3889"/>
            </a:avLst>
          </a:prstGeom>
          <a:solidFill>
            <a:srgbClr val="F1F7F5"/>
          </a:solidFill>
          <a:ln w="9525">
            <a:solidFill>
              <a:srgbClr val="CBD8D5"/>
            </a:solidFill>
            <a:prstDash val="solid"/>
          </a:ln>
        </p:spPr>
      </p:sp>
      <p:sp>
        <p:nvSpPr>
          <p:cNvPr id="10" name="Text 7"/>
          <p:cNvSpPr txBox="1"/>
          <p:nvPr/>
        </p:nvSpPr>
        <p:spPr>
          <a:xfrm>
            <a:off x="804672" y="4005072"/>
            <a:ext cx="6437376" cy="1325880"/>
          </a:xfrm>
          <a:prstGeom prst="rect">
            <a:avLst/>
          </a:prstGeom>
          <a:noFill/>
          <a:ln/>
        </p:spPr>
        <p:txBody>
          <a:bodyPr wrap="square" lIns="0" tIns="0" rIns="0" bIns="0" rtlCol="0" anchor="ctr"/>
          <a:lstStyle/>
          <a:p>
            <a:pPr indent="0" marL="0">
              <a:lnSpc>
                <a:spcPct val="118000"/>
              </a:lnSpc>
              <a:buNone/>
            </a:pPr>
            <a:r>
              <a:rPr lang="en-US" sz="1350" b="1" dirty="0">
                <a:solidFill>
                  <a:srgbClr val="16201F"/>
                </a:solidFill>
                <a:latin typeface="Calibri" pitchFamily="34" charset="0"/>
                <a:ea typeface="Calibri" pitchFamily="34" charset="-122"/>
                <a:cs typeface="Calibri" pitchFamily="34" charset="-120"/>
              </a:rPr>
              <a:t>Aucune métrique ne prouve k = 4 à elle seule.</a:t>
            </a:r>
            <a:endParaRPr lang="en-US" sz="1350" dirty="0"/>
          </a:p>
          <a:p>
            <a:pPr indent="0" marL="0">
              <a:lnSpc>
                <a:spcPct val="118000"/>
              </a:lnSpc>
              <a:buNone/>
            </a:pPr>
            <a:r>
              <a:rPr lang="en-US" sz="1350" dirty="0">
                <a:solidFill>
                  <a:srgbClr val="16201F"/>
                </a:solidFill>
                <a:latin typeface="Calibri" pitchFamily="34" charset="0"/>
                <a:ea typeface="Calibri" pitchFamily="34" charset="-122"/>
                <a:cs typeface="Calibri" pitchFamily="34" charset="-120"/>
              </a:rPr>
              <a:t>C'est leur point de convergence — et surtout, les quatre groupes obtenus se racontent chacun en une phrase et appellent chacun une action marketing distincte. C'est le test qui tranche entre deux valeurs de k également défendables.</a:t>
            </a:r>
            <a:endParaRPr lang="en-US" sz="1350" dirty="0"/>
          </a:p>
        </p:txBody>
      </p:sp>
      <p:sp>
        <p:nvSpPr>
          <p:cNvPr id="11" name="Shape 8"/>
          <p:cNvSpPr/>
          <p:nvPr/>
        </p:nvSpPr>
        <p:spPr>
          <a:xfrm>
            <a:off x="548640" y="5806440"/>
            <a:ext cx="11091672" cy="566928"/>
          </a:xfrm>
          <a:prstGeom prst="roundRect">
            <a:avLst>
              <a:gd name="adj" fmla="val 11290"/>
            </a:avLst>
          </a:prstGeom>
          <a:solidFill>
            <a:srgbClr val="D9EBE7"/>
          </a:solidFill>
          <a:ln w="9525">
            <a:solidFill>
              <a:srgbClr val="CBD8D5"/>
            </a:solidFill>
            <a:prstDash val="solid"/>
          </a:ln>
        </p:spPr>
      </p:sp>
      <p:sp>
        <p:nvSpPr>
          <p:cNvPr id="12" name="Text 9"/>
          <p:cNvSpPr txBox="1"/>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6E62"/>
                </a:solidFill>
                <a:latin typeface="Calibri" pitchFamily="34" charset="0"/>
                <a:ea typeface="Calibri" pitchFamily="34" charset="-122"/>
                <a:cs typeface="Calibri" pitchFamily="34" charset="-120"/>
              </a:rPr>
              <a:t>Variante k = 5 documentée : elle isole 450 grossistes, mais ils appellent la même action marketing que les autres Champions.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241280" cy="685800"/>
          </a:xfrm>
          <a:prstGeom prst="rect">
            <a:avLst/>
          </a:prstGeom>
          <a:noFill/>
          <a:ln/>
        </p:spPr>
        <p:txBody>
          <a:bodyPr wrap="square" lIns="0" tIns="0" rIns="0" bIns="0" rtlCol="0" anchor="ctr"/>
          <a:lstStyle/>
          <a:p>
            <a:pPr indent="0" marL="0">
              <a:buNone/>
            </a:pPr>
            <a:r>
              <a:rPr lang="en-US" sz="3200" b="1" dirty="0">
                <a:solidFill>
                  <a:srgbClr val="16201F"/>
                </a:solidFill>
                <a:latin typeface="Cambria" pitchFamily="34" charset="0"/>
                <a:ea typeface="Cambria" pitchFamily="34" charset="-122"/>
                <a:cs typeface="Cambria" pitchFamily="34" charset="-120"/>
              </a:rPr>
              <a:t>À quoi ressemble le découpage</a:t>
            </a:r>
            <a:endParaRPr lang="en-US" sz="3200" dirty="0"/>
          </a:p>
        </p:txBody>
      </p:sp>
      <p:sp>
        <p:nvSpPr>
          <p:cNvPr id="3" name="Shape 1"/>
          <p:cNvSpPr/>
          <p:nvPr/>
        </p:nvSpPr>
        <p:spPr>
          <a:xfrm>
            <a:off x="11018520" y="411480"/>
            <a:ext cx="621792" cy="621792"/>
          </a:xfrm>
          <a:prstGeom prst="ellipse">
            <a:avLst/>
          </a:prstGeom>
          <a:solidFill>
            <a:srgbClr val="D9EBE7"/>
          </a:solidFill>
          <a:ln/>
        </p:spPr>
      </p:sp>
      <p:sp>
        <p:nvSpPr>
          <p:cNvPr id="4" name="Text 2"/>
          <p:cNvSpPr txBox="1"/>
          <p:nvPr/>
        </p:nvSpPr>
        <p:spPr>
          <a:xfrm>
            <a:off x="11018520" y="411480"/>
            <a:ext cx="621792" cy="621792"/>
          </a:xfrm>
          <a:prstGeom prst="rect">
            <a:avLst/>
          </a:prstGeom>
          <a:noFill/>
          <a:ln/>
        </p:spPr>
        <p:txBody>
          <a:bodyPr wrap="square" lIns="0" tIns="0" rIns="0" bIns="0" rtlCol="0" anchor="ctr"/>
          <a:lstStyle/>
          <a:p>
            <a:pPr algn="ctr" indent="0" marL="0">
              <a:buNone/>
            </a:pPr>
            <a:r>
              <a:rPr lang="en-US" sz="1500" b="1" dirty="0">
                <a:solidFill>
                  <a:srgbClr val="0E6E62"/>
                </a:solidFill>
                <a:latin typeface="Calibri" pitchFamily="34" charset="0"/>
                <a:ea typeface="Calibri" pitchFamily="34" charset="-122"/>
                <a:cs typeface="Calibri" pitchFamily="34" charset="-120"/>
              </a:rPr>
              <a:t>3</a:t>
            </a:r>
            <a:endParaRPr lang="en-US" sz="1500" dirty="0"/>
          </a:p>
        </p:txBody>
      </p:sp>
      <p:pic>
        <p:nvPicPr>
          <p:cNvPr id="5" name="Image 0" descr="03_projection.png">    </p:cNvPr>
          <p:cNvPicPr>
            <a:picLocks noChangeAspect="1"/>
          </p:cNvPicPr>
          <p:nvPr/>
        </p:nvPicPr>
        <p:blipFill>
          <a:blip r:embed="rId1"/>
          <a:srcRect l="0" r="0" t="0" b="0"/>
          <a:stretch/>
        </p:blipFill>
        <p:spPr>
          <a:xfrm>
            <a:off x="685800" y="1143000"/>
            <a:ext cx="5120640" cy="4023360"/>
          </a:xfrm>
          <a:prstGeom prst="rect">
            <a:avLst/>
          </a:prstGeom>
        </p:spPr>
      </p:pic>
      <p:sp>
        <p:nvSpPr>
          <p:cNvPr id="6" name="Shape 3"/>
          <p:cNvSpPr/>
          <p:nvPr/>
        </p:nvSpPr>
        <p:spPr>
          <a:xfrm>
            <a:off x="6309360" y="1280160"/>
            <a:ext cx="5330952" cy="1920240"/>
          </a:xfrm>
          <a:prstGeom prst="roundRect">
            <a:avLst>
              <a:gd name="adj" fmla="val 3333"/>
            </a:avLst>
          </a:prstGeom>
          <a:solidFill>
            <a:srgbClr val="D9EBE7"/>
          </a:solidFill>
          <a:ln w="9525">
            <a:solidFill>
              <a:srgbClr val="CBD8D5"/>
            </a:solidFill>
            <a:prstDash val="solid"/>
          </a:ln>
        </p:spPr>
      </p:sp>
      <p:sp>
        <p:nvSpPr>
          <p:cNvPr id="7" name="Text 4"/>
          <p:cNvSpPr txBox="1"/>
          <p:nvPr/>
        </p:nvSpPr>
        <p:spPr>
          <a:xfrm>
            <a:off x="6565392" y="1481328"/>
            <a:ext cx="4818888" cy="411480"/>
          </a:xfrm>
          <a:prstGeom prst="rect">
            <a:avLst/>
          </a:prstGeom>
          <a:noFill/>
          <a:ln/>
        </p:spPr>
        <p:txBody>
          <a:bodyPr wrap="square" lIns="0" tIns="0" rIns="0" bIns="0" rtlCol="0" anchor="ctr"/>
          <a:lstStyle/>
          <a:p>
            <a:pPr indent="0" marL="0">
              <a:buNone/>
            </a:pPr>
            <a:r>
              <a:rPr lang="en-US" sz="1900" b="1" dirty="0">
                <a:solidFill>
                  <a:srgbClr val="16201F"/>
                </a:solidFill>
                <a:latin typeface="Cambria" pitchFamily="34" charset="0"/>
                <a:ea typeface="Cambria" pitchFamily="34" charset="-122"/>
                <a:cs typeface="Cambria" pitchFamily="34" charset="-120"/>
              </a:rPr>
              <a:t>Des frontières franches, mais aucun vide</a:t>
            </a:r>
            <a:endParaRPr lang="en-US" sz="1900" dirty="0"/>
          </a:p>
        </p:txBody>
      </p:sp>
      <p:sp>
        <p:nvSpPr>
          <p:cNvPr id="8" name="Text 5"/>
          <p:cNvSpPr txBox="1"/>
          <p:nvPr/>
        </p:nvSpPr>
        <p:spPr>
          <a:xfrm>
            <a:off x="6565392" y="1920240"/>
            <a:ext cx="4818888" cy="1097280"/>
          </a:xfrm>
          <a:prstGeom prst="rect">
            <a:avLst/>
          </a:prstGeom>
          <a:noFill/>
          <a:ln/>
        </p:spPr>
        <p:txBody>
          <a:bodyPr wrap="square" lIns="0" tIns="0" rIns="0" bIns="0" rtlCol="0" anchor="ctr"/>
          <a:lstStyle/>
          <a:p>
            <a:pPr indent="0" marL="0">
              <a:lnSpc>
                <a:spcPct val="120000"/>
              </a:lnSpc>
              <a:buNone/>
            </a:pPr>
            <a:r>
              <a:rPr lang="en-US" sz="1400" dirty="0">
                <a:solidFill>
                  <a:srgbClr val="16201F"/>
                </a:solidFill>
                <a:latin typeface="Calibri" pitchFamily="34" charset="0"/>
                <a:ea typeface="Calibri" pitchFamily="34" charset="-122"/>
                <a:cs typeface="Calibri" pitchFamily="34" charset="-120"/>
              </a:rPr>
              <a:t>Les clients forment un continuum de comportements, pas des grappes naturellement isolées.</a:t>
            </a:r>
            <a:endParaRPr lang="en-US" sz="1400" dirty="0"/>
          </a:p>
        </p:txBody>
      </p:sp>
      <p:sp>
        <p:nvSpPr>
          <p:cNvPr id="9" name="Shape 6"/>
          <p:cNvSpPr/>
          <p:nvPr/>
        </p:nvSpPr>
        <p:spPr>
          <a:xfrm>
            <a:off x="6309360" y="3383280"/>
            <a:ext cx="5330952" cy="1783080"/>
          </a:xfrm>
          <a:prstGeom prst="roundRect">
            <a:avLst>
              <a:gd name="adj" fmla="val 3590"/>
            </a:avLst>
          </a:prstGeom>
          <a:solidFill>
            <a:srgbClr val="F1F7F5"/>
          </a:solidFill>
          <a:ln w="9525">
            <a:solidFill>
              <a:srgbClr val="CBD8D5"/>
            </a:solidFill>
            <a:prstDash val="solid"/>
          </a:ln>
        </p:spPr>
      </p:sp>
      <p:sp>
        <p:nvSpPr>
          <p:cNvPr id="10" name="Text 7"/>
          <p:cNvSpPr txBox="1"/>
          <p:nvPr/>
        </p:nvSpPr>
        <p:spPr>
          <a:xfrm>
            <a:off x="6565392" y="3584448"/>
            <a:ext cx="4818888" cy="1417320"/>
          </a:xfrm>
          <a:prstGeom prst="rect">
            <a:avLst/>
          </a:prstGeom>
          <a:noFill/>
          <a:ln/>
        </p:spPr>
        <p:txBody>
          <a:bodyPr wrap="square" lIns="0" tIns="0" rIns="0" bIns="0" rtlCol="0" anchor="ctr"/>
          <a:lstStyle/>
          <a:p>
            <a:pPr indent="0" marL="0">
              <a:lnSpc>
                <a:spcPct val="118000"/>
              </a:lnSpc>
              <a:buNone/>
            </a:pPr>
            <a:r>
              <a:rPr lang="en-US" sz="1350" b="1" dirty="0">
                <a:solidFill>
                  <a:srgbClr val="C4622D"/>
                </a:solidFill>
                <a:latin typeface="Calibri" pitchFamily="34" charset="0"/>
                <a:ea typeface="Calibri" pitchFamily="34" charset="-122"/>
                <a:cs typeface="Calibri" pitchFamily="34" charset="-120"/>
              </a:rPr>
              <a:t>Ce que nous ne prétendons pas</a:t>
            </a:r>
            <a:endParaRPr lang="en-US" sz="1350" dirty="0"/>
          </a:p>
          <a:p>
            <a:pPr indent="0" marL="0">
              <a:lnSpc>
                <a:spcPct val="118000"/>
              </a:lnSpc>
              <a:buNone/>
            </a:pPr>
            <a:r>
              <a:rPr lang="en-US" sz="1350" dirty="0">
                <a:solidFill>
                  <a:srgbClr val="16201F"/>
                </a:solidFill>
                <a:latin typeface="Calibri" pitchFamily="34" charset="0"/>
                <a:ea typeface="Calibri" pitchFamily="34" charset="-122"/>
                <a:cs typeface="Calibri" pitchFamily="34" charset="-120"/>
              </a:rPr>
              <a:t>Avoir découvert « les vrais » segments. Nous découpons un espace continu à des seuils utiles. Un autre algorithme ou un autre k donnerait un découpage différent et tout aussi défendable.</a:t>
            </a:r>
            <a:endParaRPr lang="en-US" sz="1350" dirty="0"/>
          </a:p>
        </p:txBody>
      </p:sp>
      <p:sp>
        <p:nvSpPr>
          <p:cNvPr id="11" name="Shape 8"/>
          <p:cNvSpPr/>
          <p:nvPr/>
        </p:nvSpPr>
        <p:spPr>
          <a:xfrm>
            <a:off x="548640" y="5806440"/>
            <a:ext cx="11091672" cy="566928"/>
          </a:xfrm>
          <a:prstGeom prst="roundRect">
            <a:avLst>
              <a:gd name="adj" fmla="val 11290"/>
            </a:avLst>
          </a:prstGeom>
          <a:solidFill>
            <a:srgbClr val="D9EBE7"/>
          </a:solidFill>
          <a:ln w="9525">
            <a:solidFill>
              <a:srgbClr val="CBD8D5"/>
            </a:solidFill>
            <a:prstDash val="solid"/>
          </a:ln>
        </p:spPr>
      </p:sp>
      <p:sp>
        <p:nvSpPr>
          <p:cNvPr id="12" name="Text 9"/>
          <p:cNvSpPr txBox="1"/>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6E62"/>
                </a:solidFill>
                <a:latin typeface="Calibri" pitchFamily="34" charset="0"/>
                <a:ea typeface="Calibri" pitchFamily="34" charset="-122"/>
                <a:cs typeface="Calibri" pitchFamily="34" charset="-120"/>
              </a:rPr>
              <a:t>Axe 1 = valeur du client (76 % de la variance). Axe 2 = récence (19 %). Les croix rouges sont les centres des segments.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241280" cy="685800"/>
          </a:xfrm>
          <a:prstGeom prst="rect">
            <a:avLst/>
          </a:prstGeom>
          <a:noFill/>
          <a:ln/>
        </p:spPr>
        <p:txBody>
          <a:bodyPr wrap="square" lIns="0" tIns="0" rIns="0" bIns="0" rtlCol="0" anchor="ctr"/>
          <a:lstStyle/>
          <a:p>
            <a:pPr indent="0" marL="0">
              <a:buNone/>
            </a:pPr>
            <a:r>
              <a:rPr lang="en-US" sz="3200" b="1" dirty="0">
                <a:solidFill>
                  <a:srgbClr val="16201F"/>
                </a:solidFill>
                <a:latin typeface="Cambria" pitchFamily="34" charset="0"/>
                <a:ea typeface="Cambria" pitchFamily="34" charset="-122"/>
                <a:cs typeface="Cambria" pitchFamily="34" charset="-120"/>
              </a:rPr>
              <a:t>Partie 4 — Quatre segments nommés</a:t>
            </a:r>
            <a:endParaRPr lang="en-US" sz="3200" dirty="0"/>
          </a:p>
        </p:txBody>
      </p:sp>
      <p:sp>
        <p:nvSpPr>
          <p:cNvPr id="3" name="Shape 1"/>
          <p:cNvSpPr/>
          <p:nvPr/>
        </p:nvSpPr>
        <p:spPr>
          <a:xfrm>
            <a:off x="11018520" y="411480"/>
            <a:ext cx="621792" cy="621792"/>
          </a:xfrm>
          <a:prstGeom prst="ellipse">
            <a:avLst/>
          </a:prstGeom>
          <a:solidFill>
            <a:srgbClr val="D9EBE7"/>
          </a:solidFill>
          <a:ln/>
        </p:spPr>
      </p:sp>
      <p:sp>
        <p:nvSpPr>
          <p:cNvPr id="4" name="Text 2"/>
          <p:cNvSpPr txBox="1"/>
          <p:nvPr/>
        </p:nvSpPr>
        <p:spPr>
          <a:xfrm>
            <a:off x="11018520" y="411480"/>
            <a:ext cx="621792" cy="621792"/>
          </a:xfrm>
          <a:prstGeom prst="rect">
            <a:avLst/>
          </a:prstGeom>
          <a:noFill/>
          <a:ln/>
        </p:spPr>
        <p:txBody>
          <a:bodyPr wrap="square" lIns="0" tIns="0" rIns="0" bIns="0" rtlCol="0" anchor="ctr"/>
          <a:lstStyle/>
          <a:p>
            <a:pPr algn="ctr" indent="0" marL="0">
              <a:buNone/>
            </a:pPr>
            <a:r>
              <a:rPr lang="en-US" sz="1500" b="1" dirty="0">
                <a:solidFill>
                  <a:srgbClr val="0E6E62"/>
                </a:solidFill>
                <a:latin typeface="Calibri" pitchFamily="34" charset="0"/>
                <a:ea typeface="Calibri" pitchFamily="34" charset="-122"/>
                <a:cs typeface="Calibri" pitchFamily="34" charset="-120"/>
              </a:rPr>
              <a:t>4</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1672" cy="914400"/>
        </p:xfrm>
        <a:graphic>
          <a:graphicData uri="http://schemas.openxmlformats.org/drawingml/2006/table">
            <a:tbl>
              <a:tblPr/>
              <a:tblGrid>
                <a:gridCol w="2743200"/>
                <a:gridCol w="1371600"/>
                <a:gridCol w="1417320"/>
                <a:gridCol w="1463040"/>
                <a:gridCol w="1463040"/>
                <a:gridCol w="1371600"/>
                <a:gridCol w="1261872"/>
              </a:tblGrid>
              <a:tr h="0">
                <a:tc>
                  <a:txBody>
                    <a:bodyPr/>
                    <a:lstStyle/>
                    <a:p>
                      <a:pPr algn="l" indent="0" marL="0">
                        <a:buNone/>
                      </a:pPr>
                      <a:r>
                        <a:rPr lang="en-US" sz="1250" b="1" dirty="0">
                          <a:solidFill>
                            <a:srgbClr val="16201F"/>
                          </a:solidFill>
                          <a:latin typeface="Calibri" pitchFamily="34" charset="0"/>
                          <a:ea typeface="Calibri" pitchFamily="34" charset="-122"/>
                          <a:cs typeface="Calibri" pitchFamily="34" charset="-120"/>
                        </a:rPr>
                        <a:t>Segment</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D9EBE7"/>
                    </a:solidFill>
                  </a:tcPr>
                </a:tc>
                <a:tc>
                  <a:txBody>
                    <a:bodyPr/>
                    <a:lstStyle/>
                    <a:p>
                      <a:pPr algn="r" indent="0" marL="0">
                        <a:buNone/>
                      </a:pPr>
                      <a:r>
                        <a:rPr lang="en-US" sz="1250" b="1" dirty="0">
                          <a:solidFill>
                            <a:srgbClr val="16201F"/>
                          </a:solidFill>
                          <a:latin typeface="Calibri" pitchFamily="34" charset="0"/>
                          <a:ea typeface="Calibri" pitchFamily="34" charset="-122"/>
                          <a:cs typeface="Calibri" pitchFamily="34" charset="-120"/>
                        </a:rPr>
                        <a:t>Clients</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D9EBE7"/>
                    </a:solidFill>
                  </a:tcPr>
                </a:tc>
                <a:tc>
                  <a:txBody>
                    <a:bodyPr/>
                    <a:lstStyle/>
                    <a:p>
                      <a:pPr algn="r" indent="0" marL="0">
                        <a:buNone/>
                      </a:pPr>
                      <a:r>
                        <a:rPr lang="en-US" sz="1250" b="1" dirty="0">
                          <a:solidFill>
                            <a:srgbClr val="16201F"/>
                          </a:solidFill>
                          <a:latin typeface="Calibri" pitchFamily="34" charset="0"/>
                          <a:ea typeface="Calibri" pitchFamily="34" charset="-122"/>
                          <a:cs typeface="Calibri" pitchFamily="34" charset="-120"/>
                        </a:rPr>
                        <a:t>% CA</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D9EBE7"/>
                    </a:solidFill>
                  </a:tcPr>
                </a:tc>
                <a:tc>
                  <a:txBody>
                    <a:bodyPr/>
                    <a:lstStyle/>
                    <a:p>
                      <a:pPr algn="r" indent="0" marL="0">
                        <a:buNone/>
                      </a:pPr>
                      <a:r>
                        <a:rPr lang="en-US" sz="1250" b="1" dirty="0">
                          <a:solidFill>
                            <a:srgbClr val="16201F"/>
                          </a:solidFill>
                          <a:latin typeface="Calibri" pitchFamily="34" charset="0"/>
                          <a:ea typeface="Calibri" pitchFamily="34" charset="-122"/>
                          <a:cs typeface="Calibri" pitchFamily="34" charset="-120"/>
                        </a:rPr>
                        <a:t>Récence</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D9EBE7"/>
                    </a:solidFill>
                  </a:tcPr>
                </a:tc>
                <a:tc>
                  <a:txBody>
                    <a:bodyPr/>
                    <a:lstStyle/>
                    <a:p>
                      <a:pPr algn="r" indent="0" marL="0">
                        <a:buNone/>
                      </a:pPr>
                      <a:r>
                        <a:rPr lang="en-US" sz="1250" b="1" dirty="0">
                          <a:solidFill>
                            <a:srgbClr val="16201F"/>
                          </a:solidFill>
                          <a:latin typeface="Calibri" pitchFamily="34" charset="0"/>
                          <a:ea typeface="Calibri" pitchFamily="34" charset="-122"/>
                          <a:cs typeface="Calibri" pitchFamily="34" charset="-120"/>
                        </a:rPr>
                        <a:t>Fréquence</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D9EBE7"/>
                    </a:solidFill>
                  </a:tcPr>
                </a:tc>
                <a:tc>
                  <a:txBody>
                    <a:bodyPr/>
                    <a:lstStyle/>
                    <a:p>
                      <a:pPr algn="r" indent="0" marL="0">
                        <a:buNone/>
                      </a:pPr>
                      <a:r>
                        <a:rPr lang="en-US" sz="1250" b="1" dirty="0">
                          <a:solidFill>
                            <a:srgbClr val="16201F"/>
                          </a:solidFill>
                          <a:latin typeface="Calibri" pitchFamily="34" charset="0"/>
                          <a:ea typeface="Calibri" pitchFamily="34" charset="-122"/>
                          <a:cs typeface="Calibri" pitchFamily="34" charset="-120"/>
                        </a:rPr>
                        <a:t>Montant</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D9EBE7"/>
                    </a:solidFill>
                  </a:tcPr>
                </a:tc>
                <a:tc>
                  <a:txBody>
                    <a:bodyPr/>
                    <a:lstStyle/>
                    <a:p>
                      <a:pPr algn="r" indent="0" marL="0">
                        <a:buNone/>
                      </a:pPr>
                      <a:r>
                        <a:rPr lang="en-US" sz="1250" b="1" dirty="0">
                          <a:solidFill>
                            <a:srgbClr val="16201F"/>
                          </a:solidFill>
                          <a:latin typeface="Calibri" pitchFamily="34" charset="0"/>
                          <a:ea typeface="Calibri" pitchFamily="34" charset="-122"/>
                          <a:cs typeface="Calibri" pitchFamily="34" charset="-120"/>
                        </a:rPr>
                        <a:t>Réfs</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D9EBE7"/>
                    </a:solidFill>
                  </a:tcPr>
                </a:tc>
              </a:tr>
              <a:tr h="0">
                <a:tc>
                  <a:txBody>
                    <a:bodyPr/>
                    <a:lstStyle/>
                    <a:p>
                      <a:pPr algn="l" indent="0" marL="0">
                        <a:buNone/>
                      </a:pPr>
                      <a:r>
                        <a:rPr lang="en-US" sz="1250" dirty="0">
                          <a:solidFill>
                            <a:srgbClr val="16201F"/>
                          </a:solidFill>
                          <a:latin typeface="Calibri" pitchFamily="34" charset="0"/>
                          <a:ea typeface="Calibri" pitchFamily="34" charset="-122"/>
                          <a:cs typeface="Calibri" pitchFamily="34" charset="-120"/>
                        </a:rPr>
                        <a:t>Champions</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1 184</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73,4 %</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28 j</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19,2</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10 581 £</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208</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6201F"/>
                          </a:solidFill>
                          <a:latin typeface="Calibri" pitchFamily="34" charset="0"/>
                          <a:ea typeface="Calibri" pitchFamily="34" charset="-122"/>
                          <a:cs typeface="Calibri" pitchFamily="34" charset="-120"/>
                        </a:rPr>
                        <a:t>À risque</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1 454</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16,8 %</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228 j</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5,1</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1 974 £</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81</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r>
              <a:tr h="0">
                <a:tc>
                  <a:txBody>
                    <a:bodyPr/>
                    <a:lstStyle/>
                    <a:p>
                      <a:pPr algn="l" indent="0" marL="0">
                        <a:buNone/>
                      </a:pPr>
                      <a:r>
                        <a:rPr lang="en-US" sz="1250" dirty="0">
                          <a:solidFill>
                            <a:srgbClr val="16201F"/>
                          </a:solidFill>
                          <a:latin typeface="Calibri" pitchFamily="34" charset="0"/>
                          <a:ea typeface="Calibri" pitchFamily="34" charset="-122"/>
                          <a:cs typeface="Calibri" pitchFamily="34" charset="-120"/>
                        </a:rPr>
                        <a:t>Nouveaux / Prometteurs</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1 246</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6,1 %</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28 j</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3,0</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841 £</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57</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6201F"/>
                          </a:solidFill>
                          <a:latin typeface="Calibri" pitchFamily="34" charset="0"/>
                          <a:ea typeface="Calibri" pitchFamily="34" charset="-122"/>
                          <a:cs typeface="Calibri" pitchFamily="34" charset="-120"/>
                        </a:rPr>
                        <a:t>Perdus / Dormants</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1 968</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3,7 %</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393 j</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1,4</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317 £</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c>
                  <a:txBody>
                    <a:bodyPr/>
                    <a:lstStyle/>
                    <a:p>
                      <a:pPr algn="r" indent="0" marL="0">
                        <a:buNone/>
                      </a:pPr>
                      <a:r>
                        <a:rPr lang="en-US" sz="1250" dirty="0">
                          <a:solidFill>
                            <a:srgbClr val="16201F"/>
                          </a:solidFill>
                          <a:latin typeface="Calibri" pitchFamily="34" charset="0"/>
                          <a:ea typeface="Calibri" pitchFamily="34" charset="-122"/>
                          <a:cs typeface="Calibri" pitchFamily="34" charset="-120"/>
                        </a:rPr>
                        <a:t>23</a:t>
                      </a:r>
                      <a:endParaRPr lang="en-US" sz="1250" dirty="0">
                        <a:latin typeface="Calibri" charset="0"/>
                        <a:ea typeface="Calibri" charset="0"/>
                        <a:cs typeface="Calibri" charset="0"/>
                      </a:endParaRPr>
                    </a:p>
                  </a:txBody>
                  <a:tcPr marL="88900" marR="88900" marT="50800" marB="50800" anchor="ctr">
                    <a:lnL w="6350" cap="flat" cmpd="sng" algn="ctr">
                      <a:solidFill>
                        <a:srgbClr val="CBD8D5"/>
                      </a:solidFill>
                      <a:prstDash val="solid"/>
                      <a:round/>
                      <a:headEnd type="none" w="med" len="med"/>
                      <a:tailEnd type="none" w="med" len="med"/>
                    </a:lnL>
                    <a:lnR w="6350" cap="flat" cmpd="sng" algn="ctr">
                      <a:solidFill>
                        <a:srgbClr val="CBD8D5"/>
                      </a:solidFill>
                      <a:prstDash val="solid"/>
                      <a:round/>
                      <a:headEnd type="none" w="med" len="med"/>
                      <a:tailEnd type="none" w="med" len="med"/>
                    </a:lnR>
                    <a:lnT w="6350" cap="flat" cmpd="sng" algn="ctr">
                      <a:solidFill>
                        <a:srgbClr val="CBD8D5"/>
                      </a:solidFill>
                      <a:prstDash val="solid"/>
                      <a:round/>
                      <a:headEnd type="none" w="med" len="med"/>
                      <a:tailEnd type="none" w="med" len="med"/>
                    </a:lnT>
                    <a:lnB w="6350" cap="flat" cmpd="sng" algn="ctr">
                      <a:solidFill>
                        <a:srgbClr val="CBD8D5"/>
                      </a:solidFill>
                      <a:prstDash val="solid"/>
                      <a:round/>
                      <a:headEnd type="none" w="med" len="med"/>
                      <a:tailEnd type="none" w="med" len="med"/>
                    </a:lnB>
                    <a:solidFill>
                      <a:srgbClr val="F1F7F5"/>
                    </a:solidFill>
                  </a:tcPr>
                </a:tc>
              </a:tr>
            </a:tbl>
          </a:graphicData>
        </a:graphic>
      </p:graphicFrame>
      <p:pic>
        <p:nvPicPr>
          <p:cNvPr id="6" name="Image 0" descr="04_poids_segments.png">    </p:cNvPr>
          <p:cNvPicPr>
            <a:picLocks noChangeAspect="1"/>
          </p:cNvPicPr>
          <p:nvPr/>
        </p:nvPicPr>
        <p:blipFill>
          <a:blip r:embed="rId1"/>
          <a:srcRect l="0" r="0" t="0" b="0"/>
          <a:stretch/>
        </p:blipFill>
        <p:spPr>
          <a:xfrm>
            <a:off x="548640" y="3108960"/>
            <a:ext cx="7955280" cy="3017520"/>
          </a:xfrm>
          <a:prstGeom prst="rect">
            <a:avLst/>
          </a:prstGeom>
        </p:spPr>
      </p:pic>
      <p:sp>
        <p:nvSpPr>
          <p:cNvPr id="7" name="Shape 3"/>
          <p:cNvSpPr/>
          <p:nvPr/>
        </p:nvSpPr>
        <p:spPr>
          <a:xfrm>
            <a:off x="8778240" y="3200400"/>
            <a:ext cx="2862072" cy="1417320"/>
          </a:xfrm>
          <a:prstGeom prst="roundRect">
            <a:avLst>
              <a:gd name="adj" fmla="val 4516"/>
            </a:avLst>
          </a:prstGeom>
          <a:solidFill>
            <a:srgbClr val="D9EBE7"/>
          </a:solidFill>
          <a:ln w="9525">
            <a:solidFill>
              <a:srgbClr val="CBD8D5"/>
            </a:solidFill>
            <a:prstDash val="solid"/>
          </a:ln>
        </p:spPr>
      </p:sp>
      <p:sp>
        <p:nvSpPr>
          <p:cNvPr id="8" name="Text 4"/>
          <p:cNvSpPr txBox="1"/>
          <p:nvPr/>
        </p:nvSpPr>
        <p:spPr>
          <a:xfrm>
            <a:off x="8778240" y="3310128"/>
            <a:ext cx="2862072" cy="658368"/>
          </a:xfrm>
          <a:prstGeom prst="rect">
            <a:avLst/>
          </a:prstGeom>
          <a:noFill/>
          <a:ln/>
        </p:spPr>
        <p:txBody>
          <a:bodyPr wrap="square" lIns="0" tIns="0" rIns="0" bIns="0" rtlCol="0" anchor="ctr"/>
          <a:lstStyle/>
          <a:p>
            <a:pPr algn="ctr" indent="0" marL="0">
              <a:buNone/>
            </a:pPr>
            <a:r>
              <a:rPr lang="en-US" sz="3000" b="1" dirty="0">
                <a:solidFill>
                  <a:srgbClr val="0E6E62"/>
                </a:solidFill>
                <a:latin typeface="Cambria" pitchFamily="34" charset="0"/>
                <a:ea typeface="Cambria" pitchFamily="34" charset="-122"/>
                <a:cs typeface="Cambria" pitchFamily="34" charset="-120"/>
              </a:rPr>
              <a:t>20 / 73</a:t>
            </a:r>
            <a:endParaRPr lang="en-US" sz="3000" dirty="0"/>
          </a:p>
        </p:txBody>
      </p:sp>
      <p:sp>
        <p:nvSpPr>
          <p:cNvPr id="9" name="Text 5"/>
          <p:cNvSpPr txBox="1"/>
          <p:nvPr/>
        </p:nvSpPr>
        <p:spPr>
          <a:xfrm>
            <a:off x="8778240" y="3968496"/>
            <a:ext cx="2862072" cy="502920"/>
          </a:xfrm>
          <a:prstGeom prst="rect">
            <a:avLst/>
          </a:prstGeom>
          <a:noFill/>
          <a:ln/>
        </p:spPr>
        <p:txBody>
          <a:bodyPr wrap="square" lIns="0" tIns="0" rIns="0" bIns="0" rtlCol="0" anchor="t"/>
          <a:lstStyle/>
          <a:p>
            <a:pPr algn="ctr" indent="0" marL="0">
              <a:buNone/>
            </a:pPr>
            <a:r>
              <a:rPr lang="en-US" sz="1150" dirty="0">
                <a:solidFill>
                  <a:srgbClr val="5F6E6C"/>
                </a:solidFill>
                <a:latin typeface="Calibri" pitchFamily="34" charset="0"/>
                <a:ea typeface="Calibri" pitchFamily="34" charset="-122"/>
                <a:cs typeface="Calibri" pitchFamily="34" charset="-120"/>
              </a:rPr>
              <a:t>% des clients font</a:t>
            </a:r>
            <a:endParaRPr lang="en-US" sz="1150" dirty="0"/>
          </a:p>
          <a:p>
            <a:pPr algn="ctr" indent="0" marL="0">
              <a:buNone/>
            </a:pPr>
            <a:r>
              <a:rPr lang="en-US" sz="1150" dirty="0">
                <a:solidFill>
                  <a:srgbClr val="5F6E6C"/>
                </a:solidFill>
                <a:latin typeface="Calibri" pitchFamily="34" charset="0"/>
                <a:ea typeface="Calibri" pitchFamily="34" charset="-122"/>
                <a:cs typeface="Calibri" pitchFamily="34" charset="-120"/>
              </a:rPr>
              <a:t>% du chiffre d'affaires</a:t>
            </a:r>
            <a:endParaRPr lang="en-US" sz="1150" dirty="0"/>
          </a:p>
        </p:txBody>
      </p:sp>
      <p:sp>
        <p:nvSpPr>
          <p:cNvPr id="10" name="Shape 6"/>
          <p:cNvSpPr/>
          <p:nvPr/>
        </p:nvSpPr>
        <p:spPr>
          <a:xfrm>
            <a:off x="8778240" y="4754880"/>
            <a:ext cx="2862072" cy="1371600"/>
          </a:xfrm>
          <a:prstGeom prst="roundRect">
            <a:avLst>
              <a:gd name="adj" fmla="val 4667"/>
            </a:avLst>
          </a:prstGeom>
          <a:solidFill>
            <a:srgbClr val="F1F7F5"/>
          </a:solidFill>
          <a:ln w="9525">
            <a:solidFill>
              <a:srgbClr val="CBD8D5"/>
            </a:solidFill>
            <a:prstDash val="solid"/>
          </a:ln>
        </p:spPr>
      </p:sp>
      <p:sp>
        <p:nvSpPr>
          <p:cNvPr id="11" name="Text 7"/>
          <p:cNvSpPr txBox="1"/>
          <p:nvPr/>
        </p:nvSpPr>
        <p:spPr>
          <a:xfrm>
            <a:off x="9006840" y="4937760"/>
            <a:ext cx="2404872" cy="1051560"/>
          </a:xfrm>
          <a:prstGeom prst="rect">
            <a:avLst/>
          </a:prstGeom>
          <a:noFill/>
          <a:ln/>
        </p:spPr>
        <p:txBody>
          <a:bodyPr wrap="square" lIns="0" tIns="0" rIns="0" bIns="0" rtlCol="0" anchor="ctr"/>
          <a:lstStyle/>
          <a:p>
            <a:pPr indent="0" marL="0">
              <a:lnSpc>
                <a:spcPct val="115000"/>
              </a:lnSpc>
              <a:buNone/>
            </a:pPr>
            <a:r>
              <a:rPr lang="en-US" sz="1250" dirty="0">
                <a:solidFill>
                  <a:srgbClr val="16201F"/>
                </a:solidFill>
                <a:latin typeface="Calibri" pitchFamily="34" charset="0"/>
                <a:ea typeface="Calibri" pitchFamily="34" charset="-122"/>
                <a:cs typeface="Calibri" pitchFamily="34" charset="-120"/>
              </a:rPr>
              <a:t>208 références distinctes achetées par un Champion, contre 23 par un dormant : un profil de grossiste.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241280" cy="685800"/>
          </a:xfrm>
          <a:prstGeom prst="rect">
            <a:avLst/>
          </a:prstGeom>
          <a:noFill/>
          <a:ln/>
        </p:spPr>
        <p:txBody>
          <a:bodyPr wrap="square" lIns="0" tIns="0" rIns="0" bIns="0" rtlCol="0" anchor="ctr"/>
          <a:lstStyle/>
          <a:p>
            <a:pPr indent="0" marL="0">
              <a:buNone/>
            </a:pPr>
            <a:r>
              <a:rPr lang="en-US" sz="3200" b="1" dirty="0">
                <a:solidFill>
                  <a:srgbClr val="16201F"/>
                </a:solidFill>
                <a:latin typeface="Cambria" pitchFamily="34" charset="0"/>
                <a:ea typeface="Cambria" pitchFamily="34" charset="-122"/>
                <a:cs typeface="Cambria" pitchFamily="34" charset="-120"/>
              </a:rPr>
              <a:t>Ce que le clustering apporte</a:t>
            </a:r>
            <a:endParaRPr lang="en-US" sz="3200" dirty="0"/>
          </a:p>
        </p:txBody>
      </p:sp>
      <p:sp>
        <p:nvSpPr>
          <p:cNvPr id="3" name="Shape 1"/>
          <p:cNvSpPr/>
          <p:nvPr/>
        </p:nvSpPr>
        <p:spPr>
          <a:xfrm>
            <a:off x="11018520" y="411480"/>
            <a:ext cx="621792" cy="621792"/>
          </a:xfrm>
          <a:prstGeom prst="ellipse">
            <a:avLst/>
          </a:prstGeom>
          <a:solidFill>
            <a:srgbClr val="D9EBE7"/>
          </a:solidFill>
          <a:ln/>
        </p:spPr>
      </p:sp>
      <p:sp>
        <p:nvSpPr>
          <p:cNvPr id="4" name="Text 2"/>
          <p:cNvSpPr txBox="1"/>
          <p:nvPr/>
        </p:nvSpPr>
        <p:spPr>
          <a:xfrm>
            <a:off x="11018520" y="411480"/>
            <a:ext cx="621792" cy="621792"/>
          </a:xfrm>
          <a:prstGeom prst="rect">
            <a:avLst/>
          </a:prstGeom>
          <a:noFill/>
          <a:ln/>
        </p:spPr>
        <p:txBody>
          <a:bodyPr wrap="square" lIns="0" tIns="0" rIns="0" bIns="0" rtlCol="0" anchor="ctr"/>
          <a:lstStyle/>
          <a:p>
            <a:pPr algn="ctr" indent="0" marL="0">
              <a:buNone/>
            </a:pPr>
            <a:r>
              <a:rPr lang="en-US" sz="1500" b="1" dirty="0">
                <a:solidFill>
                  <a:srgbClr val="0E6E62"/>
                </a:solidFill>
                <a:latin typeface="Calibri" pitchFamily="34" charset="0"/>
                <a:ea typeface="Calibri" pitchFamily="34" charset="-122"/>
                <a:cs typeface="Calibri" pitchFamily="34" charset="-120"/>
              </a:rPr>
              <a:t>4</a:t>
            </a:r>
            <a:endParaRPr lang="en-US" sz="1500" dirty="0"/>
          </a:p>
        </p:txBody>
      </p:sp>
      <p:pic>
        <p:nvPicPr>
          <p:cNvPr id="5" name="Image 0" descr="04_radar_segments.png">    </p:cNvPr>
          <p:cNvPicPr>
            <a:picLocks noChangeAspect="1"/>
          </p:cNvPicPr>
          <p:nvPr/>
        </p:nvPicPr>
        <p:blipFill>
          <a:blip r:embed="rId1"/>
          <a:srcRect l="0" r="0" t="0" b="0"/>
          <a:stretch/>
        </p:blipFill>
        <p:spPr>
          <a:xfrm>
            <a:off x="548640" y="1188720"/>
            <a:ext cx="4663440" cy="4663440"/>
          </a:xfrm>
          <a:prstGeom prst="rect">
            <a:avLst/>
          </a:prstGeom>
        </p:spPr>
      </p:pic>
      <p:sp>
        <p:nvSpPr>
          <p:cNvPr id="6" name="Shape 3"/>
          <p:cNvSpPr/>
          <p:nvPr/>
        </p:nvSpPr>
        <p:spPr>
          <a:xfrm>
            <a:off x="5577840" y="1280160"/>
            <a:ext cx="6062472" cy="1691640"/>
          </a:xfrm>
          <a:prstGeom prst="roundRect">
            <a:avLst>
              <a:gd name="adj" fmla="val 3784"/>
            </a:avLst>
          </a:prstGeom>
          <a:solidFill>
            <a:srgbClr val="D9EBE7"/>
          </a:solidFill>
          <a:ln w="9525">
            <a:solidFill>
              <a:srgbClr val="CBD8D5"/>
            </a:solidFill>
            <a:prstDash val="solid"/>
          </a:ln>
        </p:spPr>
      </p:sp>
      <p:sp>
        <p:nvSpPr>
          <p:cNvPr id="7" name="Text 4"/>
          <p:cNvSpPr txBox="1"/>
          <p:nvPr/>
        </p:nvSpPr>
        <p:spPr>
          <a:xfrm>
            <a:off x="5833872" y="1463040"/>
            <a:ext cx="5550408" cy="411480"/>
          </a:xfrm>
          <a:prstGeom prst="rect">
            <a:avLst/>
          </a:prstGeom>
          <a:noFill/>
          <a:ln/>
        </p:spPr>
        <p:txBody>
          <a:bodyPr wrap="square" lIns="0" tIns="0" rIns="0" bIns="0" rtlCol="0" anchor="ctr"/>
          <a:lstStyle/>
          <a:p>
            <a:pPr indent="0" marL="0">
              <a:buNone/>
            </a:pPr>
            <a:r>
              <a:rPr lang="en-US" sz="2000" b="1" dirty="0">
                <a:solidFill>
                  <a:srgbClr val="16201F"/>
                </a:solidFill>
                <a:latin typeface="Cambria" pitchFamily="34" charset="0"/>
                <a:ea typeface="Cambria" pitchFamily="34" charset="-122"/>
                <a:cs typeface="Cambria" pitchFamily="34" charset="-120"/>
              </a:rPr>
              <a:t>Deux profils, un même score</a:t>
            </a:r>
            <a:endParaRPr lang="en-US" sz="2000" dirty="0"/>
          </a:p>
        </p:txBody>
      </p:sp>
      <p:sp>
        <p:nvSpPr>
          <p:cNvPr id="8" name="Text 5"/>
          <p:cNvSpPr txBox="1"/>
          <p:nvPr/>
        </p:nvSpPr>
        <p:spPr>
          <a:xfrm>
            <a:off x="5833872" y="1901952"/>
            <a:ext cx="5550408" cy="914400"/>
          </a:xfrm>
          <a:prstGeom prst="rect">
            <a:avLst/>
          </a:prstGeom>
          <a:noFill/>
          <a:ln/>
        </p:spPr>
        <p:txBody>
          <a:bodyPr wrap="square" lIns="0" tIns="0" rIns="0" bIns="0" rtlCol="0" anchor="ctr"/>
          <a:lstStyle/>
          <a:p>
            <a:pPr indent="0" marL="0">
              <a:lnSpc>
                <a:spcPct val="120000"/>
              </a:lnSpc>
              <a:buNone/>
            </a:pPr>
            <a:r>
              <a:rPr lang="en-US" sz="1400" dirty="0">
                <a:solidFill>
                  <a:srgbClr val="16201F"/>
                </a:solidFill>
                <a:latin typeface="Calibri" pitchFamily="34" charset="0"/>
                <a:ea typeface="Calibri" pitchFamily="34" charset="-122"/>
                <a:cs typeface="Calibri" pitchFamily="34" charset="-120"/>
              </a:rPr>
              <a:t>« À risque » et « Nouveaux » obtiennent un score RFM agrégé quasi identique : 9,8 contre 9,7.</a:t>
            </a:r>
            <a:endParaRPr lang="en-US" sz="1400" dirty="0"/>
          </a:p>
        </p:txBody>
      </p:sp>
      <p:sp>
        <p:nvSpPr>
          <p:cNvPr id="9" name="Shape 6"/>
          <p:cNvSpPr/>
          <p:nvPr/>
        </p:nvSpPr>
        <p:spPr>
          <a:xfrm>
            <a:off x="5577840" y="3154680"/>
            <a:ext cx="2935224" cy="1965960"/>
          </a:xfrm>
          <a:prstGeom prst="roundRect">
            <a:avLst>
              <a:gd name="adj" fmla="val 3256"/>
            </a:avLst>
          </a:prstGeom>
          <a:solidFill>
            <a:srgbClr val="F1F7F5"/>
          </a:solidFill>
          <a:ln w="9525">
            <a:solidFill>
              <a:srgbClr val="CBD8D5"/>
            </a:solidFill>
            <a:prstDash val="solid"/>
          </a:ln>
        </p:spPr>
      </p:sp>
      <p:sp>
        <p:nvSpPr>
          <p:cNvPr id="10" name="Text 7"/>
          <p:cNvSpPr txBox="1"/>
          <p:nvPr/>
        </p:nvSpPr>
        <p:spPr>
          <a:xfrm>
            <a:off x="5788152" y="3364992"/>
            <a:ext cx="2514600" cy="1600200"/>
          </a:xfrm>
          <a:prstGeom prst="rect">
            <a:avLst/>
          </a:prstGeom>
          <a:noFill/>
          <a:ln/>
        </p:spPr>
        <p:txBody>
          <a:bodyPr wrap="square" lIns="0" tIns="0" rIns="0" bIns="0" rtlCol="0" anchor="ctr"/>
          <a:lstStyle/>
          <a:p>
            <a:pPr indent="0" marL="0">
              <a:lnSpc>
                <a:spcPct val="118000"/>
              </a:lnSpc>
              <a:buNone/>
            </a:pPr>
            <a:r>
              <a:rPr lang="en-US" sz="1350" b="1" dirty="0">
                <a:solidFill>
                  <a:srgbClr val="0E6E62"/>
                </a:solidFill>
                <a:latin typeface="Calibri" pitchFamily="34" charset="0"/>
                <a:ea typeface="Calibri" pitchFamily="34" charset="-122"/>
                <a:cs typeface="Calibri" pitchFamily="34" charset="-120"/>
              </a:rPr>
              <a:t>À risque</a:t>
            </a:r>
            <a:endParaRPr lang="en-US" sz="1350" dirty="0"/>
          </a:p>
          <a:p>
            <a:pPr indent="0" marL="0">
              <a:lnSpc>
                <a:spcPct val="118000"/>
              </a:lnSpc>
              <a:buNone/>
            </a:pPr>
            <a:r>
              <a:rPr lang="en-US" sz="1350" dirty="0">
                <a:solidFill>
                  <a:srgbClr val="16201F"/>
                </a:solidFill>
                <a:latin typeface="Calibri" pitchFamily="34" charset="0"/>
                <a:ea typeface="Calibri" pitchFamily="34" charset="-122"/>
                <a:cs typeface="Calibri" pitchFamily="34" charset="-120"/>
              </a:rPr>
              <a:t>5 commandes, un bon historique — mais plus rien depuis 228 jours.</a:t>
            </a:r>
            <a:endParaRPr lang="en-US" sz="1350" dirty="0"/>
          </a:p>
        </p:txBody>
      </p:sp>
      <p:sp>
        <p:nvSpPr>
          <p:cNvPr id="11" name="Shape 8"/>
          <p:cNvSpPr/>
          <p:nvPr/>
        </p:nvSpPr>
        <p:spPr>
          <a:xfrm>
            <a:off x="8705088" y="3154680"/>
            <a:ext cx="2935224" cy="1965960"/>
          </a:xfrm>
          <a:prstGeom prst="roundRect">
            <a:avLst>
              <a:gd name="adj" fmla="val 3256"/>
            </a:avLst>
          </a:prstGeom>
          <a:solidFill>
            <a:srgbClr val="F1F7F5"/>
          </a:solidFill>
          <a:ln w="9525">
            <a:solidFill>
              <a:srgbClr val="CBD8D5"/>
            </a:solidFill>
            <a:prstDash val="solid"/>
          </a:ln>
        </p:spPr>
      </p:sp>
      <p:sp>
        <p:nvSpPr>
          <p:cNvPr id="12" name="Text 9"/>
          <p:cNvSpPr txBox="1"/>
          <p:nvPr/>
        </p:nvSpPr>
        <p:spPr>
          <a:xfrm>
            <a:off x="8915400" y="3364992"/>
            <a:ext cx="2514600" cy="1600200"/>
          </a:xfrm>
          <a:prstGeom prst="rect">
            <a:avLst/>
          </a:prstGeom>
          <a:noFill/>
          <a:ln/>
        </p:spPr>
        <p:txBody>
          <a:bodyPr wrap="square" lIns="0" tIns="0" rIns="0" bIns="0" rtlCol="0" anchor="ctr"/>
          <a:lstStyle/>
          <a:p>
            <a:pPr indent="0" marL="0">
              <a:lnSpc>
                <a:spcPct val="118000"/>
              </a:lnSpc>
              <a:buNone/>
            </a:pPr>
            <a:r>
              <a:rPr lang="en-US" sz="1350" b="1" dirty="0">
                <a:solidFill>
                  <a:srgbClr val="0E6E62"/>
                </a:solidFill>
                <a:latin typeface="Calibri" pitchFamily="34" charset="0"/>
                <a:ea typeface="Calibri" pitchFamily="34" charset="-122"/>
                <a:cs typeface="Calibri" pitchFamily="34" charset="-120"/>
              </a:rPr>
              <a:t>Nouveaux</a:t>
            </a:r>
            <a:endParaRPr lang="en-US" sz="1350" dirty="0"/>
          </a:p>
          <a:p>
            <a:pPr indent="0" marL="0">
              <a:lnSpc>
                <a:spcPct val="118000"/>
              </a:lnSpc>
              <a:buNone/>
            </a:pPr>
            <a:r>
              <a:rPr lang="en-US" sz="1350" dirty="0">
                <a:solidFill>
                  <a:srgbClr val="16201F"/>
                </a:solidFill>
                <a:latin typeface="Calibri" pitchFamily="34" charset="0"/>
                <a:ea typeface="Calibri" pitchFamily="34" charset="-122"/>
                <a:cs typeface="Calibri" pitchFamily="34" charset="-120"/>
              </a:rPr>
              <a:t>Achat il y a 28 jours — mais seulement 3 commandes au total.</a:t>
            </a:r>
            <a:endParaRPr lang="en-US" sz="1350" dirty="0"/>
          </a:p>
        </p:txBody>
      </p:sp>
      <p:sp>
        <p:nvSpPr>
          <p:cNvPr id="13" name="Shape 10"/>
          <p:cNvSpPr/>
          <p:nvPr/>
        </p:nvSpPr>
        <p:spPr>
          <a:xfrm>
            <a:off x="548640" y="5806440"/>
            <a:ext cx="11091672" cy="566928"/>
          </a:xfrm>
          <a:prstGeom prst="roundRect">
            <a:avLst>
              <a:gd name="adj" fmla="val 11290"/>
            </a:avLst>
          </a:prstGeom>
          <a:solidFill>
            <a:srgbClr val="D9EBE7"/>
          </a:solidFill>
          <a:ln w="9525">
            <a:solidFill>
              <a:srgbClr val="CBD8D5"/>
            </a:solidFill>
            <a:prstDash val="solid"/>
          </a:ln>
        </p:spPr>
      </p:sp>
      <p:sp>
        <p:nvSpPr>
          <p:cNvPr id="14" name="Text 11"/>
          <p:cNvSpPr txBox="1"/>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6E62"/>
                </a:solidFill>
                <a:latin typeface="Calibri" pitchFamily="34" charset="0"/>
                <a:ea typeface="Calibri" pitchFamily="34" charset="-122"/>
                <a:cs typeface="Calibri" pitchFamily="34" charset="-120"/>
              </a:rPr>
              <a:t>Une grille par score les confondrait. Deux actions marketing opposées s'imposent pourtant.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241280" cy="685800"/>
          </a:xfrm>
          <a:prstGeom prst="rect">
            <a:avLst/>
          </a:prstGeom>
          <a:noFill/>
          <a:ln/>
        </p:spPr>
        <p:txBody>
          <a:bodyPr wrap="square" lIns="0" tIns="0" rIns="0" bIns="0" rtlCol="0" anchor="ctr"/>
          <a:lstStyle/>
          <a:p>
            <a:pPr indent="0" marL="0">
              <a:buNone/>
            </a:pPr>
            <a:r>
              <a:rPr lang="en-US" sz="3200" b="1" dirty="0">
                <a:solidFill>
                  <a:srgbClr val="16201F"/>
                </a:solidFill>
                <a:latin typeface="Cambria" pitchFamily="34" charset="0"/>
                <a:ea typeface="Cambria" pitchFamily="34" charset="-122"/>
                <a:cs typeface="Cambria" pitchFamily="34" charset="-120"/>
              </a:rPr>
              <a:t>Recommandations par segment</a:t>
            </a:r>
            <a:endParaRPr lang="en-US" sz="3200" dirty="0"/>
          </a:p>
        </p:txBody>
      </p:sp>
      <p:sp>
        <p:nvSpPr>
          <p:cNvPr id="3" name="Shape 1"/>
          <p:cNvSpPr/>
          <p:nvPr/>
        </p:nvSpPr>
        <p:spPr>
          <a:xfrm>
            <a:off x="11018520" y="411480"/>
            <a:ext cx="621792" cy="621792"/>
          </a:xfrm>
          <a:prstGeom prst="ellipse">
            <a:avLst/>
          </a:prstGeom>
          <a:solidFill>
            <a:srgbClr val="D9EBE7"/>
          </a:solidFill>
          <a:ln/>
        </p:spPr>
      </p:sp>
      <p:sp>
        <p:nvSpPr>
          <p:cNvPr id="4" name="Text 2"/>
          <p:cNvSpPr txBox="1"/>
          <p:nvPr/>
        </p:nvSpPr>
        <p:spPr>
          <a:xfrm>
            <a:off x="11018520" y="411480"/>
            <a:ext cx="621792" cy="621792"/>
          </a:xfrm>
          <a:prstGeom prst="rect">
            <a:avLst/>
          </a:prstGeom>
          <a:noFill/>
          <a:ln/>
        </p:spPr>
        <p:txBody>
          <a:bodyPr wrap="square" lIns="0" tIns="0" rIns="0" bIns="0" rtlCol="0" anchor="ctr"/>
          <a:lstStyle/>
          <a:p>
            <a:pPr algn="ctr" indent="0" marL="0">
              <a:buNone/>
            </a:pPr>
            <a:r>
              <a:rPr lang="en-US" sz="1500" b="1" dirty="0">
                <a:solidFill>
                  <a:srgbClr val="0E6E62"/>
                </a:solidFill>
                <a:latin typeface="Calibri" pitchFamily="34" charset="0"/>
                <a:ea typeface="Calibri" pitchFamily="34" charset="-122"/>
                <a:cs typeface="Calibri" pitchFamily="34" charset="-120"/>
              </a:rPr>
              <a:t>4</a:t>
            </a:r>
            <a:endParaRPr lang="en-US" sz="1500" dirty="0"/>
          </a:p>
        </p:txBody>
      </p:sp>
      <p:sp>
        <p:nvSpPr>
          <p:cNvPr id="5" name="Shape 3"/>
          <p:cNvSpPr/>
          <p:nvPr/>
        </p:nvSpPr>
        <p:spPr>
          <a:xfrm>
            <a:off x="548640" y="1207008"/>
            <a:ext cx="11091672" cy="1078992"/>
          </a:xfrm>
          <a:prstGeom prst="roundRect">
            <a:avLst>
              <a:gd name="adj" fmla="val 5932"/>
            </a:avLst>
          </a:prstGeom>
          <a:solidFill>
            <a:srgbClr val="D9EBE7"/>
          </a:solidFill>
          <a:ln w="9525">
            <a:solidFill>
              <a:srgbClr val="CBD8D5"/>
            </a:solidFill>
            <a:prstDash val="solid"/>
          </a:ln>
        </p:spPr>
      </p:sp>
      <p:sp>
        <p:nvSpPr>
          <p:cNvPr id="6" name="Shape 4"/>
          <p:cNvSpPr/>
          <p:nvPr/>
        </p:nvSpPr>
        <p:spPr>
          <a:xfrm>
            <a:off x="777240" y="1517904"/>
            <a:ext cx="457200" cy="457200"/>
          </a:xfrm>
          <a:prstGeom prst="ellipse">
            <a:avLst/>
          </a:prstGeom>
          <a:solidFill>
            <a:srgbClr val="0E6E62"/>
          </a:solidFill>
          <a:ln/>
        </p:spPr>
      </p:sp>
      <p:sp>
        <p:nvSpPr>
          <p:cNvPr id="7" name="Text 5"/>
          <p:cNvSpPr txBox="1"/>
          <p:nvPr/>
        </p:nvSpPr>
        <p:spPr>
          <a:xfrm>
            <a:off x="777240" y="151790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P1</a:t>
            </a:r>
            <a:endParaRPr lang="en-US" sz="1200" dirty="0"/>
          </a:p>
        </p:txBody>
      </p:sp>
      <p:sp>
        <p:nvSpPr>
          <p:cNvPr id="8" name="Text 6"/>
          <p:cNvSpPr txBox="1"/>
          <p:nvPr/>
        </p:nvSpPr>
        <p:spPr>
          <a:xfrm>
            <a:off x="1371600" y="1353312"/>
            <a:ext cx="2514600" cy="777240"/>
          </a:xfrm>
          <a:prstGeom prst="rect">
            <a:avLst/>
          </a:prstGeom>
          <a:noFill/>
          <a:ln/>
        </p:spPr>
        <p:txBody>
          <a:bodyPr wrap="square" lIns="0" tIns="0" rIns="0" bIns="0" rtlCol="0" anchor="ctr"/>
          <a:lstStyle/>
          <a:p>
            <a:pPr indent="0" marL="0">
              <a:buNone/>
            </a:pPr>
            <a:r>
              <a:rPr lang="en-US" sz="1700" b="1" dirty="0">
                <a:solidFill>
                  <a:srgbClr val="16201F"/>
                </a:solidFill>
                <a:latin typeface="Cambria" pitchFamily="34" charset="0"/>
                <a:ea typeface="Cambria" pitchFamily="34" charset="-122"/>
                <a:cs typeface="Cambria" pitchFamily="34" charset="-120"/>
              </a:rPr>
              <a:t>Champions</a:t>
            </a:r>
            <a:endParaRPr lang="en-US" sz="1700" dirty="0"/>
          </a:p>
        </p:txBody>
      </p:sp>
      <p:sp>
        <p:nvSpPr>
          <p:cNvPr id="9" name="Text 7"/>
          <p:cNvSpPr txBox="1"/>
          <p:nvPr/>
        </p:nvSpPr>
        <p:spPr>
          <a:xfrm>
            <a:off x="3977640" y="1353312"/>
            <a:ext cx="5394960" cy="777240"/>
          </a:xfrm>
          <a:prstGeom prst="rect">
            <a:avLst/>
          </a:prstGeom>
          <a:noFill/>
          <a:ln/>
        </p:spPr>
        <p:txBody>
          <a:bodyPr wrap="square" lIns="0" tIns="0" rIns="0" bIns="0" rtlCol="0" anchor="ctr"/>
          <a:lstStyle/>
          <a:p>
            <a:pPr indent="0" marL="0">
              <a:lnSpc>
                <a:spcPct val="112000"/>
              </a:lnSpc>
              <a:buNone/>
            </a:pPr>
            <a:r>
              <a:rPr lang="en-US" sz="1300" dirty="0">
                <a:solidFill>
                  <a:srgbClr val="16201F"/>
                </a:solidFill>
                <a:latin typeface="Calibri" pitchFamily="34" charset="0"/>
                <a:ea typeface="Calibri" pitchFamily="34" charset="-122"/>
                <a:cs typeface="Calibri" pitchFamily="34" charset="-120"/>
              </a:rPr>
              <a:t>Fidélisation premium : accès anticipé, contact commercial dédié, conditions de gros négociées.</a:t>
            </a:r>
            <a:endParaRPr lang="en-US" sz="1300" dirty="0"/>
          </a:p>
        </p:txBody>
      </p:sp>
      <p:sp>
        <p:nvSpPr>
          <p:cNvPr id="10" name="Text 8"/>
          <p:cNvSpPr txBox="1"/>
          <p:nvPr/>
        </p:nvSpPr>
        <p:spPr>
          <a:xfrm>
            <a:off x="9509760" y="1353312"/>
            <a:ext cx="1920240" cy="777240"/>
          </a:xfrm>
          <a:prstGeom prst="rect">
            <a:avLst/>
          </a:prstGeom>
          <a:noFill/>
          <a:ln/>
        </p:spPr>
        <p:txBody>
          <a:bodyPr wrap="square" lIns="0" tIns="0" rIns="0" bIns="0" rtlCol="0" anchor="ctr"/>
          <a:lstStyle/>
          <a:p>
            <a:pPr indent="0" marL="0">
              <a:buNone/>
            </a:pPr>
            <a:r>
              <a:rPr lang="en-US" sz="1050" dirty="0">
                <a:solidFill>
                  <a:srgbClr val="5F6E6C"/>
                </a:solidFill>
                <a:latin typeface="Calibri" pitchFamily="34" charset="0"/>
                <a:ea typeface="Calibri" pitchFamily="34" charset="-122"/>
                <a:cs typeface="Calibri" pitchFamily="34" charset="-120"/>
              </a:rPr>
              <a:t>Indicateur
</a:t>
            </a:r>
            <a:pPr indent="0" marL="0">
              <a:buNone/>
            </a:pPr>
            <a:r>
              <a:rPr lang="en-US" sz="1300" b="1" dirty="0">
                <a:solidFill>
                  <a:srgbClr val="0E6E62"/>
                </a:solidFill>
                <a:latin typeface="Calibri" pitchFamily="34" charset="0"/>
                <a:ea typeface="Calibri" pitchFamily="34" charset="-122"/>
                <a:cs typeface="Calibri" pitchFamily="34" charset="-120"/>
              </a:rPr>
              <a:t>Rétention à 12 mois</a:t>
            </a:r>
            <a:endParaRPr lang="en-US" sz="1050" dirty="0"/>
          </a:p>
        </p:txBody>
      </p:sp>
      <p:sp>
        <p:nvSpPr>
          <p:cNvPr id="11" name="Shape 9"/>
          <p:cNvSpPr/>
          <p:nvPr/>
        </p:nvSpPr>
        <p:spPr>
          <a:xfrm>
            <a:off x="548640" y="2359152"/>
            <a:ext cx="11091672" cy="1078992"/>
          </a:xfrm>
          <a:prstGeom prst="roundRect">
            <a:avLst>
              <a:gd name="adj" fmla="val 5932"/>
            </a:avLst>
          </a:prstGeom>
          <a:solidFill>
            <a:srgbClr val="F1F7F5"/>
          </a:solidFill>
          <a:ln w="9525">
            <a:solidFill>
              <a:srgbClr val="CBD8D5"/>
            </a:solidFill>
            <a:prstDash val="solid"/>
          </a:ln>
        </p:spPr>
      </p:sp>
      <p:sp>
        <p:nvSpPr>
          <p:cNvPr id="12" name="Shape 10"/>
          <p:cNvSpPr/>
          <p:nvPr/>
        </p:nvSpPr>
        <p:spPr>
          <a:xfrm>
            <a:off x="777240" y="2670048"/>
            <a:ext cx="457200" cy="457200"/>
          </a:xfrm>
          <a:prstGeom prst="ellipse">
            <a:avLst/>
          </a:prstGeom>
          <a:solidFill>
            <a:srgbClr val="55706C"/>
          </a:solidFill>
          <a:ln/>
        </p:spPr>
      </p:sp>
      <p:sp>
        <p:nvSpPr>
          <p:cNvPr id="13" name="Text 11"/>
          <p:cNvSpPr txBox="1"/>
          <p:nvPr/>
        </p:nvSpPr>
        <p:spPr>
          <a:xfrm>
            <a:off x="777240" y="267004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P2</a:t>
            </a:r>
            <a:endParaRPr lang="en-US" sz="1200" dirty="0"/>
          </a:p>
        </p:txBody>
      </p:sp>
      <p:sp>
        <p:nvSpPr>
          <p:cNvPr id="14" name="Text 12"/>
          <p:cNvSpPr txBox="1"/>
          <p:nvPr/>
        </p:nvSpPr>
        <p:spPr>
          <a:xfrm>
            <a:off x="1371600" y="2505456"/>
            <a:ext cx="2514600" cy="777240"/>
          </a:xfrm>
          <a:prstGeom prst="rect">
            <a:avLst/>
          </a:prstGeom>
          <a:noFill/>
          <a:ln/>
        </p:spPr>
        <p:txBody>
          <a:bodyPr wrap="square" lIns="0" tIns="0" rIns="0" bIns="0" rtlCol="0" anchor="ctr"/>
          <a:lstStyle/>
          <a:p>
            <a:pPr indent="0" marL="0">
              <a:buNone/>
            </a:pPr>
            <a:r>
              <a:rPr lang="en-US" sz="1700" b="1" dirty="0">
                <a:solidFill>
                  <a:srgbClr val="16201F"/>
                </a:solidFill>
                <a:latin typeface="Cambria" pitchFamily="34" charset="0"/>
                <a:ea typeface="Cambria" pitchFamily="34" charset="-122"/>
                <a:cs typeface="Cambria" pitchFamily="34" charset="-120"/>
              </a:rPr>
              <a:t>À risque</a:t>
            </a:r>
            <a:endParaRPr lang="en-US" sz="1700" dirty="0"/>
          </a:p>
        </p:txBody>
      </p:sp>
      <p:sp>
        <p:nvSpPr>
          <p:cNvPr id="15" name="Text 13"/>
          <p:cNvSpPr txBox="1"/>
          <p:nvPr/>
        </p:nvSpPr>
        <p:spPr>
          <a:xfrm>
            <a:off x="3977640" y="2505456"/>
            <a:ext cx="5394960" cy="777240"/>
          </a:xfrm>
          <a:prstGeom prst="rect">
            <a:avLst/>
          </a:prstGeom>
          <a:noFill/>
          <a:ln/>
        </p:spPr>
        <p:txBody>
          <a:bodyPr wrap="square" lIns="0" tIns="0" rIns="0" bIns="0" rtlCol="0" anchor="ctr"/>
          <a:lstStyle/>
          <a:p>
            <a:pPr indent="0" marL="0">
              <a:lnSpc>
                <a:spcPct val="112000"/>
              </a:lnSpc>
              <a:buNone/>
            </a:pPr>
            <a:r>
              <a:rPr lang="en-US" sz="1300" dirty="0">
                <a:solidFill>
                  <a:srgbClr val="16201F"/>
                </a:solidFill>
                <a:latin typeface="Calibri" pitchFamily="34" charset="0"/>
                <a:ea typeface="Calibri" pitchFamily="34" charset="-122"/>
                <a:cs typeface="Calibri" pitchFamily="34" charset="-120"/>
              </a:rPr>
              <a:t>Réactivation ciblée sur leurs références habituelles, offre limitée dans le temps. 2,87 M£ exposés.</a:t>
            </a:r>
            <a:endParaRPr lang="en-US" sz="1300" dirty="0"/>
          </a:p>
        </p:txBody>
      </p:sp>
      <p:sp>
        <p:nvSpPr>
          <p:cNvPr id="16" name="Text 14"/>
          <p:cNvSpPr txBox="1"/>
          <p:nvPr/>
        </p:nvSpPr>
        <p:spPr>
          <a:xfrm>
            <a:off x="9509760" y="2505456"/>
            <a:ext cx="1920240" cy="777240"/>
          </a:xfrm>
          <a:prstGeom prst="rect">
            <a:avLst/>
          </a:prstGeom>
          <a:noFill/>
          <a:ln/>
        </p:spPr>
        <p:txBody>
          <a:bodyPr wrap="square" lIns="0" tIns="0" rIns="0" bIns="0" rtlCol="0" anchor="ctr"/>
          <a:lstStyle/>
          <a:p>
            <a:pPr indent="0" marL="0">
              <a:buNone/>
            </a:pPr>
            <a:r>
              <a:rPr lang="en-US" sz="1050" dirty="0">
                <a:solidFill>
                  <a:srgbClr val="5F6E6C"/>
                </a:solidFill>
                <a:latin typeface="Calibri" pitchFamily="34" charset="0"/>
                <a:ea typeface="Calibri" pitchFamily="34" charset="-122"/>
                <a:cs typeface="Calibri" pitchFamily="34" charset="-120"/>
              </a:rPr>
              <a:t>Indicateur
</a:t>
            </a:r>
            <a:pPr indent="0" marL="0">
              <a:buNone/>
            </a:pPr>
            <a:r>
              <a:rPr lang="en-US" sz="1300" b="1" dirty="0">
                <a:solidFill>
                  <a:srgbClr val="0E6E62"/>
                </a:solidFill>
                <a:latin typeface="Calibri" pitchFamily="34" charset="0"/>
                <a:ea typeface="Calibri" pitchFamily="34" charset="-122"/>
                <a:cs typeface="Calibri" pitchFamily="34" charset="-120"/>
              </a:rPr>
              <a:t>Réachat à 60 jours</a:t>
            </a:r>
            <a:endParaRPr lang="en-US" sz="1050" dirty="0"/>
          </a:p>
        </p:txBody>
      </p:sp>
      <p:sp>
        <p:nvSpPr>
          <p:cNvPr id="17" name="Shape 15"/>
          <p:cNvSpPr/>
          <p:nvPr/>
        </p:nvSpPr>
        <p:spPr>
          <a:xfrm>
            <a:off x="548640" y="3511296"/>
            <a:ext cx="11091672" cy="1078992"/>
          </a:xfrm>
          <a:prstGeom prst="roundRect">
            <a:avLst>
              <a:gd name="adj" fmla="val 5932"/>
            </a:avLst>
          </a:prstGeom>
          <a:solidFill>
            <a:srgbClr val="F1F7F5"/>
          </a:solidFill>
          <a:ln w="9525">
            <a:solidFill>
              <a:srgbClr val="CBD8D5"/>
            </a:solidFill>
            <a:prstDash val="solid"/>
          </a:ln>
        </p:spPr>
      </p:sp>
      <p:sp>
        <p:nvSpPr>
          <p:cNvPr id="18" name="Shape 16"/>
          <p:cNvSpPr/>
          <p:nvPr/>
        </p:nvSpPr>
        <p:spPr>
          <a:xfrm>
            <a:off x="777240" y="3822192"/>
            <a:ext cx="457200" cy="457200"/>
          </a:xfrm>
          <a:prstGeom prst="ellipse">
            <a:avLst/>
          </a:prstGeom>
          <a:solidFill>
            <a:srgbClr val="55706C"/>
          </a:solidFill>
          <a:ln/>
        </p:spPr>
      </p:sp>
      <p:sp>
        <p:nvSpPr>
          <p:cNvPr id="19" name="Text 17"/>
          <p:cNvSpPr txBox="1"/>
          <p:nvPr/>
        </p:nvSpPr>
        <p:spPr>
          <a:xfrm>
            <a:off x="777240" y="382219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P2</a:t>
            </a:r>
            <a:endParaRPr lang="en-US" sz="1200" dirty="0"/>
          </a:p>
        </p:txBody>
      </p:sp>
      <p:sp>
        <p:nvSpPr>
          <p:cNvPr id="20" name="Text 18"/>
          <p:cNvSpPr txBox="1"/>
          <p:nvPr/>
        </p:nvSpPr>
        <p:spPr>
          <a:xfrm>
            <a:off x="1371600" y="3657600"/>
            <a:ext cx="2514600" cy="777240"/>
          </a:xfrm>
          <a:prstGeom prst="rect">
            <a:avLst/>
          </a:prstGeom>
          <a:noFill/>
          <a:ln/>
        </p:spPr>
        <p:txBody>
          <a:bodyPr wrap="square" lIns="0" tIns="0" rIns="0" bIns="0" rtlCol="0" anchor="ctr"/>
          <a:lstStyle/>
          <a:p>
            <a:pPr indent="0" marL="0">
              <a:buNone/>
            </a:pPr>
            <a:r>
              <a:rPr lang="en-US" sz="1700" b="1" dirty="0">
                <a:solidFill>
                  <a:srgbClr val="16201F"/>
                </a:solidFill>
                <a:latin typeface="Cambria" pitchFamily="34" charset="0"/>
                <a:ea typeface="Cambria" pitchFamily="34" charset="-122"/>
                <a:cs typeface="Cambria" pitchFamily="34" charset="-120"/>
              </a:rPr>
              <a:t>Nouveaux / Prometteurs</a:t>
            </a:r>
            <a:endParaRPr lang="en-US" sz="1700" dirty="0"/>
          </a:p>
        </p:txBody>
      </p:sp>
      <p:sp>
        <p:nvSpPr>
          <p:cNvPr id="21" name="Text 19"/>
          <p:cNvSpPr txBox="1"/>
          <p:nvPr/>
        </p:nvSpPr>
        <p:spPr>
          <a:xfrm>
            <a:off x="3977640" y="3657600"/>
            <a:ext cx="5394960" cy="777240"/>
          </a:xfrm>
          <a:prstGeom prst="rect">
            <a:avLst/>
          </a:prstGeom>
          <a:noFill/>
          <a:ln/>
        </p:spPr>
        <p:txBody>
          <a:bodyPr wrap="square" lIns="0" tIns="0" rIns="0" bIns="0" rtlCol="0" anchor="ctr"/>
          <a:lstStyle/>
          <a:p>
            <a:pPr indent="0" marL="0">
              <a:lnSpc>
                <a:spcPct val="112000"/>
              </a:lnSpc>
              <a:buNone/>
            </a:pPr>
            <a:r>
              <a:rPr lang="en-US" sz="1300" dirty="0">
                <a:solidFill>
                  <a:srgbClr val="16201F"/>
                </a:solidFill>
                <a:latin typeface="Calibri" pitchFamily="34" charset="0"/>
                <a:ea typeface="Calibri" pitchFamily="34" charset="-122"/>
                <a:cs typeface="Calibri" pitchFamily="34" charset="-120"/>
              </a:rPr>
              <a:t>Onboarding : recommandations croisées, remise sur la deuxième commande.</a:t>
            </a:r>
            <a:endParaRPr lang="en-US" sz="1300" dirty="0"/>
          </a:p>
        </p:txBody>
      </p:sp>
      <p:sp>
        <p:nvSpPr>
          <p:cNvPr id="22" name="Text 20"/>
          <p:cNvSpPr txBox="1"/>
          <p:nvPr/>
        </p:nvSpPr>
        <p:spPr>
          <a:xfrm>
            <a:off x="9509760" y="3657600"/>
            <a:ext cx="1920240" cy="777240"/>
          </a:xfrm>
          <a:prstGeom prst="rect">
            <a:avLst/>
          </a:prstGeom>
          <a:noFill/>
          <a:ln/>
        </p:spPr>
        <p:txBody>
          <a:bodyPr wrap="square" lIns="0" tIns="0" rIns="0" bIns="0" rtlCol="0" anchor="ctr"/>
          <a:lstStyle/>
          <a:p>
            <a:pPr indent="0" marL="0">
              <a:buNone/>
            </a:pPr>
            <a:r>
              <a:rPr lang="en-US" sz="1050" dirty="0">
                <a:solidFill>
                  <a:srgbClr val="5F6E6C"/>
                </a:solidFill>
                <a:latin typeface="Calibri" pitchFamily="34" charset="0"/>
                <a:ea typeface="Calibri" pitchFamily="34" charset="-122"/>
                <a:cs typeface="Calibri" pitchFamily="34" charset="-120"/>
              </a:rPr>
              <a:t>Indicateur
</a:t>
            </a:r>
            <a:pPr indent="0" marL="0">
              <a:buNone/>
            </a:pPr>
            <a:r>
              <a:rPr lang="en-US" sz="1300" b="1" dirty="0">
                <a:solidFill>
                  <a:srgbClr val="0E6E62"/>
                </a:solidFill>
                <a:latin typeface="Calibri" pitchFamily="34" charset="0"/>
                <a:ea typeface="Calibri" pitchFamily="34" charset="-122"/>
                <a:cs typeface="Calibri" pitchFamily="34" charset="-120"/>
              </a:rPr>
              <a:t>Passage à 3 commandes</a:t>
            </a:r>
            <a:endParaRPr lang="en-US" sz="1050" dirty="0"/>
          </a:p>
        </p:txBody>
      </p:sp>
      <p:sp>
        <p:nvSpPr>
          <p:cNvPr id="23" name="Shape 21"/>
          <p:cNvSpPr/>
          <p:nvPr/>
        </p:nvSpPr>
        <p:spPr>
          <a:xfrm>
            <a:off x="548640" y="4663440"/>
            <a:ext cx="11091672" cy="1078992"/>
          </a:xfrm>
          <a:prstGeom prst="roundRect">
            <a:avLst>
              <a:gd name="adj" fmla="val 5932"/>
            </a:avLst>
          </a:prstGeom>
          <a:solidFill>
            <a:srgbClr val="F1F7F5"/>
          </a:solidFill>
          <a:ln w="9525">
            <a:solidFill>
              <a:srgbClr val="CBD8D5"/>
            </a:solidFill>
            <a:prstDash val="solid"/>
          </a:ln>
        </p:spPr>
      </p:sp>
      <p:sp>
        <p:nvSpPr>
          <p:cNvPr id="24" name="Shape 22"/>
          <p:cNvSpPr/>
          <p:nvPr/>
        </p:nvSpPr>
        <p:spPr>
          <a:xfrm>
            <a:off x="777240" y="4974336"/>
            <a:ext cx="457200" cy="457200"/>
          </a:xfrm>
          <a:prstGeom prst="ellipse">
            <a:avLst/>
          </a:prstGeom>
          <a:solidFill>
            <a:srgbClr val="55706C"/>
          </a:solidFill>
          <a:ln/>
        </p:spPr>
      </p:sp>
      <p:sp>
        <p:nvSpPr>
          <p:cNvPr id="25" name="Text 23"/>
          <p:cNvSpPr txBox="1"/>
          <p:nvPr/>
        </p:nvSpPr>
        <p:spPr>
          <a:xfrm>
            <a:off x="777240" y="497433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P3</a:t>
            </a:r>
            <a:endParaRPr lang="en-US" sz="1200" dirty="0"/>
          </a:p>
        </p:txBody>
      </p:sp>
      <p:sp>
        <p:nvSpPr>
          <p:cNvPr id="26" name="Text 24"/>
          <p:cNvSpPr txBox="1"/>
          <p:nvPr/>
        </p:nvSpPr>
        <p:spPr>
          <a:xfrm>
            <a:off x="1371600" y="4809744"/>
            <a:ext cx="2514600" cy="777240"/>
          </a:xfrm>
          <a:prstGeom prst="rect">
            <a:avLst/>
          </a:prstGeom>
          <a:noFill/>
          <a:ln/>
        </p:spPr>
        <p:txBody>
          <a:bodyPr wrap="square" lIns="0" tIns="0" rIns="0" bIns="0" rtlCol="0" anchor="ctr"/>
          <a:lstStyle/>
          <a:p>
            <a:pPr indent="0" marL="0">
              <a:buNone/>
            </a:pPr>
            <a:r>
              <a:rPr lang="en-US" sz="1700" b="1" dirty="0">
                <a:solidFill>
                  <a:srgbClr val="16201F"/>
                </a:solidFill>
                <a:latin typeface="Cambria" pitchFamily="34" charset="0"/>
                <a:ea typeface="Cambria" pitchFamily="34" charset="-122"/>
                <a:cs typeface="Cambria" pitchFamily="34" charset="-120"/>
              </a:rPr>
              <a:t>Perdus / Dormants</a:t>
            </a:r>
            <a:endParaRPr lang="en-US" sz="1700" dirty="0"/>
          </a:p>
        </p:txBody>
      </p:sp>
      <p:sp>
        <p:nvSpPr>
          <p:cNvPr id="27" name="Text 25"/>
          <p:cNvSpPr txBox="1"/>
          <p:nvPr/>
        </p:nvSpPr>
        <p:spPr>
          <a:xfrm>
            <a:off x="3977640" y="4809744"/>
            <a:ext cx="5394960" cy="777240"/>
          </a:xfrm>
          <a:prstGeom prst="rect">
            <a:avLst/>
          </a:prstGeom>
          <a:noFill/>
          <a:ln/>
        </p:spPr>
        <p:txBody>
          <a:bodyPr wrap="square" lIns="0" tIns="0" rIns="0" bIns="0" rtlCol="0" anchor="ctr"/>
          <a:lstStyle/>
          <a:p>
            <a:pPr indent="0" marL="0">
              <a:lnSpc>
                <a:spcPct val="112000"/>
              </a:lnSpc>
              <a:buNone/>
            </a:pPr>
            <a:r>
              <a:rPr lang="en-US" sz="1300" dirty="0">
                <a:solidFill>
                  <a:srgbClr val="16201F"/>
                </a:solidFill>
                <a:latin typeface="Calibri" pitchFamily="34" charset="0"/>
                <a:ea typeface="Calibri" pitchFamily="34" charset="-122"/>
                <a:cs typeface="Calibri" pitchFamily="34" charset="-120"/>
              </a:rPr>
              <a:t>Win-back à coût maîtrisé, sans remise agressive ; sortie de la base active si sans réponse.</a:t>
            </a:r>
            <a:endParaRPr lang="en-US" sz="1300" dirty="0"/>
          </a:p>
        </p:txBody>
      </p:sp>
      <p:sp>
        <p:nvSpPr>
          <p:cNvPr id="28" name="Text 26"/>
          <p:cNvSpPr txBox="1"/>
          <p:nvPr/>
        </p:nvSpPr>
        <p:spPr>
          <a:xfrm>
            <a:off x="9509760" y="4809744"/>
            <a:ext cx="1920240" cy="777240"/>
          </a:xfrm>
          <a:prstGeom prst="rect">
            <a:avLst/>
          </a:prstGeom>
          <a:noFill/>
          <a:ln/>
        </p:spPr>
        <p:txBody>
          <a:bodyPr wrap="square" lIns="0" tIns="0" rIns="0" bIns="0" rtlCol="0" anchor="ctr"/>
          <a:lstStyle/>
          <a:p>
            <a:pPr indent="0" marL="0">
              <a:buNone/>
            </a:pPr>
            <a:r>
              <a:rPr lang="en-US" sz="1050" dirty="0">
                <a:solidFill>
                  <a:srgbClr val="5F6E6C"/>
                </a:solidFill>
                <a:latin typeface="Calibri" pitchFamily="34" charset="0"/>
                <a:ea typeface="Calibri" pitchFamily="34" charset="-122"/>
                <a:cs typeface="Calibri" pitchFamily="34" charset="-120"/>
              </a:rPr>
              <a:t>Indicateur
</a:t>
            </a:r>
            <a:pPr indent="0" marL="0">
              <a:buNone/>
            </a:pPr>
            <a:r>
              <a:rPr lang="en-US" sz="1300" b="1" dirty="0">
                <a:solidFill>
                  <a:srgbClr val="0E6E62"/>
                </a:solidFill>
                <a:latin typeface="Calibri" pitchFamily="34" charset="0"/>
                <a:ea typeface="Calibri" pitchFamily="34" charset="-122"/>
                <a:cs typeface="Calibri" pitchFamily="34" charset="-120"/>
              </a:rPr>
              <a:t>Coût par réactivation</a:t>
            </a:r>
            <a:endParaRPr lang="en-US" sz="1050" dirty="0"/>
          </a:p>
        </p:txBody>
      </p:sp>
      <p:sp>
        <p:nvSpPr>
          <p:cNvPr id="29" name="Shape 27"/>
          <p:cNvSpPr/>
          <p:nvPr/>
        </p:nvSpPr>
        <p:spPr>
          <a:xfrm>
            <a:off x="548640" y="5806440"/>
            <a:ext cx="11091672" cy="566928"/>
          </a:xfrm>
          <a:prstGeom prst="roundRect">
            <a:avLst>
              <a:gd name="adj" fmla="val 11290"/>
            </a:avLst>
          </a:prstGeom>
          <a:solidFill>
            <a:srgbClr val="D9EBE7"/>
          </a:solidFill>
          <a:ln w="9525">
            <a:solidFill>
              <a:srgbClr val="CBD8D5"/>
            </a:solidFill>
            <a:prstDash val="solid"/>
          </a:ln>
        </p:spPr>
      </p:sp>
      <p:sp>
        <p:nvSpPr>
          <p:cNvPr id="30" name="Text 28"/>
          <p:cNvSpPr txBox="1"/>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6E62"/>
                </a:solidFill>
                <a:latin typeface="Calibri" pitchFamily="34" charset="0"/>
                <a:ea typeface="Calibri" pitchFamily="34" charset="-122"/>
                <a:cs typeface="Calibri" pitchFamily="34" charset="-120"/>
              </a:rPr>
              <a:t>Chaque action est associée à un indicateur de succès. Une action sans métrique de suivi n'est pas une recommandation, c'est une intention.</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241280" cy="685800"/>
          </a:xfrm>
          <a:prstGeom prst="rect">
            <a:avLst/>
          </a:prstGeom>
          <a:noFill/>
          <a:ln/>
        </p:spPr>
        <p:txBody>
          <a:bodyPr wrap="square" lIns="0" tIns="0" rIns="0" bIns="0" rtlCol="0" anchor="ctr"/>
          <a:lstStyle/>
          <a:p>
            <a:pPr indent="0" marL="0">
              <a:buNone/>
            </a:pPr>
            <a:r>
              <a:rPr lang="en-US" sz="3200" b="1" dirty="0">
                <a:solidFill>
                  <a:srgbClr val="16201F"/>
                </a:solidFill>
                <a:latin typeface="Cambria" pitchFamily="34" charset="0"/>
                <a:ea typeface="Cambria" pitchFamily="34" charset="-122"/>
                <a:cs typeface="Cambria" pitchFamily="34" charset="-120"/>
              </a:rPr>
              <a:t>Partie 5 — Ce que nos résultats ne disent pas</a:t>
            </a:r>
            <a:endParaRPr lang="en-US" sz="3200" dirty="0"/>
          </a:p>
        </p:txBody>
      </p:sp>
      <p:sp>
        <p:nvSpPr>
          <p:cNvPr id="3" name="Shape 1"/>
          <p:cNvSpPr/>
          <p:nvPr/>
        </p:nvSpPr>
        <p:spPr>
          <a:xfrm>
            <a:off x="11018520" y="411480"/>
            <a:ext cx="621792" cy="621792"/>
          </a:xfrm>
          <a:prstGeom prst="ellipse">
            <a:avLst/>
          </a:prstGeom>
          <a:solidFill>
            <a:srgbClr val="D9EBE7"/>
          </a:solidFill>
          <a:ln/>
        </p:spPr>
      </p:sp>
      <p:sp>
        <p:nvSpPr>
          <p:cNvPr id="4" name="Text 2"/>
          <p:cNvSpPr txBox="1"/>
          <p:nvPr/>
        </p:nvSpPr>
        <p:spPr>
          <a:xfrm>
            <a:off x="11018520" y="411480"/>
            <a:ext cx="621792" cy="621792"/>
          </a:xfrm>
          <a:prstGeom prst="rect">
            <a:avLst/>
          </a:prstGeom>
          <a:noFill/>
          <a:ln/>
        </p:spPr>
        <p:txBody>
          <a:bodyPr wrap="square" lIns="0" tIns="0" rIns="0" bIns="0" rtlCol="0" anchor="ctr"/>
          <a:lstStyle/>
          <a:p>
            <a:pPr algn="ctr" indent="0" marL="0">
              <a:buNone/>
            </a:pPr>
            <a:r>
              <a:rPr lang="en-US" sz="1500" b="1" dirty="0">
                <a:solidFill>
                  <a:srgbClr val="0E6E62"/>
                </a:solidFill>
                <a:latin typeface="Calibri" pitchFamily="34" charset="0"/>
                <a:ea typeface="Calibri" pitchFamily="34" charset="-122"/>
                <a:cs typeface="Calibri" pitchFamily="34" charset="-120"/>
              </a:rPr>
              <a:t>5</a:t>
            </a:r>
            <a:endParaRPr lang="en-US" sz="1500" dirty="0"/>
          </a:p>
        </p:txBody>
      </p:sp>
      <p:sp>
        <p:nvSpPr>
          <p:cNvPr id="5" name="Shape 3"/>
          <p:cNvSpPr/>
          <p:nvPr/>
        </p:nvSpPr>
        <p:spPr>
          <a:xfrm>
            <a:off x="548640" y="1280160"/>
            <a:ext cx="2734056" cy="3200400"/>
          </a:xfrm>
          <a:prstGeom prst="roundRect">
            <a:avLst>
              <a:gd name="adj" fmla="val 2341"/>
            </a:avLst>
          </a:prstGeom>
          <a:solidFill>
            <a:srgbClr val="F1F7F5"/>
          </a:solidFill>
          <a:ln w="9525">
            <a:solidFill>
              <a:srgbClr val="CBD8D5"/>
            </a:solidFill>
            <a:prstDash val="solid"/>
          </a:ln>
        </p:spPr>
      </p:sp>
      <p:sp>
        <p:nvSpPr>
          <p:cNvPr id="6" name="Text 4"/>
          <p:cNvSpPr txBox="1"/>
          <p:nvPr/>
        </p:nvSpPr>
        <p:spPr>
          <a:xfrm>
            <a:off x="749808" y="1508760"/>
            <a:ext cx="2331720" cy="685800"/>
          </a:xfrm>
          <a:prstGeom prst="rect">
            <a:avLst/>
          </a:prstGeom>
          <a:noFill/>
          <a:ln/>
        </p:spPr>
        <p:txBody>
          <a:bodyPr wrap="square" lIns="0" tIns="0" rIns="0" bIns="0" rtlCol="0" anchor="ctr"/>
          <a:lstStyle/>
          <a:p>
            <a:pPr algn="ctr" indent="0" marL="0">
              <a:buNone/>
            </a:pPr>
            <a:r>
              <a:rPr lang="en-US" sz="3000" b="1" dirty="0">
                <a:solidFill>
                  <a:srgbClr val="C4622D"/>
                </a:solidFill>
                <a:latin typeface="Cambria" pitchFamily="34" charset="0"/>
                <a:ea typeface="Cambria" pitchFamily="34" charset="-122"/>
                <a:cs typeface="Cambria" pitchFamily="34" charset="-120"/>
              </a:rPr>
              <a:t>21,8 %</a:t>
            </a:r>
            <a:endParaRPr lang="en-US" sz="3000" dirty="0"/>
          </a:p>
        </p:txBody>
      </p:sp>
      <p:sp>
        <p:nvSpPr>
          <p:cNvPr id="7" name="Text 5"/>
          <p:cNvSpPr txBox="1"/>
          <p:nvPr/>
        </p:nvSpPr>
        <p:spPr>
          <a:xfrm>
            <a:off x="749808" y="2212848"/>
            <a:ext cx="2331720" cy="640080"/>
          </a:xfrm>
          <a:prstGeom prst="rect">
            <a:avLst/>
          </a:prstGeom>
          <a:noFill/>
          <a:ln/>
        </p:spPr>
        <p:txBody>
          <a:bodyPr wrap="square" lIns="0" tIns="0" rIns="0" bIns="0" rtlCol="0" anchor="ctr"/>
          <a:lstStyle/>
          <a:p>
            <a:pPr algn="ctr" indent="0" marL="0">
              <a:lnSpc>
                <a:spcPct val="110000"/>
              </a:lnSpc>
              <a:buNone/>
            </a:pPr>
            <a:r>
              <a:rPr lang="en-US" sz="1300" b="1" dirty="0">
                <a:solidFill>
                  <a:srgbClr val="16201F"/>
                </a:solidFill>
                <a:latin typeface="Calibri" pitchFamily="34" charset="0"/>
                <a:ea typeface="Calibri" pitchFamily="34" charset="-122"/>
                <a:cs typeface="Calibri" pitchFamily="34" charset="-120"/>
              </a:rPr>
              <a:t>des lignes sans identifiant client</a:t>
            </a:r>
            <a:endParaRPr lang="en-US" sz="1300" dirty="0"/>
          </a:p>
        </p:txBody>
      </p:sp>
      <p:sp>
        <p:nvSpPr>
          <p:cNvPr id="8" name="Text 6"/>
          <p:cNvSpPr txBox="1"/>
          <p:nvPr/>
        </p:nvSpPr>
        <p:spPr>
          <a:xfrm>
            <a:off x="749808" y="2926080"/>
            <a:ext cx="2331720" cy="1371600"/>
          </a:xfrm>
          <a:prstGeom prst="rect">
            <a:avLst/>
          </a:prstGeom>
          <a:noFill/>
          <a:ln/>
        </p:spPr>
        <p:txBody>
          <a:bodyPr wrap="square" lIns="0" tIns="0" rIns="0" bIns="0" rtlCol="0" anchor="ctr"/>
          <a:lstStyle/>
          <a:p>
            <a:pPr algn="ctr" indent="0" marL="0">
              <a:lnSpc>
                <a:spcPct val="115000"/>
              </a:lnSpc>
              <a:buNone/>
            </a:pPr>
            <a:r>
              <a:rPr lang="en-US" sz="1250" dirty="0">
                <a:solidFill>
                  <a:srgbClr val="5F6E6C"/>
                </a:solidFill>
                <a:latin typeface="Calibri" pitchFamily="34" charset="0"/>
                <a:ea typeface="Calibri" pitchFamily="34" charset="-122"/>
                <a:cs typeface="Calibri" pitchFamily="34" charset="-120"/>
              </a:rPr>
              <a:t>Nos segments décrivent la clientèle identifiée, pas l'ensemble des ventes.</a:t>
            </a:r>
            <a:endParaRPr lang="en-US" sz="1250" dirty="0"/>
          </a:p>
        </p:txBody>
      </p:sp>
      <p:sp>
        <p:nvSpPr>
          <p:cNvPr id="9" name="Shape 7"/>
          <p:cNvSpPr/>
          <p:nvPr/>
        </p:nvSpPr>
        <p:spPr>
          <a:xfrm>
            <a:off x="3392424" y="1280160"/>
            <a:ext cx="2734056" cy="3200400"/>
          </a:xfrm>
          <a:prstGeom prst="roundRect">
            <a:avLst>
              <a:gd name="adj" fmla="val 2341"/>
            </a:avLst>
          </a:prstGeom>
          <a:solidFill>
            <a:srgbClr val="F1F7F5"/>
          </a:solidFill>
          <a:ln w="9525">
            <a:solidFill>
              <a:srgbClr val="CBD8D5"/>
            </a:solidFill>
            <a:prstDash val="solid"/>
          </a:ln>
        </p:spPr>
      </p:sp>
      <p:sp>
        <p:nvSpPr>
          <p:cNvPr id="10" name="Text 8"/>
          <p:cNvSpPr txBox="1"/>
          <p:nvPr/>
        </p:nvSpPr>
        <p:spPr>
          <a:xfrm>
            <a:off x="3593592" y="1508760"/>
            <a:ext cx="2331720" cy="685800"/>
          </a:xfrm>
          <a:prstGeom prst="rect">
            <a:avLst/>
          </a:prstGeom>
          <a:noFill/>
          <a:ln/>
        </p:spPr>
        <p:txBody>
          <a:bodyPr wrap="square" lIns="0" tIns="0" rIns="0" bIns="0" rtlCol="0" anchor="ctr"/>
          <a:lstStyle/>
          <a:p>
            <a:pPr algn="ctr" indent="0" marL="0">
              <a:buNone/>
            </a:pPr>
            <a:r>
              <a:rPr lang="en-US" sz="3000" b="1" dirty="0">
                <a:solidFill>
                  <a:srgbClr val="C4622D"/>
                </a:solidFill>
                <a:latin typeface="Cambria" pitchFamily="34" charset="0"/>
                <a:ea typeface="Cambria" pitchFamily="34" charset="-122"/>
                <a:cs typeface="Cambria" pitchFamily="34" charset="-120"/>
              </a:rPr>
              <a:t>1 184</a:t>
            </a:r>
            <a:endParaRPr lang="en-US" sz="3000" dirty="0"/>
          </a:p>
        </p:txBody>
      </p:sp>
      <p:sp>
        <p:nvSpPr>
          <p:cNvPr id="11" name="Text 9"/>
          <p:cNvSpPr txBox="1"/>
          <p:nvPr/>
        </p:nvSpPr>
        <p:spPr>
          <a:xfrm>
            <a:off x="3593592" y="2212848"/>
            <a:ext cx="2331720" cy="640080"/>
          </a:xfrm>
          <a:prstGeom prst="rect">
            <a:avLst/>
          </a:prstGeom>
          <a:noFill/>
          <a:ln/>
        </p:spPr>
        <p:txBody>
          <a:bodyPr wrap="square" lIns="0" tIns="0" rIns="0" bIns="0" rtlCol="0" anchor="ctr"/>
          <a:lstStyle/>
          <a:p>
            <a:pPr algn="ctr" indent="0" marL="0">
              <a:lnSpc>
                <a:spcPct val="110000"/>
              </a:lnSpc>
              <a:buNone/>
            </a:pPr>
            <a:r>
              <a:rPr lang="en-US" sz="1300" b="1" dirty="0">
                <a:solidFill>
                  <a:srgbClr val="16201F"/>
                </a:solidFill>
                <a:latin typeface="Calibri" pitchFamily="34" charset="0"/>
                <a:ea typeface="Calibri" pitchFamily="34" charset="-122"/>
                <a:cs typeface="Calibri" pitchFamily="34" charset="-120"/>
              </a:rPr>
              <a:t>clients portent 73 % du CA</a:t>
            </a:r>
            <a:endParaRPr lang="en-US" sz="1300" dirty="0"/>
          </a:p>
        </p:txBody>
      </p:sp>
      <p:sp>
        <p:nvSpPr>
          <p:cNvPr id="12" name="Text 10"/>
          <p:cNvSpPr txBox="1"/>
          <p:nvPr/>
        </p:nvSpPr>
        <p:spPr>
          <a:xfrm>
            <a:off x="3593592" y="2926080"/>
            <a:ext cx="2331720" cy="1371600"/>
          </a:xfrm>
          <a:prstGeom prst="rect">
            <a:avLst/>
          </a:prstGeom>
          <a:noFill/>
          <a:ln/>
        </p:spPr>
        <p:txBody>
          <a:bodyPr wrap="square" lIns="0" tIns="0" rIns="0" bIns="0" rtlCol="0" anchor="ctr"/>
          <a:lstStyle/>
          <a:p>
            <a:pPr algn="ctr" indent="0" marL="0">
              <a:lnSpc>
                <a:spcPct val="115000"/>
              </a:lnSpc>
              <a:buNone/>
            </a:pPr>
            <a:r>
              <a:rPr lang="en-US" sz="1250" dirty="0">
                <a:solidFill>
                  <a:srgbClr val="5F6E6C"/>
                </a:solidFill>
                <a:latin typeface="Calibri" pitchFamily="34" charset="0"/>
                <a:ea typeface="Calibri" pitchFamily="34" charset="-122"/>
                <a:cs typeface="Calibri" pitchFamily="34" charset="-120"/>
              </a:rPr>
              <a:t>La segmentation révèle un risque commercial ; elle ne le résout pas.</a:t>
            </a:r>
            <a:endParaRPr lang="en-US" sz="1250" dirty="0"/>
          </a:p>
        </p:txBody>
      </p:sp>
      <p:sp>
        <p:nvSpPr>
          <p:cNvPr id="13" name="Shape 11"/>
          <p:cNvSpPr/>
          <p:nvPr/>
        </p:nvSpPr>
        <p:spPr>
          <a:xfrm>
            <a:off x="6236208" y="1280160"/>
            <a:ext cx="2734056" cy="3200400"/>
          </a:xfrm>
          <a:prstGeom prst="roundRect">
            <a:avLst>
              <a:gd name="adj" fmla="val 2341"/>
            </a:avLst>
          </a:prstGeom>
          <a:solidFill>
            <a:srgbClr val="F1F7F5"/>
          </a:solidFill>
          <a:ln w="9525">
            <a:solidFill>
              <a:srgbClr val="CBD8D5"/>
            </a:solidFill>
            <a:prstDash val="solid"/>
          </a:ln>
        </p:spPr>
      </p:sp>
      <p:sp>
        <p:nvSpPr>
          <p:cNvPr id="14" name="Text 12"/>
          <p:cNvSpPr txBox="1"/>
          <p:nvPr/>
        </p:nvSpPr>
        <p:spPr>
          <a:xfrm>
            <a:off x="6437376" y="1508760"/>
            <a:ext cx="2331720" cy="685800"/>
          </a:xfrm>
          <a:prstGeom prst="rect">
            <a:avLst/>
          </a:prstGeom>
          <a:noFill/>
          <a:ln/>
        </p:spPr>
        <p:txBody>
          <a:bodyPr wrap="square" lIns="0" tIns="0" rIns="0" bIns="0" rtlCol="0" anchor="ctr"/>
          <a:lstStyle/>
          <a:p>
            <a:pPr algn="ctr" indent="0" marL="0">
              <a:buNone/>
            </a:pPr>
            <a:r>
              <a:rPr lang="en-US" sz="3000" b="1" dirty="0">
                <a:solidFill>
                  <a:srgbClr val="C4622D"/>
                </a:solidFill>
                <a:latin typeface="Cambria" pitchFamily="34" charset="0"/>
                <a:ea typeface="Cambria" pitchFamily="34" charset="-122"/>
                <a:cs typeface="Cambria" pitchFamily="34" charset="-120"/>
              </a:rPr>
              <a:t>&gt; 80 %</a:t>
            </a:r>
            <a:endParaRPr lang="en-US" sz="3000" dirty="0"/>
          </a:p>
        </p:txBody>
      </p:sp>
      <p:sp>
        <p:nvSpPr>
          <p:cNvPr id="15" name="Text 13"/>
          <p:cNvSpPr txBox="1"/>
          <p:nvPr/>
        </p:nvSpPr>
        <p:spPr>
          <a:xfrm>
            <a:off x="6437376" y="2212848"/>
            <a:ext cx="2331720" cy="640080"/>
          </a:xfrm>
          <a:prstGeom prst="rect">
            <a:avLst/>
          </a:prstGeom>
          <a:noFill/>
          <a:ln/>
        </p:spPr>
        <p:txBody>
          <a:bodyPr wrap="square" lIns="0" tIns="0" rIns="0" bIns="0" rtlCol="0" anchor="ctr"/>
          <a:lstStyle/>
          <a:p>
            <a:pPr algn="ctr" indent="0" marL="0">
              <a:lnSpc>
                <a:spcPct val="110000"/>
              </a:lnSpc>
              <a:buNone/>
            </a:pPr>
            <a:r>
              <a:rPr lang="en-US" sz="1300" b="1" dirty="0">
                <a:solidFill>
                  <a:srgbClr val="16201F"/>
                </a:solidFill>
                <a:latin typeface="Calibri" pitchFamily="34" charset="0"/>
                <a:ea typeface="Calibri" pitchFamily="34" charset="-122"/>
                <a:cs typeface="Calibri" pitchFamily="34" charset="-120"/>
              </a:rPr>
              <a:t>du CA vient du Royaume-Uni</a:t>
            </a:r>
            <a:endParaRPr lang="en-US" sz="1300" dirty="0"/>
          </a:p>
        </p:txBody>
      </p:sp>
      <p:sp>
        <p:nvSpPr>
          <p:cNvPr id="16" name="Text 14"/>
          <p:cNvSpPr txBox="1"/>
          <p:nvPr/>
        </p:nvSpPr>
        <p:spPr>
          <a:xfrm>
            <a:off x="6437376" y="2926080"/>
            <a:ext cx="2331720" cy="1371600"/>
          </a:xfrm>
          <a:prstGeom prst="rect">
            <a:avLst/>
          </a:prstGeom>
          <a:noFill/>
          <a:ln/>
        </p:spPr>
        <p:txBody>
          <a:bodyPr wrap="square" lIns="0" tIns="0" rIns="0" bIns="0" rtlCol="0" anchor="ctr"/>
          <a:lstStyle/>
          <a:p>
            <a:pPr algn="ctr" indent="0" marL="0">
              <a:lnSpc>
                <a:spcPct val="115000"/>
              </a:lnSpc>
              <a:buNone/>
            </a:pPr>
            <a:r>
              <a:rPr lang="en-US" sz="1250" dirty="0">
                <a:solidFill>
                  <a:srgbClr val="5F6E6C"/>
                </a:solidFill>
                <a:latin typeface="Calibri" pitchFamily="34" charset="0"/>
                <a:ea typeface="Calibri" pitchFamily="34" charset="-122"/>
                <a:cs typeface="Calibri" pitchFamily="34" charset="-120"/>
              </a:rPr>
              <a:t>EIRE à 100 % de Champions reflète de faibles effectifs — à ne pas sur-interpréter.</a:t>
            </a:r>
            <a:endParaRPr lang="en-US" sz="1250" dirty="0"/>
          </a:p>
        </p:txBody>
      </p:sp>
      <p:sp>
        <p:nvSpPr>
          <p:cNvPr id="17" name="Shape 15"/>
          <p:cNvSpPr/>
          <p:nvPr/>
        </p:nvSpPr>
        <p:spPr>
          <a:xfrm>
            <a:off x="9079992" y="1280160"/>
            <a:ext cx="2734056" cy="3200400"/>
          </a:xfrm>
          <a:prstGeom prst="roundRect">
            <a:avLst>
              <a:gd name="adj" fmla="val 2341"/>
            </a:avLst>
          </a:prstGeom>
          <a:solidFill>
            <a:srgbClr val="F1F7F5"/>
          </a:solidFill>
          <a:ln w="9525">
            <a:solidFill>
              <a:srgbClr val="CBD8D5"/>
            </a:solidFill>
            <a:prstDash val="solid"/>
          </a:ln>
        </p:spPr>
      </p:sp>
      <p:sp>
        <p:nvSpPr>
          <p:cNvPr id="18" name="Text 16"/>
          <p:cNvSpPr txBox="1"/>
          <p:nvPr/>
        </p:nvSpPr>
        <p:spPr>
          <a:xfrm>
            <a:off x="9281160" y="1508760"/>
            <a:ext cx="2331720" cy="685800"/>
          </a:xfrm>
          <a:prstGeom prst="rect">
            <a:avLst/>
          </a:prstGeom>
          <a:noFill/>
          <a:ln/>
        </p:spPr>
        <p:txBody>
          <a:bodyPr wrap="square" lIns="0" tIns="0" rIns="0" bIns="0" rtlCol="0" anchor="ctr"/>
          <a:lstStyle/>
          <a:p>
            <a:pPr algn="ctr" indent="0" marL="0">
              <a:buNone/>
            </a:pPr>
            <a:r>
              <a:rPr lang="en-US" sz="3000" b="1" dirty="0">
                <a:solidFill>
                  <a:srgbClr val="C4622D"/>
                </a:solidFill>
                <a:latin typeface="Cambria" pitchFamily="34" charset="0"/>
                <a:ea typeface="Cambria" pitchFamily="34" charset="-122"/>
                <a:cs typeface="Cambria" pitchFamily="34" charset="-120"/>
              </a:rPr>
              <a:t>0</a:t>
            </a:r>
            <a:endParaRPr lang="en-US" sz="3000" dirty="0"/>
          </a:p>
        </p:txBody>
      </p:sp>
      <p:sp>
        <p:nvSpPr>
          <p:cNvPr id="19" name="Text 17"/>
          <p:cNvSpPr txBox="1"/>
          <p:nvPr/>
        </p:nvSpPr>
        <p:spPr>
          <a:xfrm>
            <a:off x="9281160" y="2212848"/>
            <a:ext cx="2331720" cy="640080"/>
          </a:xfrm>
          <a:prstGeom prst="rect">
            <a:avLst/>
          </a:prstGeom>
          <a:noFill/>
          <a:ln/>
        </p:spPr>
        <p:txBody>
          <a:bodyPr wrap="square" lIns="0" tIns="0" rIns="0" bIns="0" rtlCol="0" anchor="ctr"/>
          <a:lstStyle/>
          <a:p>
            <a:pPr algn="ctr" indent="0" marL="0">
              <a:lnSpc>
                <a:spcPct val="110000"/>
              </a:lnSpc>
              <a:buNone/>
            </a:pPr>
            <a:r>
              <a:rPr lang="en-US" sz="1300" b="1" dirty="0">
                <a:solidFill>
                  <a:srgbClr val="16201F"/>
                </a:solidFill>
                <a:latin typeface="Calibri" pitchFamily="34" charset="0"/>
                <a:ea typeface="Calibri" pitchFamily="34" charset="-122"/>
                <a:cs typeface="Calibri" pitchFamily="34" charset="-120"/>
              </a:rPr>
              <a:t>prédiction</a:t>
            </a:r>
            <a:endParaRPr lang="en-US" sz="1300" dirty="0"/>
          </a:p>
        </p:txBody>
      </p:sp>
      <p:sp>
        <p:nvSpPr>
          <p:cNvPr id="20" name="Text 18"/>
          <p:cNvSpPr txBox="1"/>
          <p:nvPr/>
        </p:nvSpPr>
        <p:spPr>
          <a:xfrm>
            <a:off x="9281160" y="2926080"/>
            <a:ext cx="2331720" cy="1371600"/>
          </a:xfrm>
          <a:prstGeom prst="rect">
            <a:avLst/>
          </a:prstGeom>
          <a:noFill/>
          <a:ln/>
        </p:spPr>
        <p:txBody>
          <a:bodyPr wrap="square" lIns="0" tIns="0" rIns="0" bIns="0" rtlCol="0" anchor="ctr"/>
          <a:lstStyle/>
          <a:p>
            <a:pPr algn="ctr" indent="0" marL="0">
              <a:lnSpc>
                <a:spcPct val="115000"/>
              </a:lnSpc>
              <a:buNone/>
            </a:pPr>
            <a:r>
              <a:rPr lang="en-US" sz="1250" dirty="0">
                <a:solidFill>
                  <a:srgbClr val="5F6E6C"/>
                </a:solidFill>
                <a:latin typeface="Calibri" pitchFamily="34" charset="0"/>
                <a:ea typeface="Calibri" pitchFamily="34" charset="-122"/>
                <a:cs typeface="Calibri" pitchFamily="34" charset="-120"/>
              </a:rPr>
              <a:t>Le RFM est rétrospectif : il décrit le passé, il ne dit pas qui rachètera.</a:t>
            </a:r>
            <a:endParaRPr lang="en-US" sz="1250" dirty="0"/>
          </a:p>
        </p:txBody>
      </p:sp>
      <p:sp>
        <p:nvSpPr>
          <p:cNvPr id="21" name="Shape 19"/>
          <p:cNvSpPr/>
          <p:nvPr/>
        </p:nvSpPr>
        <p:spPr>
          <a:xfrm>
            <a:off x="548640" y="4617720"/>
            <a:ext cx="11091672" cy="1051560"/>
          </a:xfrm>
          <a:prstGeom prst="roundRect">
            <a:avLst>
              <a:gd name="adj" fmla="val 6087"/>
            </a:avLst>
          </a:prstGeom>
          <a:solidFill>
            <a:srgbClr val="D9EBE7"/>
          </a:solidFill>
          <a:ln w="9525">
            <a:solidFill>
              <a:srgbClr val="CBD8D5"/>
            </a:solidFill>
            <a:prstDash val="solid"/>
          </a:ln>
        </p:spPr>
      </p:sp>
      <p:sp>
        <p:nvSpPr>
          <p:cNvPr id="22" name="Text 20"/>
          <p:cNvSpPr txBox="1"/>
          <p:nvPr/>
        </p:nvSpPr>
        <p:spPr>
          <a:xfrm>
            <a:off x="822960" y="4800600"/>
            <a:ext cx="10543032" cy="731520"/>
          </a:xfrm>
          <a:prstGeom prst="rect">
            <a:avLst/>
          </a:prstGeom>
          <a:noFill/>
          <a:ln/>
        </p:spPr>
        <p:txBody>
          <a:bodyPr wrap="square" lIns="0" tIns="0" rIns="0" bIns="0" rtlCol="0" anchor="ctr"/>
          <a:lstStyle/>
          <a:p>
            <a:pPr indent="0" marL="0">
              <a:lnSpc>
                <a:spcPct val="118000"/>
              </a:lnSpc>
              <a:buNone/>
            </a:pPr>
            <a:r>
              <a:rPr lang="en-US" sz="1400" b="1" dirty="0">
                <a:solidFill>
                  <a:srgbClr val="0E6E62"/>
                </a:solidFill>
                <a:latin typeface="Calibri" pitchFamily="34" charset="0"/>
                <a:ea typeface="Calibri" pitchFamily="34" charset="-122"/>
                <a:cs typeface="Calibri" pitchFamily="34" charset="-120"/>
              </a:rPr>
              <a:t>Nous ne prétendons pas avoir identifié « les vrais » segments.  </a:t>
            </a:r>
            <a:pPr indent="0" marL="0">
              <a:lnSpc>
                <a:spcPct val="118000"/>
              </a:lnSpc>
              <a:buNone/>
            </a:pPr>
            <a:r>
              <a:rPr lang="en-US" sz="1400" dirty="0">
                <a:solidFill>
                  <a:srgbClr val="16201F"/>
                </a:solidFill>
                <a:latin typeface="Calibri" pitchFamily="34" charset="0"/>
                <a:ea typeface="Calibri" pitchFamily="34" charset="-122"/>
                <a:cs typeface="Calibri" pitchFamily="34" charset="-120"/>
              </a:rPr>
              <a:t>La validation réellement externe serait un test A/B : appliquer des campagnes différenciées par segment et mesurer l'écart de taux de conversion. Elle sort du périmètre de ce TP.</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241280" cy="685800"/>
          </a:xfrm>
          <a:prstGeom prst="rect">
            <a:avLst/>
          </a:prstGeom>
          <a:noFill/>
          <a:ln/>
        </p:spPr>
        <p:txBody>
          <a:bodyPr wrap="square" lIns="0" tIns="0" rIns="0" bIns="0" rtlCol="0" anchor="ctr"/>
          <a:lstStyle/>
          <a:p>
            <a:pPr indent="0" marL="0">
              <a:buNone/>
            </a:pPr>
            <a:r>
              <a:rPr lang="en-US" sz="3200" b="1" dirty="0">
                <a:solidFill>
                  <a:srgbClr val="16201F"/>
                </a:solidFill>
                <a:latin typeface="Cambria" pitchFamily="34" charset="0"/>
                <a:ea typeface="Cambria" pitchFamily="34" charset="-122"/>
                <a:cs typeface="Cambria" pitchFamily="34" charset="-120"/>
              </a:rPr>
              <a:t>Personnalisation : les garde-fous</a:t>
            </a:r>
            <a:endParaRPr lang="en-US" sz="3200" dirty="0"/>
          </a:p>
        </p:txBody>
      </p:sp>
      <p:sp>
        <p:nvSpPr>
          <p:cNvPr id="3" name="Shape 1"/>
          <p:cNvSpPr/>
          <p:nvPr/>
        </p:nvSpPr>
        <p:spPr>
          <a:xfrm>
            <a:off x="11018520" y="411480"/>
            <a:ext cx="621792" cy="621792"/>
          </a:xfrm>
          <a:prstGeom prst="ellipse">
            <a:avLst/>
          </a:prstGeom>
          <a:solidFill>
            <a:srgbClr val="D9EBE7"/>
          </a:solidFill>
          <a:ln/>
        </p:spPr>
      </p:sp>
      <p:sp>
        <p:nvSpPr>
          <p:cNvPr id="4" name="Text 2"/>
          <p:cNvSpPr txBox="1"/>
          <p:nvPr/>
        </p:nvSpPr>
        <p:spPr>
          <a:xfrm>
            <a:off x="11018520" y="411480"/>
            <a:ext cx="621792" cy="621792"/>
          </a:xfrm>
          <a:prstGeom prst="rect">
            <a:avLst/>
          </a:prstGeom>
          <a:noFill/>
          <a:ln/>
        </p:spPr>
        <p:txBody>
          <a:bodyPr wrap="square" lIns="0" tIns="0" rIns="0" bIns="0" rtlCol="0" anchor="ctr"/>
          <a:lstStyle/>
          <a:p>
            <a:pPr algn="ctr" indent="0" marL="0">
              <a:buNone/>
            </a:pPr>
            <a:r>
              <a:rPr lang="en-US" sz="1500" b="1" dirty="0">
                <a:solidFill>
                  <a:srgbClr val="0E6E62"/>
                </a:solidFill>
                <a:latin typeface="Calibri" pitchFamily="34" charset="0"/>
                <a:ea typeface="Calibri" pitchFamily="34" charset="-122"/>
                <a:cs typeface="Calibri" pitchFamily="34" charset="-120"/>
              </a:rPr>
              <a:t>5</a:t>
            </a:r>
            <a:endParaRPr lang="en-US" sz="1500" dirty="0"/>
          </a:p>
        </p:txBody>
      </p:sp>
      <p:sp>
        <p:nvSpPr>
          <p:cNvPr id="5" name="Shape 3"/>
          <p:cNvSpPr/>
          <p:nvPr/>
        </p:nvSpPr>
        <p:spPr>
          <a:xfrm>
            <a:off x="548640" y="1207008"/>
            <a:ext cx="11091672" cy="1234440"/>
          </a:xfrm>
          <a:prstGeom prst="roundRect">
            <a:avLst>
              <a:gd name="adj" fmla="val 5185"/>
            </a:avLst>
          </a:prstGeom>
          <a:solidFill>
            <a:srgbClr val="F6E9E1"/>
          </a:solidFill>
          <a:ln w="9525">
            <a:solidFill>
              <a:srgbClr val="CBD8D5"/>
            </a:solidFill>
            <a:prstDash val="solid"/>
          </a:ln>
        </p:spPr>
      </p:sp>
      <p:sp>
        <p:nvSpPr>
          <p:cNvPr id="6" name="Text 4"/>
          <p:cNvSpPr txBox="1"/>
          <p:nvPr/>
        </p:nvSpPr>
        <p:spPr>
          <a:xfrm>
            <a:off x="804672" y="1371600"/>
            <a:ext cx="10579608" cy="914400"/>
          </a:xfrm>
          <a:prstGeom prst="rect">
            <a:avLst/>
          </a:prstGeom>
          <a:noFill/>
          <a:ln/>
        </p:spPr>
        <p:txBody>
          <a:bodyPr wrap="square" lIns="0" tIns="0" rIns="0" bIns="0" rtlCol="0" anchor="ctr"/>
          <a:lstStyle/>
          <a:p>
            <a:pPr indent="0" marL="0">
              <a:lnSpc>
                <a:spcPct val="118000"/>
              </a:lnSpc>
              <a:buNone/>
            </a:pPr>
            <a:r>
              <a:rPr lang="en-US" sz="1400" b="1" dirty="0">
                <a:solidFill>
                  <a:srgbClr val="8C4520"/>
                </a:solidFill>
                <a:latin typeface="Calibri" pitchFamily="34" charset="0"/>
                <a:ea typeface="Calibri" pitchFamily="34" charset="-122"/>
                <a:cs typeface="Calibri" pitchFamily="34" charset="-120"/>
              </a:rPr>
              <a:t>Le risque concret  </a:t>
            </a:r>
            <a:pPr indent="0" marL="0">
              <a:lnSpc>
                <a:spcPct val="118000"/>
              </a:lnSpc>
              <a:buNone/>
            </a:pPr>
            <a:r>
              <a:rPr lang="en-US" sz="1400" dirty="0">
                <a:solidFill>
                  <a:srgbClr val="16201F"/>
                </a:solidFill>
                <a:latin typeface="Calibri" pitchFamily="34" charset="0"/>
                <a:ea typeface="Calibri" pitchFamily="34" charset="-122"/>
                <a:cs typeface="Calibri" pitchFamily="34" charset="-120"/>
              </a:rPr>
              <a:t>La segmentation rend possible de facturer plus cher les Champions, captifs, en subventionnant l'acquisition des Nouveaux. Cette pratique est juridiquement encadrée, économiquement risquée et éthiquement problématique quand le segment devient un proxy d'une caractéristique protégée.</a:t>
            </a:r>
            <a:endParaRPr lang="en-US" sz="1400" dirty="0"/>
          </a:p>
        </p:txBody>
      </p:sp>
      <p:sp>
        <p:nvSpPr>
          <p:cNvPr id="7" name="Shape 5"/>
          <p:cNvSpPr/>
          <p:nvPr/>
        </p:nvSpPr>
        <p:spPr>
          <a:xfrm>
            <a:off x="548640" y="2697480"/>
            <a:ext cx="2734056" cy="2423160"/>
          </a:xfrm>
          <a:prstGeom prst="roundRect">
            <a:avLst>
              <a:gd name="adj" fmla="val 2642"/>
            </a:avLst>
          </a:prstGeom>
          <a:solidFill>
            <a:srgbClr val="D9EBE7"/>
          </a:solidFill>
          <a:ln w="9525">
            <a:solidFill>
              <a:srgbClr val="CBD8D5"/>
            </a:solidFill>
            <a:prstDash val="solid"/>
          </a:ln>
        </p:spPr>
      </p:sp>
      <p:sp>
        <p:nvSpPr>
          <p:cNvPr id="8" name="Shape 6"/>
          <p:cNvSpPr/>
          <p:nvPr/>
        </p:nvSpPr>
        <p:spPr>
          <a:xfrm>
            <a:off x="1682496" y="2907792"/>
            <a:ext cx="475488" cy="475488"/>
          </a:xfrm>
          <a:prstGeom prst="ellipse">
            <a:avLst/>
          </a:prstGeom>
          <a:solidFill>
            <a:srgbClr val="0E6E62"/>
          </a:solidFill>
          <a:ln/>
        </p:spPr>
      </p:sp>
      <p:sp>
        <p:nvSpPr>
          <p:cNvPr id="9" name="Text 7"/>
          <p:cNvSpPr txBox="1"/>
          <p:nvPr/>
        </p:nvSpPr>
        <p:spPr>
          <a:xfrm>
            <a:off x="1682496" y="290779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731520" y="3520440"/>
            <a:ext cx="2368296" cy="685800"/>
          </a:xfrm>
          <a:prstGeom prst="rect">
            <a:avLst/>
          </a:prstGeom>
          <a:noFill/>
          <a:ln/>
        </p:spPr>
        <p:txBody>
          <a:bodyPr wrap="square" lIns="0" tIns="0" rIns="0" bIns="0" rtlCol="0" anchor="ctr"/>
          <a:lstStyle/>
          <a:p>
            <a:pPr algn="ctr" indent="0" marL="0">
              <a:lnSpc>
                <a:spcPct val="105000"/>
              </a:lnSpc>
              <a:buNone/>
            </a:pPr>
            <a:r>
              <a:rPr lang="en-US" sz="1500" b="1" dirty="0">
                <a:solidFill>
                  <a:srgbClr val="16201F"/>
                </a:solidFill>
                <a:latin typeface="Cambria" pitchFamily="34" charset="0"/>
                <a:ea typeface="Cambria" pitchFamily="34" charset="-122"/>
                <a:cs typeface="Cambria" pitchFamily="34" charset="-120"/>
              </a:rPr>
              <a:t>Différencier l'attention,</a:t>
            </a:r>
            <a:endParaRPr lang="en-US" sz="1500" dirty="0"/>
          </a:p>
          <a:p>
            <a:pPr algn="ctr" indent="0" marL="0">
              <a:lnSpc>
                <a:spcPct val="105000"/>
              </a:lnSpc>
              <a:buNone/>
            </a:pPr>
            <a:r>
              <a:rPr lang="en-US" sz="1500" b="1" dirty="0">
                <a:solidFill>
                  <a:srgbClr val="16201F"/>
                </a:solidFill>
                <a:latin typeface="Cambria" pitchFamily="34" charset="0"/>
                <a:ea typeface="Cambria" pitchFamily="34" charset="-122"/>
                <a:cs typeface="Cambria" pitchFamily="34" charset="-120"/>
              </a:rPr>
              <a:t>pas le prix</a:t>
            </a:r>
            <a:endParaRPr lang="en-US" sz="1500" dirty="0"/>
          </a:p>
        </p:txBody>
      </p:sp>
      <p:sp>
        <p:nvSpPr>
          <p:cNvPr id="11" name="Text 9"/>
          <p:cNvSpPr txBox="1"/>
          <p:nvPr/>
        </p:nvSpPr>
        <p:spPr>
          <a:xfrm>
            <a:off x="731520" y="4224528"/>
            <a:ext cx="2368296" cy="822960"/>
          </a:xfrm>
          <a:prstGeom prst="rect">
            <a:avLst/>
          </a:prstGeom>
          <a:noFill/>
          <a:ln/>
        </p:spPr>
        <p:txBody>
          <a:bodyPr wrap="square" lIns="0" tIns="0" rIns="0" bIns="0" rtlCol="0" anchor="ctr"/>
          <a:lstStyle/>
          <a:p>
            <a:pPr algn="ctr" indent="0" marL="0">
              <a:lnSpc>
                <a:spcPct val="115000"/>
              </a:lnSpc>
              <a:buNone/>
            </a:pPr>
            <a:r>
              <a:rPr lang="en-US" sz="1200" dirty="0">
                <a:solidFill>
                  <a:srgbClr val="5F6E6C"/>
                </a:solidFill>
                <a:latin typeface="Calibri" pitchFamily="34" charset="0"/>
                <a:ea typeface="Calibri" pitchFamily="34" charset="-122"/>
                <a:cs typeface="Calibri" pitchFamily="34" charset="-120"/>
              </a:rPr>
              <a:t>Une remise ciblée est acceptable, une majoration ciblée ne l'est pas.</a:t>
            </a:r>
            <a:endParaRPr lang="en-US" sz="1200" dirty="0"/>
          </a:p>
        </p:txBody>
      </p:sp>
      <p:sp>
        <p:nvSpPr>
          <p:cNvPr id="12" name="Shape 10"/>
          <p:cNvSpPr/>
          <p:nvPr/>
        </p:nvSpPr>
        <p:spPr>
          <a:xfrm>
            <a:off x="3392424" y="2697480"/>
            <a:ext cx="2734056" cy="2423160"/>
          </a:xfrm>
          <a:prstGeom prst="roundRect">
            <a:avLst>
              <a:gd name="adj" fmla="val 2642"/>
            </a:avLst>
          </a:prstGeom>
          <a:solidFill>
            <a:srgbClr val="D9EBE7"/>
          </a:solidFill>
          <a:ln w="9525">
            <a:solidFill>
              <a:srgbClr val="CBD8D5"/>
            </a:solidFill>
            <a:prstDash val="solid"/>
          </a:ln>
        </p:spPr>
      </p:sp>
      <p:sp>
        <p:nvSpPr>
          <p:cNvPr id="13" name="Shape 11"/>
          <p:cNvSpPr/>
          <p:nvPr/>
        </p:nvSpPr>
        <p:spPr>
          <a:xfrm>
            <a:off x="4526280" y="2907792"/>
            <a:ext cx="475488" cy="475488"/>
          </a:xfrm>
          <a:prstGeom prst="ellipse">
            <a:avLst/>
          </a:prstGeom>
          <a:solidFill>
            <a:srgbClr val="0E6E62"/>
          </a:solidFill>
          <a:ln/>
        </p:spPr>
      </p:sp>
      <p:sp>
        <p:nvSpPr>
          <p:cNvPr id="14" name="Text 12"/>
          <p:cNvSpPr txBox="1"/>
          <p:nvPr/>
        </p:nvSpPr>
        <p:spPr>
          <a:xfrm>
            <a:off x="4526280" y="290779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3575304" y="3520440"/>
            <a:ext cx="2368296" cy="685800"/>
          </a:xfrm>
          <a:prstGeom prst="rect">
            <a:avLst/>
          </a:prstGeom>
          <a:noFill/>
          <a:ln/>
        </p:spPr>
        <p:txBody>
          <a:bodyPr wrap="square" lIns="0" tIns="0" rIns="0" bIns="0" rtlCol="0" anchor="ctr"/>
          <a:lstStyle/>
          <a:p>
            <a:pPr algn="ctr" indent="0" marL="0">
              <a:lnSpc>
                <a:spcPct val="105000"/>
              </a:lnSpc>
              <a:buNone/>
            </a:pPr>
            <a:r>
              <a:rPr lang="en-US" sz="1500" b="1" dirty="0">
                <a:solidFill>
                  <a:srgbClr val="16201F"/>
                </a:solidFill>
                <a:latin typeface="Cambria" pitchFamily="34" charset="0"/>
                <a:ea typeface="Cambria" pitchFamily="34" charset="-122"/>
                <a:cs typeface="Cambria" pitchFamily="34" charset="-120"/>
              </a:rPr>
              <a:t>Exclure les variables</a:t>
            </a:r>
            <a:endParaRPr lang="en-US" sz="1500" dirty="0"/>
          </a:p>
          <a:p>
            <a:pPr algn="ctr" indent="0" marL="0">
              <a:lnSpc>
                <a:spcPct val="105000"/>
              </a:lnSpc>
              <a:buNone/>
            </a:pPr>
            <a:r>
              <a:rPr lang="en-US" sz="1500" b="1" dirty="0">
                <a:solidFill>
                  <a:srgbClr val="16201F"/>
                </a:solidFill>
                <a:latin typeface="Cambria" pitchFamily="34" charset="0"/>
                <a:ea typeface="Cambria" pitchFamily="34" charset="-122"/>
                <a:cs typeface="Cambria" pitchFamily="34" charset="-120"/>
              </a:rPr>
              <a:t>sensibles et leurs proxys</a:t>
            </a:r>
            <a:endParaRPr lang="en-US" sz="1500" dirty="0"/>
          </a:p>
        </p:txBody>
      </p:sp>
      <p:sp>
        <p:nvSpPr>
          <p:cNvPr id="16" name="Text 14"/>
          <p:cNvSpPr txBox="1"/>
          <p:nvPr/>
        </p:nvSpPr>
        <p:spPr>
          <a:xfrm>
            <a:off x="3575304" y="4224528"/>
            <a:ext cx="2368296" cy="822960"/>
          </a:xfrm>
          <a:prstGeom prst="rect">
            <a:avLst/>
          </a:prstGeom>
          <a:noFill/>
          <a:ln/>
        </p:spPr>
        <p:txBody>
          <a:bodyPr wrap="square" lIns="0" tIns="0" rIns="0" bIns="0" rtlCol="0" anchor="ctr"/>
          <a:lstStyle/>
          <a:p>
            <a:pPr algn="ctr" indent="0" marL="0">
              <a:lnSpc>
                <a:spcPct val="115000"/>
              </a:lnSpc>
              <a:buNone/>
            </a:pPr>
            <a:r>
              <a:rPr lang="en-US" sz="1200" dirty="0">
                <a:solidFill>
                  <a:srgbClr val="5F6E6C"/>
                </a:solidFill>
                <a:latin typeface="Calibri" pitchFamily="34" charset="0"/>
                <a:ea typeface="Calibri" pitchFamily="34" charset="-122"/>
                <a:cs typeface="Calibri" pitchFamily="34" charset="-120"/>
              </a:rPr>
              <a:t>Notre modèle n'utilise que trois variables comportementales — ni géographie, ni démographie.</a:t>
            </a:r>
            <a:endParaRPr lang="en-US" sz="1200" dirty="0"/>
          </a:p>
        </p:txBody>
      </p:sp>
      <p:sp>
        <p:nvSpPr>
          <p:cNvPr id="17" name="Shape 15"/>
          <p:cNvSpPr/>
          <p:nvPr/>
        </p:nvSpPr>
        <p:spPr>
          <a:xfrm>
            <a:off x="6236208" y="2697480"/>
            <a:ext cx="2734056" cy="2423160"/>
          </a:xfrm>
          <a:prstGeom prst="roundRect">
            <a:avLst>
              <a:gd name="adj" fmla="val 2642"/>
            </a:avLst>
          </a:prstGeom>
          <a:solidFill>
            <a:srgbClr val="D9EBE7"/>
          </a:solidFill>
          <a:ln w="9525">
            <a:solidFill>
              <a:srgbClr val="CBD8D5"/>
            </a:solidFill>
            <a:prstDash val="solid"/>
          </a:ln>
        </p:spPr>
      </p:sp>
      <p:sp>
        <p:nvSpPr>
          <p:cNvPr id="18" name="Shape 16"/>
          <p:cNvSpPr/>
          <p:nvPr/>
        </p:nvSpPr>
        <p:spPr>
          <a:xfrm>
            <a:off x="7370064" y="2907792"/>
            <a:ext cx="475488" cy="475488"/>
          </a:xfrm>
          <a:prstGeom prst="ellipse">
            <a:avLst/>
          </a:prstGeom>
          <a:solidFill>
            <a:srgbClr val="0E6E62"/>
          </a:solidFill>
          <a:ln/>
        </p:spPr>
      </p:sp>
      <p:sp>
        <p:nvSpPr>
          <p:cNvPr id="19" name="Text 17"/>
          <p:cNvSpPr txBox="1"/>
          <p:nvPr/>
        </p:nvSpPr>
        <p:spPr>
          <a:xfrm>
            <a:off x="7370064" y="290779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6419088" y="3520440"/>
            <a:ext cx="2368296" cy="685800"/>
          </a:xfrm>
          <a:prstGeom prst="rect">
            <a:avLst/>
          </a:prstGeom>
          <a:noFill/>
          <a:ln/>
        </p:spPr>
        <p:txBody>
          <a:bodyPr wrap="square" lIns="0" tIns="0" rIns="0" bIns="0" rtlCol="0" anchor="ctr"/>
          <a:lstStyle/>
          <a:p>
            <a:pPr algn="ctr" indent="0" marL="0">
              <a:lnSpc>
                <a:spcPct val="105000"/>
              </a:lnSpc>
              <a:buNone/>
            </a:pPr>
            <a:r>
              <a:rPr lang="en-US" sz="1500" b="1" dirty="0">
                <a:solidFill>
                  <a:srgbClr val="16201F"/>
                </a:solidFill>
                <a:latin typeface="Cambria" pitchFamily="34" charset="0"/>
                <a:ea typeface="Cambria" pitchFamily="34" charset="-122"/>
                <a:cs typeface="Cambria" pitchFamily="34" charset="-120"/>
              </a:rPr>
              <a:t>Garantir la</a:t>
            </a:r>
            <a:endParaRPr lang="en-US" sz="1500" dirty="0"/>
          </a:p>
          <a:p>
            <a:pPr algn="ctr" indent="0" marL="0">
              <a:lnSpc>
                <a:spcPct val="105000"/>
              </a:lnSpc>
              <a:buNone/>
            </a:pPr>
            <a:r>
              <a:rPr lang="en-US" sz="1500" b="1" dirty="0">
                <a:solidFill>
                  <a:srgbClr val="16201F"/>
                </a:solidFill>
                <a:latin typeface="Cambria" pitchFamily="34" charset="0"/>
                <a:ea typeface="Cambria" pitchFamily="34" charset="-122"/>
                <a:cs typeface="Cambria" pitchFamily="34" charset="-120"/>
              </a:rPr>
              <a:t>réversibilité</a:t>
            </a:r>
            <a:endParaRPr lang="en-US" sz="1500" dirty="0"/>
          </a:p>
        </p:txBody>
      </p:sp>
      <p:sp>
        <p:nvSpPr>
          <p:cNvPr id="21" name="Text 19"/>
          <p:cNvSpPr txBox="1"/>
          <p:nvPr/>
        </p:nvSpPr>
        <p:spPr>
          <a:xfrm>
            <a:off x="6419088" y="4224528"/>
            <a:ext cx="2368296" cy="822960"/>
          </a:xfrm>
          <a:prstGeom prst="rect">
            <a:avLst/>
          </a:prstGeom>
          <a:noFill/>
          <a:ln/>
        </p:spPr>
        <p:txBody>
          <a:bodyPr wrap="square" lIns="0" tIns="0" rIns="0" bIns="0" rtlCol="0" anchor="ctr"/>
          <a:lstStyle/>
          <a:p>
            <a:pPr algn="ctr" indent="0" marL="0">
              <a:lnSpc>
                <a:spcPct val="115000"/>
              </a:lnSpc>
              <a:buNone/>
            </a:pPr>
            <a:r>
              <a:rPr lang="en-US" sz="1200" dirty="0">
                <a:solidFill>
                  <a:srgbClr val="5F6E6C"/>
                </a:solidFill>
                <a:latin typeface="Calibri" pitchFamily="34" charset="0"/>
                <a:ea typeface="Calibri" pitchFamily="34" charset="-122"/>
                <a:cs typeface="Calibri" pitchFamily="34" charset="-120"/>
              </a:rPr>
              <a:t>Un segment se recalcule à chaque période, il ne devient jamais une étiquette permanente.</a:t>
            </a:r>
            <a:endParaRPr lang="en-US" sz="1200" dirty="0"/>
          </a:p>
        </p:txBody>
      </p:sp>
      <p:sp>
        <p:nvSpPr>
          <p:cNvPr id="22" name="Shape 20"/>
          <p:cNvSpPr/>
          <p:nvPr/>
        </p:nvSpPr>
        <p:spPr>
          <a:xfrm>
            <a:off x="9079992" y="2697480"/>
            <a:ext cx="2734056" cy="2423160"/>
          </a:xfrm>
          <a:prstGeom prst="roundRect">
            <a:avLst>
              <a:gd name="adj" fmla="val 2642"/>
            </a:avLst>
          </a:prstGeom>
          <a:solidFill>
            <a:srgbClr val="D9EBE7"/>
          </a:solidFill>
          <a:ln w="9525">
            <a:solidFill>
              <a:srgbClr val="CBD8D5"/>
            </a:solidFill>
            <a:prstDash val="solid"/>
          </a:ln>
        </p:spPr>
      </p:sp>
      <p:sp>
        <p:nvSpPr>
          <p:cNvPr id="23" name="Shape 21"/>
          <p:cNvSpPr/>
          <p:nvPr/>
        </p:nvSpPr>
        <p:spPr>
          <a:xfrm>
            <a:off x="10213848" y="2907792"/>
            <a:ext cx="475488" cy="475488"/>
          </a:xfrm>
          <a:prstGeom prst="ellipse">
            <a:avLst/>
          </a:prstGeom>
          <a:solidFill>
            <a:srgbClr val="0E6E62"/>
          </a:solidFill>
          <a:ln/>
        </p:spPr>
      </p:sp>
      <p:sp>
        <p:nvSpPr>
          <p:cNvPr id="24" name="Text 22"/>
          <p:cNvSpPr txBox="1"/>
          <p:nvPr/>
        </p:nvSpPr>
        <p:spPr>
          <a:xfrm>
            <a:off x="10213848" y="290779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9262872" y="3520440"/>
            <a:ext cx="2368296" cy="685800"/>
          </a:xfrm>
          <a:prstGeom prst="rect">
            <a:avLst/>
          </a:prstGeom>
          <a:noFill/>
          <a:ln/>
        </p:spPr>
        <p:txBody>
          <a:bodyPr wrap="square" lIns="0" tIns="0" rIns="0" bIns="0" rtlCol="0" anchor="ctr"/>
          <a:lstStyle/>
          <a:p>
            <a:pPr algn="ctr" indent="0" marL="0">
              <a:lnSpc>
                <a:spcPct val="105000"/>
              </a:lnSpc>
              <a:buNone/>
            </a:pPr>
            <a:r>
              <a:rPr lang="en-US" sz="1500" b="1" dirty="0">
                <a:solidFill>
                  <a:srgbClr val="16201F"/>
                </a:solidFill>
                <a:latin typeface="Cambria" pitchFamily="34" charset="0"/>
                <a:ea typeface="Cambria" pitchFamily="34" charset="-122"/>
                <a:cs typeface="Cambria" pitchFamily="34" charset="-120"/>
              </a:rPr>
              <a:t>Assurer la</a:t>
            </a:r>
            <a:endParaRPr lang="en-US" sz="1500" dirty="0"/>
          </a:p>
          <a:p>
            <a:pPr algn="ctr" indent="0" marL="0">
              <a:lnSpc>
                <a:spcPct val="105000"/>
              </a:lnSpc>
              <a:buNone/>
            </a:pPr>
            <a:r>
              <a:rPr lang="en-US" sz="1500" b="1" dirty="0">
                <a:solidFill>
                  <a:srgbClr val="16201F"/>
                </a:solidFill>
                <a:latin typeface="Cambria" pitchFamily="34" charset="0"/>
                <a:ea typeface="Cambria" pitchFamily="34" charset="-122"/>
                <a:cs typeface="Cambria" pitchFamily="34" charset="-120"/>
              </a:rPr>
              <a:t>transparence</a:t>
            </a:r>
            <a:endParaRPr lang="en-US" sz="1500" dirty="0"/>
          </a:p>
        </p:txBody>
      </p:sp>
      <p:sp>
        <p:nvSpPr>
          <p:cNvPr id="26" name="Text 24"/>
          <p:cNvSpPr txBox="1"/>
          <p:nvPr/>
        </p:nvSpPr>
        <p:spPr>
          <a:xfrm>
            <a:off x="9262872" y="4224528"/>
            <a:ext cx="2368296" cy="822960"/>
          </a:xfrm>
          <a:prstGeom prst="rect">
            <a:avLst/>
          </a:prstGeom>
          <a:noFill/>
          <a:ln/>
        </p:spPr>
        <p:txBody>
          <a:bodyPr wrap="square" lIns="0" tIns="0" rIns="0" bIns="0" rtlCol="0" anchor="ctr"/>
          <a:lstStyle/>
          <a:p>
            <a:pPr algn="ctr" indent="0" marL="0">
              <a:lnSpc>
                <a:spcPct val="115000"/>
              </a:lnSpc>
              <a:buNone/>
            </a:pPr>
            <a:r>
              <a:rPr lang="en-US" sz="1200" dirty="0">
                <a:solidFill>
                  <a:srgbClr val="5F6E6C"/>
                </a:solidFill>
                <a:latin typeface="Calibri" pitchFamily="34" charset="0"/>
                <a:ea typeface="Calibri" pitchFamily="34" charset="-122"/>
                <a:cs typeface="Calibri" pitchFamily="34" charset="-120"/>
              </a:rPr>
              <a:t>Pouvoir expliquer à un client pourquoi il reçoit telle offre.</a:t>
            </a:r>
            <a:endParaRPr lang="en-US" sz="1200" dirty="0"/>
          </a:p>
        </p:txBody>
      </p:sp>
      <p:sp>
        <p:nvSpPr>
          <p:cNvPr id="27" name="Shape 25"/>
          <p:cNvSpPr/>
          <p:nvPr/>
        </p:nvSpPr>
        <p:spPr>
          <a:xfrm>
            <a:off x="548640" y="5806440"/>
            <a:ext cx="11091672" cy="566928"/>
          </a:xfrm>
          <a:prstGeom prst="roundRect">
            <a:avLst>
              <a:gd name="adj" fmla="val 11290"/>
            </a:avLst>
          </a:prstGeom>
          <a:solidFill>
            <a:srgbClr val="D9EBE7"/>
          </a:solidFill>
          <a:ln w="9525">
            <a:solidFill>
              <a:srgbClr val="CBD8D5"/>
            </a:solidFill>
            <a:prstDash val="solid"/>
          </a:ln>
        </p:spPr>
      </p:sp>
      <p:sp>
        <p:nvSpPr>
          <p:cNvPr id="28" name="Text 26"/>
          <p:cNvSpPr txBox="1"/>
          <p:nvPr/>
        </p:nvSpPr>
        <p:spPr>
          <a:xfrm>
            <a:off x="777240" y="5806440"/>
            <a:ext cx="10607040" cy="566928"/>
          </a:xfrm>
          <a:prstGeom prst="rect">
            <a:avLst/>
          </a:prstGeom>
          <a:noFill/>
          <a:ln/>
        </p:spPr>
        <p:txBody>
          <a:bodyPr wrap="square" lIns="0" tIns="0" rIns="0" bIns="0" rtlCol="0" anchor="ctr"/>
          <a:lstStyle/>
          <a:p>
            <a:pPr indent="0" marL="0">
              <a:buNone/>
            </a:pPr>
            <a:r>
              <a:rPr lang="en-US" sz="1400" b="1" dirty="0">
                <a:solidFill>
                  <a:srgbClr val="0E6E62"/>
                </a:solidFill>
                <a:latin typeface="Calibri" pitchFamily="34" charset="0"/>
                <a:ea typeface="Calibri" pitchFamily="34" charset="-122"/>
                <a:cs typeface="Calibri" pitchFamily="34" charset="-120"/>
              </a:rPr>
              <a:t>Le segment « Perdus » : cesser d'y investir est défendable en budget, mais ne doit pas dégrader le service auquel ces clients ont droit.</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2B27"/>
        </a:solidFill>
      </p:bgPr>
    </p:bg>
    <p:spTree>
      <p:nvGrpSpPr>
        <p:cNvPr id="1" name=""/>
        <p:cNvGrpSpPr/>
        <p:nvPr/>
      </p:nvGrpSpPr>
      <p:grpSpPr>
        <a:xfrm>
          <a:off x="0" y="0"/>
          <a:ext cx="0" cy="0"/>
          <a:chOff x="0" y="0"/>
          <a:chExt cx="0" cy="0"/>
        </a:xfrm>
      </p:grpSpPr>
      <p:sp>
        <p:nvSpPr>
          <p:cNvPr id="2" name="Text 0"/>
          <p:cNvSpPr txBox="1"/>
          <p:nvPr/>
        </p:nvSpPr>
        <p:spPr>
          <a:xfrm>
            <a:off x="822960" y="777240"/>
            <a:ext cx="105156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Ce que nous retenons</a:t>
            </a:r>
            <a:endParaRPr lang="en-US" sz="3400" dirty="0"/>
          </a:p>
        </p:txBody>
      </p:sp>
      <p:sp>
        <p:nvSpPr>
          <p:cNvPr id="3" name="Text 1"/>
          <p:cNvSpPr txBox="1"/>
          <p:nvPr/>
        </p:nvSpPr>
        <p:spPr>
          <a:xfrm>
            <a:off x="822960" y="1691640"/>
            <a:ext cx="2468880" cy="777240"/>
          </a:xfrm>
          <a:prstGeom prst="rect">
            <a:avLst/>
          </a:prstGeom>
          <a:noFill/>
          <a:ln/>
        </p:spPr>
        <p:txBody>
          <a:bodyPr wrap="square" lIns="0" tIns="0" rIns="0" bIns="0" rtlCol="0" anchor="ctr"/>
          <a:lstStyle/>
          <a:p>
            <a:pPr indent="0" marL="0">
              <a:buNone/>
            </a:pPr>
            <a:r>
              <a:rPr lang="en-US" sz="2800" b="1" dirty="0">
                <a:solidFill>
                  <a:srgbClr val="6FD3C2"/>
                </a:solidFill>
                <a:latin typeface="Cambria" pitchFamily="34" charset="0"/>
                <a:ea typeface="Cambria" pitchFamily="34" charset="-122"/>
                <a:cs typeface="Cambria" pitchFamily="34" charset="-120"/>
              </a:rPr>
              <a:t>20 % / 73 %</a:t>
            </a:r>
            <a:endParaRPr lang="en-US" sz="2800" dirty="0"/>
          </a:p>
        </p:txBody>
      </p:sp>
      <p:sp>
        <p:nvSpPr>
          <p:cNvPr id="4" name="Text 2"/>
          <p:cNvSpPr txBox="1"/>
          <p:nvPr/>
        </p:nvSpPr>
        <p:spPr>
          <a:xfrm>
            <a:off x="3474720" y="1691640"/>
            <a:ext cx="7863840" cy="777240"/>
          </a:xfrm>
          <a:prstGeom prst="rect">
            <a:avLst/>
          </a:prstGeom>
          <a:noFill/>
          <a:ln/>
        </p:spPr>
        <p:txBody>
          <a:bodyPr wrap="square" lIns="0" tIns="0" rIns="0" bIns="0" rtlCol="0" anchor="ctr"/>
          <a:lstStyle/>
          <a:p>
            <a:pPr indent="0" marL="0">
              <a:lnSpc>
                <a:spcPct val="120000"/>
              </a:lnSpc>
              <a:buNone/>
            </a:pPr>
            <a:r>
              <a:rPr lang="en-US" sz="1450" dirty="0">
                <a:solidFill>
                  <a:srgbClr val="D3E4E1"/>
                </a:solidFill>
                <a:latin typeface="Calibri" pitchFamily="34" charset="0"/>
                <a:ea typeface="Calibri" pitchFamily="34" charset="-122"/>
                <a:cs typeface="Calibri" pitchFamily="34" charset="-120"/>
              </a:rPr>
              <a:t>Un cinquième des clients porte près des trois quarts du chiffre d'affaires. L'effort doit porter sur la rétention, pas sur l'acquisition indifférenciée.</a:t>
            </a:r>
            <a:endParaRPr lang="en-US" sz="1450" dirty="0"/>
          </a:p>
        </p:txBody>
      </p:sp>
      <p:sp>
        <p:nvSpPr>
          <p:cNvPr id="5" name="Text 3"/>
          <p:cNvSpPr txBox="1"/>
          <p:nvPr/>
        </p:nvSpPr>
        <p:spPr>
          <a:xfrm>
            <a:off x="822960" y="2743200"/>
            <a:ext cx="2468880" cy="777240"/>
          </a:xfrm>
          <a:prstGeom prst="rect">
            <a:avLst/>
          </a:prstGeom>
          <a:noFill/>
          <a:ln/>
        </p:spPr>
        <p:txBody>
          <a:bodyPr wrap="square" lIns="0" tIns="0" rIns="0" bIns="0" rtlCol="0" anchor="ctr"/>
          <a:lstStyle/>
          <a:p>
            <a:pPr indent="0" marL="0">
              <a:buNone/>
            </a:pPr>
            <a:r>
              <a:rPr lang="en-US" sz="2800" b="1" dirty="0">
                <a:solidFill>
                  <a:srgbClr val="6FD3C2"/>
                </a:solidFill>
                <a:latin typeface="Cambria" pitchFamily="34" charset="0"/>
                <a:ea typeface="Cambria" pitchFamily="34" charset="-122"/>
                <a:cs typeface="Cambria" pitchFamily="34" charset="-120"/>
              </a:rPr>
              <a:t>0,963</a:t>
            </a:r>
            <a:endParaRPr lang="en-US" sz="2800" dirty="0"/>
          </a:p>
        </p:txBody>
      </p:sp>
      <p:sp>
        <p:nvSpPr>
          <p:cNvPr id="6" name="Text 4"/>
          <p:cNvSpPr txBox="1"/>
          <p:nvPr/>
        </p:nvSpPr>
        <p:spPr>
          <a:xfrm>
            <a:off x="3474720" y="2743200"/>
            <a:ext cx="7863840" cy="777240"/>
          </a:xfrm>
          <a:prstGeom prst="rect">
            <a:avLst/>
          </a:prstGeom>
          <a:noFill/>
          <a:ln/>
        </p:spPr>
        <p:txBody>
          <a:bodyPr wrap="square" lIns="0" tIns="0" rIns="0" bIns="0" rtlCol="0" anchor="ctr"/>
          <a:lstStyle/>
          <a:p>
            <a:pPr indent="0" marL="0">
              <a:lnSpc>
                <a:spcPct val="120000"/>
              </a:lnSpc>
              <a:buNone/>
            </a:pPr>
            <a:r>
              <a:rPr lang="en-US" sz="1450" dirty="0">
                <a:solidFill>
                  <a:srgbClr val="D3E4E1"/>
                </a:solidFill>
                <a:latin typeface="Calibri" pitchFamily="34" charset="0"/>
                <a:ea typeface="Calibri" pitchFamily="34" charset="-122"/>
                <a:cs typeface="Calibri" pitchFamily="34" charset="-120"/>
              </a:rPr>
              <a:t>La stabilité par bootstrap est notre preuve de qualité : sans vérité terrain, la reproductibilité tient lieu de validation.</a:t>
            </a:r>
            <a:endParaRPr lang="en-US" sz="1450" dirty="0"/>
          </a:p>
        </p:txBody>
      </p:sp>
      <p:sp>
        <p:nvSpPr>
          <p:cNvPr id="7" name="Text 5"/>
          <p:cNvSpPr txBox="1"/>
          <p:nvPr/>
        </p:nvSpPr>
        <p:spPr>
          <a:xfrm>
            <a:off x="822960" y="3794760"/>
            <a:ext cx="2468880" cy="777240"/>
          </a:xfrm>
          <a:prstGeom prst="rect">
            <a:avLst/>
          </a:prstGeom>
          <a:noFill/>
          <a:ln/>
        </p:spPr>
        <p:txBody>
          <a:bodyPr wrap="square" lIns="0" tIns="0" rIns="0" bIns="0" rtlCol="0" anchor="ctr"/>
          <a:lstStyle/>
          <a:p>
            <a:pPr indent="0" marL="0">
              <a:buNone/>
            </a:pPr>
            <a:r>
              <a:rPr lang="en-US" sz="2800" b="1" dirty="0">
                <a:solidFill>
                  <a:srgbClr val="6FD3C2"/>
                </a:solidFill>
                <a:latin typeface="Cambria" pitchFamily="34" charset="0"/>
                <a:ea typeface="Cambria" pitchFamily="34" charset="-122"/>
                <a:cs typeface="Cambria" pitchFamily="34" charset="-120"/>
              </a:rPr>
              <a:t>k = 2</a:t>
            </a:r>
            <a:endParaRPr lang="en-US" sz="2800" dirty="0"/>
          </a:p>
        </p:txBody>
      </p:sp>
      <p:sp>
        <p:nvSpPr>
          <p:cNvPr id="8" name="Text 6"/>
          <p:cNvSpPr txBox="1"/>
          <p:nvPr/>
        </p:nvSpPr>
        <p:spPr>
          <a:xfrm>
            <a:off x="3474720" y="3794760"/>
            <a:ext cx="7863840" cy="777240"/>
          </a:xfrm>
          <a:prstGeom prst="rect">
            <a:avLst/>
          </a:prstGeom>
          <a:noFill/>
          <a:ln/>
        </p:spPr>
        <p:txBody>
          <a:bodyPr wrap="square" lIns="0" tIns="0" rIns="0" bIns="0" rtlCol="0" anchor="ctr"/>
          <a:lstStyle/>
          <a:p>
            <a:pPr indent="0" marL="0">
              <a:lnSpc>
                <a:spcPct val="120000"/>
              </a:lnSpc>
              <a:buNone/>
            </a:pPr>
            <a:r>
              <a:rPr lang="en-US" sz="1450" dirty="0">
                <a:solidFill>
                  <a:srgbClr val="D3E4E1"/>
                </a:solidFill>
                <a:latin typeface="Calibri" pitchFamily="34" charset="0"/>
                <a:ea typeface="Calibri" pitchFamily="34" charset="-122"/>
                <a:cs typeface="Calibri" pitchFamily="34" charset="-120"/>
              </a:rPr>
              <a:t>La silhouette désignait deux segments. Suivre une métrique sans jugement métier aurait produit un résultat correct et inutile.</a:t>
            </a:r>
            <a:endParaRPr lang="en-US" sz="1450" dirty="0"/>
          </a:p>
        </p:txBody>
      </p:sp>
      <p:sp>
        <p:nvSpPr>
          <p:cNvPr id="9" name="Shape 7"/>
          <p:cNvSpPr/>
          <p:nvPr/>
        </p:nvSpPr>
        <p:spPr>
          <a:xfrm>
            <a:off x="822960" y="4956048"/>
            <a:ext cx="10515600" cy="0"/>
          </a:xfrm>
          <a:prstGeom prst="line">
            <a:avLst/>
          </a:prstGeom>
          <a:noFill/>
          <a:ln w="19050">
            <a:solidFill>
              <a:srgbClr val="2A4F4A"/>
            </a:solidFill>
            <a:prstDash val="solid"/>
          </a:ln>
        </p:spPr>
      </p:sp>
      <p:sp>
        <p:nvSpPr>
          <p:cNvPr id="10" name="Text 8"/>
          <p:cNvSpPr txBox="1"/>
          <p:nvPr/>
        </p:nvSpPr>
        <p:spPr>
          <a:xfrm>
            <a:off x="822960" y="5120640"/>
            <a:ext cx="4572000" cy="320040"/>
          </a:xfrm>
          <a:prstGeom prst="rect">
            <a:avLst/>
          </a:prstGeom>
          <a:noFill/>
          <a:ln/>
        </p:spPr>
        <p:txBody>
          <a:bodyPr wrap="square" lIns="0" tIns="0" rIns="0" bIns="0" rtlCol="0" anchor="ctr"/>
          <a:lstStyle/>
          <a:p>
            <a:pPr indent="0" marL="0">
              <a:buNone/>
            </a:pPr>
            <a:r>
              <a:rPr lang="en-US" sz="1300" b="1" dirty="0">
                <a:solidFill>
                  <a:srgbClr val="6FD3C2"/>
                </a:solidFill>
                <a:latin typeface="Calibri" pitchFamily="34" charset="0"/>
                <a:ea typeface="Calibri" pitchFamily="34" charset="-122"/>
                <a:cs typeface="Calibri" pitchFamily="34" charset="-120"/>
              </a:rPr>
              <a:t>Pour aller plus loin</a:t>
            </a:r>
            <a:endParaRPr lang="en-US" sz="1300" dirty="0"/>
          </a:p>
        </p:txBody>
      </p:sp>
      <p:sp>
        <p:nvSpPr>
          <p:cNvPr id="11" name="Text 9"/>
          <p:cNvSpPr txBox="1"/>
          <p:nvPr/>
        </p:nvSpPr>
        <p:spPr>
          <a:xfrm>
            <a:off x="822960" y="5440680"/>
            <a:ext cx="10515600" cy="365760"/>
          </a:xfrm>
          <a:prstGeom prst="rect">
            <a:avLst/>
          </a:prstGeom>
          <a:noFill/>
          <a:ln/>
        </p:spPr>
        <p:txBody>
          <a:bodyPr wrap="square" lIns="0" tIns="0" rIns="0" bIns="0" rtlCol="0" anchor="ctr"/>
          <a:lstStyle/>
          <a:p>
            <a:pPr indent="0" marL="0">
              <a:buNone/>
            </a:pPr>
            <a:r>
              <a:rPr lang="en-US" sz="1350" dirty="0">
                <a:solidFill>
                  <a:srgbClr val="A9C4C0"/>
                </a:solidFill>
                <a:latin typeface="Calibri" pitchFamily="34" charset="0"/>
                <a:ea typeface="Calibri" pitchFamily="34" charset="-122"/>
                <a:cs typeface="Calibri" pitchFamily="34" charset="-120"/>
              </a:rPr>
              <a:t>Assistant RAG sur les segments  ·  CLV prédictif (BG/NBD)  ·  Robustesse GMM &amp; DBSCAN  ·  Dashboard Streamlit</a:t>
            </a:r>
            <a:endParaRPr lang="en-US" sz="1350" dirty="0"/>
          </a:p>
        </p:txBody>
      </p:sp>
      <p:sp>
        <p:nvSpPr>
          <p:cNvPr id="12" name="Text 10"/>
          <p:cNvSpPr txBox="1"/>
          <p:nvPr/>
        </p:nvSpPr>
        <p:spPr>
          <a:xfrm>
            <a:off x="822960" y="6080760"/>
            <a:ext cx="10515600" cy="320040"/>
          </a:xfrm>
          <a:prstGeom prst="rect">
            <a:avLst/>
          </a:prstGeom>
          <a:noFill/>
          <a:ln/>
        </p:spPr>
        <p:txBody>
          <a:bodyPr wrap="square" lIns="0" tIns="0" rIns="0" bIns="0" rtlCol="0" anchor="ctr"/>
          <a:lstStyle/>
          <a:p>
            <a:pPr indent="0" marL="0">
              <a:buNone/>
            </a:pPr>
            <a:r>
              <a:rPr lang="en-US" sz="1250" dirty="0">
                <a:solidFill>
                  <a:srgbClr val="A9C4C0"/>
                </a:solidFill>
                <a:latin typeface="Calibri" pitchFamily="34" charset="0"/>
                <a:ea typeface="Calibri" pitchFamily="34" charset="-122"/>
                <a:cs typeface="Calibri" pitchFamily="34" charset="-120"/>
              </a:rPr>
              <a:t>github.com/jack-junior/client-scope-rfm-project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2026-08-26T23:44:11Z</dcterms:created>
  <dcterms:modified xsi:type="dcterms:W3CDTF">2026-08-26T23:44:11Z</dcterms:modified>
</cp:coreProperties>
</file>